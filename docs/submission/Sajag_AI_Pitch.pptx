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Digital-arrest cases</c:v>
                </c:pt>
              </c:strCache>
            </c:strRef>
          </c:tx>
          <c:spPr>
            <a:solidFill>
              <a:srgbClr val="C9C2B8"/>
            </a:solidFill>
            <a:effectLst/>
          </c:spPr>
          <c:invertIfNegative val="0"/>
          <c:dLbls>
            <c:numFmt formatCode="#,##0" sourceLinked="0"/>
            <c:txPr>
              <a:bodyPr/>
              <a:lstStyle/>
              <a:p>
                <a:pPr>
                  <a:defRPr b="0" i="0" strike="noStrike" sz="750" u="none">
                    <a:solidFill>
                      <a:srgbClr val="5E5E66"/>
                    </a:solidFill>
                    <a:latin typeface="Arial"/>
                  </a:defRPr>
                </a:pPr>
              </a:p>
            </c:txPr>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39925</c:v>
                </c:pt>
                <c:pt idx="1">
                  <c:v>60676</c:v>
                </c:pt>
                <c:pt idx="2">
                  <c:v>123672</c:v>
                </c:pt>
                <c:pt idx="3">
                  <c:v>17264</c:v>
                </c:pt>
              </c:numCache>
            </c:numRef>
          </c:val>
        </c:ser>
        <c:dLbls>
          <c:numFmt formatCode="#,##0" sourceLinked="0"/>
          <c:txPr>
            <a:bodyPr/>
            <a:lstStyle/>
            <a:p>
              <a:pPr>
                <a:defRPr b="0" i="0" strike="noStrike" sz="750" u="none">
                  <a:solidFill>
                    <a:srgbClr val="5E5E6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E5E66"/>
                </a:solidFill>
                <a:latin typeface="Arial"/>
              </a:defRPr>
            </a:pPr>
            <a:endParaRPr lang="en-US"/>
          </a:p>
        </c:txPr>
        <c:crossAx val="2094734552"/>
        <c:crosses val="autoZero"/>
        <c:auto val="1"/>
        <c:lblAlgn val="ctr"/>
        <c:noMultiLvlLbl val="1"/>
      </c:catAx>
      <c:valAx>
        <c:axId val="2094734552"/>
        <c:scaling>
          <c:orientation val="minMax"/>
          <c:max val="140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D7002A"/>
            </a:solidFill>
            <a:effectLst/>
          </c:spPr>
          <c:invertIfNegative val="0"/>
          <c:dLbls>
            <c:numFmt formatCode="0.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D7002A"/>
              </a:solidFill>
              <a:effectLst/>
            </c:spPr>
          </c:dPt>
          <c:dPt>
            <c:idx val="1"/>
            <c:invertIfNegative val="0"/>
            <c:bubble3D val="0"/>
            <c:spPr>
              <a:solidFill>
                <a:srgbClr val="C9C2B8"/>
              </a:solidFill>
              <a:effectLst/>
            </c:spPr>
          </c:dPt>
          <c:dPt>
            <c:idx val="2"/>
            <c:invertIfNegative val="0"/>
            <c:bubble3D val="0"/>
            <c:spPr>
              <a:solidFill>
                <a:srgbClr val="C9C2B8"/>
              </a:solidFill>
              <a:effectLst/>
            </c:spPr>
          </c:dPt>
          <c:dPt>
            <c:idx val="3"/>
            <c:invertIfNegative val="0"/>
            <c:bubble3D val="0"/>
            <c:spPr>
              <a:solidFill>
                <a:srgbClr val="C9C2B8"/>
              </a:solidFill>
              <a:effectLst/>
            </c:spPr>
          </c:dPt>
          <c:dPt>
            <c:idx val="4"/>
            <c:invertIfNegative val="0"/>
            <c:bubble3D val="0"/>
            <c:spPr>
              <a:solidFill>
                <a:srgbClr val="C9C2B8"/>
              </a:solidFill>
              <a:effectLst/>
            </c:spPr>
          </c:dPt>
          <c:cat>
            <c:multiLvlStrRef>
              <c:f>Sheet1!$A$2:$A$6</c:f>
              <c:multiLvlStrCache>
                <c:ptCount val="5"/>
                <c:lvl>
                  <c:pt idx="0">
                    <c:v>Sajag AI</c:v>
                  </c:pt>
                  <c:pt idx="1">
                    <c:v>Deepfake detector</c:v>
                  </c:pt>
                  <c:pt idx="2">
                    <c:v>Crop-disease kiosk</c:v>
                  </c:pt>
                  <c:pt idx="3">
                    <c:v>Drone triage</c:v>
                  </c:pt>
                  <c:pt idx="4">
                    <c:v>Medical scribe</c:v>
                  </c:pt>
                </c:lvl>
              </c:multiLvlStrCache>
            </c:multiLvlStrRef>
          </c:cat>
          <c:val>
            <c:numRef>
              <c:f>Sheet1!$B$2:$B$6</c:f>
              <c:numCache>
                <c:formatCode>General</c:formatCode>
                <c:ptCount val="5"/>
                <c:pt idx="0">
                  <c:v>4.76</c:v>
                </c:pt>
                <c:pt idx="1">
                  <c:v>4.06</c:v>
                </c:pt>
                <c:pt idx="2">
                  <c:v>3.74</c:v>
                </c:pt>
                <c:pt idx="3">
                  <c:v>3.67</c:v>
                </c:pt>
                <c:pt idx="4">
                  <c:v>3.57</c:v>
                </c:pt>
              </c:numCache>
            </c:numRef>
          </c:val>
        </c:ser>
        <c:dLbls>
          <c:numFmt formatCode="0.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1C1C22"/>
                </a:solidFill>
                <a:latin typeface="Arial"/>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Sajag risk %</c:v>
                </c:pt>
              </c:strCache>
            </c:strRef>
          </c:tx>
          <c:spPr>
            <a:solidFill>
              <a:srgbClr val="D7002A"/>
            </a:solidFill>
            <a:ln w="31750" cap="flat">
              <a:solidFill>
                <a:srgbClr val="D700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7002A"/>
              </a:solidFill>
              <a:ln w="9525" cap="flat">
                <a:solidFill>
                  <a:srgbClr val="D7002A"/>
                </a:solidFill>
                <a:prstDash val="solid"/>
                <a:round/>
              </a:ln>
              <a:effectLst/>
            </c:spPr>
          </c:marker>
          <c:cat>
            <c:multiLvlStrRef>
              <c:f>Sheet1!$A$2:$A$9</c:f>
              <c:multiLvlStrCache>
                <c:ptCount val="8"/>
                <c:lvl>
                  <c:pt idx="0">
                    <c:v>0s</c:v>
                  </c:pt>
                  <c:pt idx="1">
                    <c:v>4s</c:v>
                  </c:pt>
                  <c:pt idx="2">
                    <c:v>12s</c:v>
                  </c:pt>
                  <c:pt idx="3">
                    <c:v>20s</c:v>
                  </c:pt>
                  <c:pt idx="4">
                    <c:v>26s</c:v>
                  </c:pt>
                  <c:pt idx="5">
                    <c:v>34s</c:v>
                  </c:pt>
                  <c:pt idx="6">
                    <c:v>45s</c:v>
                  </c:pt>
                  <c:pt idx="7">
                    <c:v>52s</c:v>
                  </c:pt>
                </c:lvl>
              </c:multiLvlStrCache>
            </c:multiLvlStrRef>
          </c:cat>
          <c:val>
            <c:numRef>
              <c:f>Sheet1!$B$2:$B$9</c:f>
              <c:numCache>
                <c:formatCode>General</c:formatCode>
                <c:ptCount val="8"/>
                <c:pt idx="0">
                  <c:v>0</c:v>
                </c:pt>
                <c:pt idx="1">
                  <c:v>13</c:v>
                </c:pt>
                <c:pt idx="2">
                  <c:v>46</c:v>
                </c:pt>
                <c:pt idx="3">
                  <c:v>61</c:v>
                </c:pt>
                <c:pt idx="4">
                  <c:v>96</c:v>
                </c:pt>
                <c:pt idx="5">
                  <c:v>95</c:v>
                </c:pt>
                <c:pt idx="6">
                  <c:v>94</c:v>
                </c:pt>
                <c:pt idx="7">
                  <c:v>98</c:v>
                </c:pt>
              </c:numCache>
            </c:numRef>
          </c:val>
          <c:smooth val="0"/>
        </c:ser>
        <c:ser>
          <c:idx val="1"/>
          <c:order val="1"/>
          <c:tx>
            <c:strRef>
              <c:f>Sheet1!$C$1</c:f>
              <c:strCache>
                <c:ptCount val="1"/>
                <c:pt idx="0">
                  <c:v>WARNING (60)</c:v>
                </c:pt>
              </c:strCache>
            </c:strRef>
          </c:tx>
          <c:spPr>
            <a:solidFill>
              <a:srgbClr val="E08A00"/>
            </a:solidFill>
            <a:ln w="31750" cap="flat">
              <a:solidFill>
                <a:srgbClr val="E08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8A00"/>
              </a:solidFill>
              <a:ln w="9525" cap="flat">
                <a:solidFill>
                  <a:srgbClr val="E08A00"/>
                </a:solidFill>
                <a:prstDash val="solid"/>
                <a:round/>
              </a:ln>
              <a:effectLst/>
            </c:spPr>
          </c:marker>
          <c:cat>
            <c:multiLvlStrRef>
              <c:f>Sheet1!$A$2:$A$9</c:f>
              <c:multiLvlStrCache>
                <c:ptCount val="8"/>
                <c:lvl>
                  <c:pt idx="0">
                    <c:v>0s</c:v>
                  </c:pt>
                  <c:pt idx="1">
                    <c:v>4s</c:v>
                  </c:pt>
                  <c:pt idx="2">
                    <c:v>12s</c:v>
                  </c:pt>
                  <c:pt idx="3">
                    <c:v>20s</c:v>
                  </c:pt>
                  <c:pt idx="4">
                    <c:v>26s</c:v>
                  </c:pt>
                  <c:pt idx="5">
                    <c:v>34s</c:v>
                  </c:pt>
                  <c:pt idx="6">
                    <c:v>45s</c:v>
                  </c:pt>
                  <c:pt idx="7">
                    <c:v>52s</c:v>
                  </c:pt>
                </c:lvl>
              </c:multiLvlStrCache>
            </c:multiLvlStrRef>
          </c:cat>
          <c:val>
            <c:numRef>
              <c:f>Sheet1!$C$2:$C$9</c:f>
              <c:numCache>
                <c:formatCode>General</c:formatCode>
                <c:ptCount val="8"/>
                <c:pt idx="0">
                  <c:v>60</c:v>
                </c:pt>
                <c:pt idx="1">
                  <c:v>60</c:v>
                </c:pt>
                <c:pt idx="2">
                  <c:v>60</c:v>
                </c:pt>
                <c:pt idx="3">
                  <c:v>60</c:v>
                </c:pt>
                <c:pt idx="4">
                  <c:v>60</c:v>
                </c:pt>
                <c:pt idx="5">
                  <c:v>60</c:v>
                </c:pt>
                <c:pt idx="6">
                  <c:v>60</c:v>
                </c:pt>
                <c:pt idx="7">
                  <c:v>60</c:v>
                </c:pt>
              </c:numCache>
            </c:numRef>
          </c:val>
          <c:smooth val="0"/>
        </c:ser>
        <c:ser>
          <c:idx val="2"/>
          <c:order val="2"/>
          <c:tx>
            <c:strRef>
              <c:f>Sheet1!$D$1</c:f>
              <c:strCache>
                <c:ptCount val="1"/>
                <c:pt idx="0">
                  <c:v>DANGER (80)</c:v>
                </c:pt>
              </c:strCache>
            </c:strRef>
          </c:tx>
          <c:spPr>
            <a:solidFill>
              <a:srgbClr val="8B0000"/>
            </a:solidFill>
            <a:ln w="31750" cap="flat">
              <a:solidFill>
                <a:srgbClr val="8B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B0000"/>
              </a:solidFill>
              <a:ln w="9525" cap="flat">
                <a:solidFill>
                  <a:srgbClr val="8B0000"/>
                </a:solidFill>
                <a:prstDash val="solid"/>
                <a:round/>
              </a:ln>
              <a:effectLst/>
            </c:spPr>
          </c:marker>
          <c:cat>
            <c:multiLvlStrRef>
              <c:f>Sheet1!$A$2:$A$9</c:f>
              <c:multiLvlStrCache>
                <c:ptCount val="8"/>
                <c:lvl>
                  <c:pt idx="0">
                    <c:v>0s</c:v>
                  </c:pt>
                  <c:pt idx="1">
                    <c:v>4s</c:v>
                  </c:pt>
                  <c:pt idx="2">
                    <c:v>12s</c:v>
                  </c:pt>
                  <c:pt idx="3">
                    <c:v>20s</c:v>
                  </c:pt>
                  <c:pt idx="4">
                    <c:v>26s</c:v>
                  </c:pt>
                  <c:pt idx="5">
                    <c:v>34s</c:v>
                  </c:pt>
                  <c:pt idx="6">
                    <c:v>45s</c:v>
                  </c:pt>
                  <c:pt idx="7">
                    <c:v>52s</c:v>
                  </c:pt>
                </c:lvl>
              </c:multiLvlStrCache>
            </c:multiLvlStrRef>
          </c:cat>
          <c:val>
            <c:numRef>
              <c:f>Sheet1!$D$2:$D$9</c:f>
              <c:numCache>
                <c:formatCode>General</c:formatCode>
                <c:ptCount val="8"/>
                <c:pt idx="0">
                  <c:v>80</c:v>
                </c:pt>
                <c:pt idx="1">
                  <c:v>80</c:v>
                </c:pt>
                <c:pt idx="2">
                  <c:v>80</c:v>
                </c:pt>
                <c:pt idx="3">
                  <c:v>80</c:v>
                </c:pt>
                <c:pt idx="4">
                  <c:v>80</c:v>
                </c:pt>
                <c:pt idx="5">
                  <c:v>80</c:v>
                </c:pt>
                <c:pt idx="6">
                  <c:v>80</c:v>
                </c:pt>
                <c:pt idx="7">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EEA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Snapdragon X Elite</c:v>
                </c:pt>
              </c:strCache>
            </c:strRef>
          </c:tx>
          <c:spPr>
            <a:solidFill>
              <a:srgbClr val="3253DC"/>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Whisper-S encoder</c:v>
                  </c:pt>
                  <c:pt idx="1">
                    <c:v>Whisper-S decoder / token</c:v>
                  </c:pt>
                  <c:pt idx="2">
                    <c:v>Whisper-Turbo decoder / token</c:v>
                  </c:pt>
                  <c:pt idx="3">
                    <c:v>Silero-VAD / 32 ms chunk</c:v>
                  </c:pt>
                </c:lvl>
              </c:multiLvlStrCache>
            </c:multiLvlStrRef>
          </c:cat>
          <c:val>
            <c:numRef>
              <c:f>Sheet1!$B$2:$B$5</c:f>
              <c:numCache>
                <c:formatCode>General</c:formatCode>
                <c:ptCount val="4"/>
                <c:pt idx="0">
                  <c:v>117.1</c:v>
                </c:pt>
                <c:pt idx="1">
                  <c:v>10.47</c:v>
                </c:pt>
                <c:pt idx="2">
                  <c:v>8.53</c:v>
                </c:pt>
                <c:pt idx="3">
                  <c:v>0.068</c:v>
                </c:pt>
              </c:numCache>
            </c:numRef>
          </c:val>
        </c:ser>
        <c:ser>
          <c:idx val="1"/>
          <c:order val="1"/>
          <c:tx>
            <c:strRef>
              <c:f>Sheet1!$C$1</c:f>
              <c:strCache>
                <c:ptCount val="1"/>
                <c:pt idx="0">
                  <c:v>Snapdragon X2 Elite</c:v>
                </c:pt>
              </c:strCache>
            </c:strRef>
          </c:tx>
          <c:spPr>
            <a:solidFill>
              <a:srgbClr val="D7002A"/>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Whisper-S encoder</c:v>
                  </c:pt>
                  <c:pt idx="1">
                    <c:v>Whisper-S decoder / token</c:v>
                  </c:pt>
                  <c:pt idx="2">
                    <c:v>Whisper-Turbo decoder / token</c:v>
                  </c:pt>
                  <c:pt idx="3">
                    <c:v>Silero-VAD / 32 ms chunk</c:v>
                  </c:pt>
                </c:lvl>
              </c:multiLvlStrCache>
            </c:multiLvlStrRef>
          </c:cat>
          <c:val>
            <c:numRef>
              <c:f>Sheet1!$C$2:$C$5</c:f>
              <c:numCache>
                <c:formatCode>General</c:formatCode>
                <c:ptCount val="4"/>
                <c:pt idx="0">
                  <c:v>52.9</c:v>
                </c:pt>
                <c:pt idx="1">
                  <c:v>6.28</c:v>
                </c:pt>
                <c:pt idx="2">
                  <c:v>4.86</c:v>
                </c:pt>
                <c:pt idx="3">
                  <c:v>0.058</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000000"/>
                </a:solidFill>
                <a:latin typeface="Arial"/>
              </a:defRPr>
            </a:pPr>
            <a:endParaRPr lang="en-US"/>
          </a:p>
        </c:txPr>
        <c:crossAx val="2094734552"/>
        <c:crosses val="autoZero"/>
        <c:auto val="1"/>
        <c:lblAlgn val="ctr"/>
        <c:noMultiLvlLbl val="1"/>
      </c:catAx>
      <c:valAx>
        <c:axId val="2094734552"/>
        <c:scaling>
          <c:logBase val="10"/>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D7002A"/>
            </a:solidFill>
            <a:effectLst/>
          </c:spPr>
          <c:invertIfNegative val="0"/>
          <c:dLbls>
            <c:numFmt formatCode="0.0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Sheet1!$A$2:$A$11</c:f>
              <c:multiLvlStrCache>
                <c:ptCount val="10"/>
                <c:lvl>
                  <c:pt idx="0">
                    <c:v>credential</c:v>
                  </c:pt>
                  <c:pt idx="1">
                    <c:v>remote_access</c:v>
                  </c:pt>
                  <c:pt idx="2">
                    <c:v>secrecy</c:v>
                  </c:pt>
                  <c:pt idx="3">
                    <c:v>payment</c:v>
                  </c:pt>
                  <c:pt idx="4">
                    <c:v>fake_error</c:v>
                  </c:pt>
                  <c:pt idx="5">
                    <c:v>threat</c:v>
                  </c:pt>
                  <c:pt idx="6">
                    <c:v>identity_bait</c:v>
                  </c:pt>
                  <c:pt idx="7">
                    <c:v>authority</c:v>
                  </c:pt>
                  <c:pt idx="8">
                    <c:v>lure</c:v>
                  </c:pt>
                  <c:pt idx="9">
                    <c:v>urgency</c:v>
                  </c:pt>
                </c:lvl>
              </c:multiLvlStrCache>
            </c:multiLvlStrRef>
          </c:cat>
          <c:val>
            <c:numRef>
              <c:f>Sheet1!$B$2:$B$11</c:f>
              <c:numCache>
                <c:formatCode>General</c:formatCode>
                <c:ptCount val="10"/>
                <c:pt idx="0">
                  <c:v>0.32</c:v>
                </c:pt>
                <c:pt idx="1">
                  <c:v>0.34</c:v>
                </c:pt>
                <c:pt idx="2">
                  <c:v>0.28</c:v>
                </c:pt>
                <c:pt idx="3">
                  <c:v>0.26</c:v>
                </c:pt>
                <c:pt idx="4">
                  <c:v>0.24</c:v>
                </c:pt>
                <c:pt idx="5">
                  <c:v>0.22</c:v>
                </c:pt>
                <c:pt idx="6">
                  <c:v>0.2</c:v>
                </c:pt>
                <c:pt idx="7">
                  <c:v>0.18</c:v>
                </c:pt>
                <c:pt idx="8">
                  <c:v>0.16</c:v>
                </c:pt>
                <c:pt idx="9">
                  <c:v>0.12</c:v>
                </c:pt>
              </c:numCache>
            </c:numRef>
          </c:val>
        </c:ser>
        <c:dLbls>
          <c:numFmt formatCode="0.0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detected %</c:v>
                </c:pt>
              </c:strCache>
            </c:strRef>
          </c:tx>
          <c:spPr>
            <a:solidFill>
              <a:srgbClr val="D7002A"/>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Digital arrest</c:v>
                  </c:pt>
                  <c:pt idx="1">
                    <c:v>KYC / bank</c:v>
                  </c:pt>
                  <c:pt idx="2">
                    <c:v>Lottery</c:v>
                  </c:pt>
                  <c:pt idx="3">
                    <c:v>UPI refund</c:v>
                  </c:pt>
                  <c:pt idx="4">
                    <c:v>Tech support</c:v>
                  </c:pt>
                  <c:pt idx="5">
                    <c:v>Investment / job</c:v>
                  </c:pt>
                  <c:pt idx="6">
                    <c:v>SIM / electricity</c:v>
                  </c:pt>
                </c:lvl>
              </c:multiLvlStrCache>
            </c:multiLvlStrRef>
          </c:cat>
          <c:val>
            <c:numRef>
              <c:f>Sheet1!$B$2:$B$8</c:f>
              <c:numCache>
                <c:formatCode>General</c:formatCode>
                <c:ptCount val="7"/>
                <c:pt idx="0">
                  <c:v>100</c:v>
                </c:pt>
                <c:pt idx="1">
                  <c:v>100</c:v>
                </c:pt>
                <c:pt idx="2">
                  <c:v>100</c:v>
                </c:pt>
                <c:pt idx="3">
                  <c:v>100</c:v>
                </c:pt>
                <c:pt idx="4">
                  <c:v>84</c:v>
                </c:pt>
                <c:pt idx="5">
                  <c:v>82</c:v>
                </c:pt>
                <c:pt idx="6">
                  <c:v>68</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Detection %</c:v>
                </c:pt>
              </c:strCache>
            </c:strRef>
          </c:tx>
          <c:spPr>
            <a:solidFill>
              <a:srgbClr val="3253DC"/>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v0 rules</c:v>
                  </c:pt>
                  <c:pt idx="1">
                    <c:v>+ confidence</c:v>
                  </c:pt>
                  <c:pt idx="2">
                    <c:v>+ thresholds</c:v>
                  </c:pt>
                </c:lvl>
              </c:multiLvlStrCache>
            </c:multiLvlStrRef>
          </c:cat>
          <c:val>
            <c:numRef>
              <c:f>Sheet1!$B$2:$B$4</c:f>
              <c:numCache>
                <c:formatCode>General</c:formatCode>
                <c:ptCount val="3"/>
                <c:pt idx="0">
                  <c:v>65.5</c:v>
                </c:pt>
                <c:pt idx="1">
                  <c:v>91</c:v>
                </c:pt>
                <c:pt idx="2">
                  <c:v>91</c:v>
                </c:pt>
              </c:numCache>
            </c:numRef>
          </c:val>
        </c:ser>
        <c:ser>
          <c:idx val="1"/>
          <c:order val="1"/>
          <c:tx>
            <c:strRef>
              <c:f>Sheet1!$C$1</c:f>
              <c:strCache>
                <c:ptCount val="1"/>
                <c:pt idx="0">
                  <c:v>False alarm %</c:v>
                </c:pt>
              </c:strCache>
            </c:strRef>
          </c:tx>
          <c:spPr>
            <a:solidFill>
              <a:srgbClr val="D7002A"/>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v0 rules</c:v>
                  </c:pt>
                  <c:pt idx="1">
                    <c:v>+ confidence</c:v>
                  </c:pt>
                  <c:pt idx="2">
                    <c:v>+ thresholds</c:v>
                  </c:pt>
                </c:lvl>
              </c:multiLvlStrCache>
            </c:multiLvlStrRef>
          </c:cat>
          <c:val>
            <c:numRef>
              <c:f>Sheet1!$C$2:$C$4</c:f>
              <c:numCache>
                <c:formatCode>General</c:formatCode>
                <c:ptCount val="3"/>
                <c:pt idx="0">
                  <c:v>22</c:v>
                </c:pt>
                <c:pt idx="1">
                  <c:v>12.5</c:v>
                </c:pt>
                <c:pt idx="2">
                  <c:v>0.5</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crore protected</c:v>
                </c:pt>
              </c:strCache>
            </c:strRef>
          </c:tx>
          <c:spPr>
            <a:solidFill>
              <a:srgbClr val="D7002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1,000 cases</c:v>
                  </c:pt>
                  <c:pt idx="1">
                    <c:v>5,000 cases</c:v>
                  </c:pt>
                  <c:pt idx="2">
                    <c:v>10,000 cases</c:v>
                  </c:pt>
                  <c:pt idx="3">
                    <c:v>25,000 cases</c:v>
                  </c:pt>
                </c:lvl>
              </c:multiLvlStrCache>
            </c:multiLvlStrRef>
          </c:cat>
          <c:val>
            <c:numRef>
              <c:f>Sheet1!$B$2:$B$5</c:f>
              <c:numCache>
                <c:formatCode>General</c:formatCode>
                <c:ptCount val="4"/>
                <c:pt idx="0">
                  <c:v>15.5</c:v>
                </c:pt>
                <c:pt idx="1">
                  <c:v>77.5</c:v>
                </c:pt>
                <c:pt idx="2">
                  <c:v>155</c:v>
                </c:pt>
                <c:pt idx="3">
                  <c:v>387.5</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7"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2-10.png"/><Relationship Id="rId12" Type="http://schemas.openxmlformats.org/officeDocument/2006/relationships/image" Target="../media/image-2-11.png"/><Relationship Id="rId13" Type="http://schemas.openxmlformats.org/officeDocument/2006/relationships/image" Target="../media/image-2-12.png"/><Relationship Id="rId14" Type="http://schemas.openxmlformats.org/officeDocument/2006/relationships/image" Target="../media/image-2-13.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image" Target="../media/image-7-18.png"/><Relationship Id="rId19" Type="http://schemas.openxmlformats.org/officeDocument/2006/relationships/image" Target="../media/image-7-19.png"/><Relationship Id="rId20" Type="http://schemas.openxmlformats.org/officeDocument/2006/relationships/image" Target="../media/image-7-20.png"/><Relationship Id="rId21" Type="http://schemas.openxmlformats.org/officeDocument/2006/relationships/image" Target="../media/image-7-21.png"/><Relationship Id="rId22" Type="http://schemas.openxmlformats.org/officeDocument/2006/relationships/image" Target="../media/image-7-22.png"/><Relationship Id="rId23" Type="http://schemas.openxmlformats.org/officeDocument/2006/relationships/slideLayout" Target="../slideLayouts/slideLayout1.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8-7.png"/><Relationship Id="rId9" Type="http://schemas.openxmlformats.org/officeDocument/2006/relationships/image" Target="../media/image-8-8.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chart" Target="/ppt/charts/chart5.xm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6.xml"/><Relationship Id="rId9" Type="http://schemas.openxmlformats.org/officeDocument/2006/relationships/chart" Target="/ppt/charts/chart7.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1" Type="http://schemas.openxmlformats.org/officeDocument/2006/relationships/chart" Target="/ppt/charts/chart8.xml"/><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7F2"/>
          </a:solidFill>
          <a:ln w="12700">
            <a:solidFill>
              <a:srgbClr val="FAF7F2"/>
            </a:solidFill>
            <a:prstDash val="solid"/>
          </a:ln>
        </p:spPr>
      </p:sp>
      <p:sp>
        <p:nvSpPr>
          <p:cNvPr id="3" name="Shape 1"/>
          <p:cNvSpPr/>
          <p:nvPr/>
        </p:nvSpPr>
        <p:spPr>
          <a:xfrm>
            <a:off x="0" y="0"/>
            <a:ext cx="5394960" cy="6858000"/>
          </a:xfrm>
          <a:prstGeom prst="rect">
            <a:avLst/>
          </a:prstGeom>
          <a:solidFill>
            <a:srgbClr val="121217"/>
          </a:solidFill>
          <a:ln w="12700">
            <a:solidFill>
              <a:srgbClr val="121217"/>
            </a:solidFill>
            <a:prstDash val="solid"/>
          </a:ln>
        </p:spPr>
      </p:sp>
      <p:pic>
        <p:nvPicPr>
          <p:cNvPr id="4" name="Image 0" descr="/home/claude/deck/hero_circle.png">    </p:cNvPr>
          <p:cNvPicPr>
            <a:picLocks noChangeAspect="1"/>
          </p:cNvPicPr>
          <p:nvPr/>
        </p:nvPicPr>
        <p:blipFill>
          <a:blip r:embed="rId1"/>
          <a:stretch>
            <a:fillRect/>
          </a:stretch>
        </p:blipFill>
        <p:spPr>
          <a:xfrm>
            <a:off x="502920" y="1143000"/>
            <a:ext cx="4389120" cy="4389120"/>
          </a:xfrm>
          <a:prstGeom prst="rect">
            <a:avLst/>
          </a:prstGeom>
        </p:spPr>
      </p:pic>
      <p:sp>
        <p:nvSpPr>
          <p:cNvPr id="5" name="Shape 2"/>
          <p:cNvSpPr/>
          <p:nvPr/>
        </p:nvSpPr>
        <p:spPr>
          <a:xfrm>
            <a:off x="411480" y="365760"/>
            <a:ext cx="457200" cy="457200"/>
          </a:xfrm>
          <a:prstGeom prst="roundRect">
            <a:avLst>
              <a:gd name="adj" fmla="val 16000"/>
            </a:avLst>
          </a:prstGeom>
          <a:solidFill>
            <a:srgbClr val="D7002A"/>
          </a:solidFill>
          <a:ln w="12700">
            <a:solidFill>
              <a:srgbClr val="D7002A"/>
            </a:solidFill>
            <a:prstDash val="solid"/>
          </a:ln>
        </p:spPr>
      </p:sp>
      <p:sp>
        <p:nvSpPr>
          <p:cNvPr id="6" name="Text 3"/>
          <p:cNvSpPr txBox="1"/>
          <p:nvPr/>
        </p:nvSpPr>
        <p:spPr>
          <a:xfrm>
            <a:off x="411480" y="3657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S</a:t>
            </a:r>
            <a:endParaRPr lang="en-US" sz="2200" dirty="0"/>
          </a:p>
        </p:txBody>
      </p:sp>
      <p:sp>
        <p:nvSpPr>
          <p:cNvPr id="7" name="Text 4"/>
          <p:cNvSpPr txBox="1"/>
          <p:nvPr/>
        </p:nvSpPr>
        <p:spPr>
          <a:xfrm>
            <a:off x="960120" y="384048"/>
            <a:ext cx="4297680" cy="420624"/>
          </a:xfrm>
          <a:prstGeom prst="rect">
            <a:avLst/>
          </a:prstGeom>
          <a:noFill/>
          <a:ln/>
        </p:spPr>
        <p:txBody>
          <a:bodyPr wrap="square" lIns="0" tIns="0" rIns="0" bIns="0" rtlCol="0" anchor="ctr"/>
          <a:lstStyle/>
          <a:p>
            <a:pPr indent="0" marL="0">
              <a:buNone/>
            </a:pPr>
            <a:r>
              <a:rPr lang="en-US" sz="1100" b="1" dirty="0">
                <a:solidFill>
                  <a:srgbClr val="D9D9E0"/>
                </a:solidFill>
                <a:latin typeface="Arial" pitchFamily="34" charset="0"/>
                <a:ea typeface="Arial" pitchFamily="34" charset="-122"/>
                <a:cs typeface="Arial" pitchFamily="34" charset="-120"/>
              </a:rPr>
              <a:t>Snapdragon AI Lab  |  Build &amp; Present Challenge 2026</a:t>
            </a:r>
            <a:endParaRPr lang="en-US" sz="1100" dirty="0"/>
          </a:p>
        </p:txBody>
      </p:sp>
      <p:pic>
        <p:nvPicPr>
          <p:cNvPr id="8" name="Image 1" descr="preencoded.png">    </p:cNvPr>
          <p:cNvPicPr>
            <a:picLocks noChangeAspect="1"/>
          </p:cNvPicPr>
          <p:nvPr/>
        </p:nvPicPr>
        <p:blipFill>
          <a:blip r:embed="rId2"/>
          <a:stretch>
            <a:fillRect/>
          </a:stretch>
        </p:blipFill>
        <p:spPr>
          <a:xfrm>
            <a:off x="502920" y="5989320"/>
            <a:ext cx="411480" cy="411480"/>
          </a:xfrm>
          <a:prstGeom prst="rect">
            <a:avLst/>
          </a:prstGeom>
        </p:spPr>
      </p:pic>
      <p:pic>
        <p:nvPicPr>
          <p:cNvPr id="9" name="Image 2" descr="preencoded.png">    </p:cNvPr>
          <p:cNvPicPr>
            <a:picLocks noChangeAspect="1"/>
          </p:cNvPicPr>
          <p:nvPr/>
        </p:nvPicPr>
        <p:blipFill>
          <a:blip r:embed="rId3"/>
          <a:stretch>
            <a:fillRect/>
          </a:stretch>
        </p:blipFill>
        <p:spPr>
          <a:xfrm>
            <a:off x="1051560" y="5989320"/>
            <a:ext cx="411480" cy="411480"/>
          </a:xfrm>
          <a:prstGeom prst="rect">
            <a:avLst/>
          </a:prstGeom>
        </p:spPr>
      </p:pic>
      <p:sp>
        <p:nvSpPr>
          <p:cNvPr id="10" name="Text 5"/>
          <p:cNvSpPr txBox="1"/>
          <p:nvPr/>
        </p:nvSpPr>
        <p:spPr>
          <a:xfrm>
            <a:off x="1600200" y="5989320"/>
            <a:ext cx="3566160" cy="411480"/>
          </a:xfrm>
          <a:prstGeom prst="rect">
            <a:avLst/>
          </a:prstGeom>
          <a:noFill/>
          <a:ln/>
        </p:spPr>
        <p:txBody>
          <a:bodyPr wrap="square" lIns="0" tIns="0" rIns="0" bIns="0" rtlCol="0" anchor="ctr"/>
          <a:lstStyle/>
          <a:p>
            <a:pPr indent="0" marL="0">
              <a:buNone/>
            </a:pPr>
            <a:r>
              <a:rPr lang="en-US" sz="1000" dirty="0">
                <a:solidFill>
                  <a:srgbClr val="C9C9D1"/>
                </a:solidFill>
                <a:latin typeface="Arial" pitchFamily="34" charset="0"/>
                <a:ea typeface="Arial" pitchFamily="34" charset="-122"/>
                <a:cs typeface="Arial" pitchFamily="34" charset="-120"/>
              </a:rPr>
              <a:t>Built for Snapdragon-powered HP AI PCs</a:t>
            </a:r>
            <a:endParaRPr lang="en-US" sz="1000" dirty="0"/>
          </a:p>
        </p:txBody>
      </p:sp>
      <p:sp>
        <p:nvSpPr>
          <p:cNvPr id="11" name="Shape 6"/>
          <p:cNvSpPr/>
          <p:nvPr/>
        </p:nvSpPr>
        <p:spPr>
          <a:xfrm>
            <a:off x="5943600" y="1097280"/>
            <a:ext cx="5760720" cy="0"/>
          </a:xfrm>
          <a:prstGeom prst="line">
            <a:avLst/>
          </a:prstGeom>
          <a:noFill/>
          <a:ln w="25400">
            <a:solidFill>
              <a:srgbClr val="D7002A"/>
            </a:solidFill>
            <a:prstDash val="solid"/>
          </a:ln>
        </p:spPr>
      </p:sp>
      <p:sp>
        <p:nvSpPr>
          <p:cNvPr id="12" name="Text 7"/>
          <p:cNvSpPr txBox="1"/>
          <p:nvPr/>
        </p:nvSpPr>
        <p:spPr>
          <a:xfrm>
            <a:off x="5943600" y="1234440"/>
            <a:ext cx="5760720" cy="822960"/>
          </a:xfrm>
          <a:prstGeom prst="rect">
            <a:avLst/>
          </a:prstGeom>
          <a:noFill/>
          <a:ln/>
        </p:spPr>
        <p:txBody>
          <a:bodyPr wrap="square" lIns="0" tIns="0" rIns="0" bIns="0" rtlCol="0" anchor="ctr"/>
          <a:lstStyle/>
          <a:p>
            <a:pPr indent="0" marL="0">
              <a:buNone/>
            </a:pPr>
            <a:r>
              <a:rPr lang="en-US" sz="4800" b="1" dirty="0">
                <a:solidFill>
                  <a:srgbClr val="1C1C22"/>
                </a:solidFill>
                <a:latin typeface="Arial" pitchFamily="34" charset="0"/>
                <a:ea typeface="Arial" pitchFamily="34" charset="-122"/>
                <a:cs typeface="Arial" pitchFamily="34" charset="-120"/>
              </a:rPr>
              <a:t>SAJAG AI</a:t>
            </a:r>
            <a:endParaRPr lang="en-US" sz="4800" dirty="0"/>
          </a:p>
        </p:txBody>
      </p:sp>
      <p:sp>
        <p:nvSpPr>
          <p:cNvPr id="13" name="Text 8"/>
          <p:cNvSpPr txBox="1"/>
          <p:nvPr/>
        </p:nvSpPr>
        <p:spPr>
          <a:xfrm>
            <a:off x="5943600" y="2011680"/>
            <a:ext cx="5760720" cy="365760"/>
          </a:xfrm>
          <a:prstGeom prst="rect">
            <a:avLst/>
          </a:prstGeom>
          <a:noFill/>
          <a:ln/>
        </p:spPr>
        <p:txBody>
          <a:bodyPr wrap="square" lIns="0" tIns="0" rIns="0" bIns="0" rtlCol="0" anchor="ctr"/>
          <a:lstStyle/>
          <a:p>
            <a:pPr indent="0" marL="0">
              <a:buNone/>
            </a:pPr>
            <a:r>
              <a:rPr lang="en-US" sz="1400" b="1" dirty="0">
                <a:solidFill>
                  <a:srgbClr val="D7002A"/>
                </a:solidFill>
                <a:latin typeface="Arial" pitchFamily="34" charset="0"/>
                <a:ea typeface="Arial" pitchFamily="34" charset="-122"/>
                <a:cs typeface="Arial" pitchFamily="34" charset="-120"/>
              </a:rPr>
              <a:t>सजग  =  alert, vigilant</a:t>
            </a:r>
            <a:endParaRPr lang="en-US" sz="1400" dirty="0"/>
          </a:p>
        </p:txBody>
      </p:sp>
      <p:sp>
        <p:nvSpPr>
          <p:cNvPr id="14" name="Text 9"/>
          <p:cNvSpPr txBox="1"/>
          <p:nvPr/>
        </p:nvSpPr>
        <p:spPr>
          <a:xfrm>
            <a:off x="5943600" y="2423160"/>
            <a:ext cx="5760720" cy="731520"/>
          </a:xfrm>
          <a:prstGeom prst="rect">
            <a:avLst/>
          </a:prstGeom>
          <a:noFill/>
          <a:ln/>
        </p:spPr>
        <p:txBody>
          <a:bodyPr wrap="square" lIns="0" tIns="0" rIns="0" bIns="0" rtlCol="0" anchor="ctr"/>
          <a:lstStyle/>
          <a:p>
            <a:pPr indent="0" marL="0">
              <a:buNone/>
            </a:pPr>
            <a:r>
              <a:rPr lang="en-US" sz="2000" dirty="0">
                <a:solidFill>
                  <a:srgbClr val="1C1C22"/>
                </a:solidFill>
                <a:latin typeface="Arial" pitchFamily="34" charset="0"/>
                <a:ea typeface="Arial" pitchFamily="34" charset="-122"/>
                <a:cs typeface="Arial" pitchFamily="34" charset="-120"/>
              </a:rPr>
              <a:t>The on-device, multimodal scam shield for Snapdragon AI PCs</a:t>
            </a:r>
            <a:endParaRPr lang="en-US" sz="2000" dirty="0"/>
          </a:p>
        </p:txBody>
      </p:sp>
      <p:sp>
        <p:nvSpPr>
          <p:cNvPr id="15" name="Text 10"/>
          <p:cNvSpPr txBox="1"/>
          <p:nvPr/>
        </p:nvSpPr>
        <p:spPr>
          <a:xfrm>
            <a:off x="5943600" y="3154680"/>
            <a:ext cx="5760720" cy="566928"/>
          </a:xfrm>
          <a:prstGeom prst="rect">
            <a:avLst/>
          </a:prstGeom>
          <a:noFill/>
          <a:ln/>
        </p:spPr>
        <p:txBody>
          <a:bodyPr wrap="square" lIns="0" tIns="0" rIns="0" bIns="0" rtlCol="0" anchor="ctr"/>
          <a:lstStyle/>
          <a:p>
            <a:pPr indent="0" marL="0">
              <a:buNone/>
            </a:pPr>
            <a:r>
              <a:rPr lang="en-US" sz="1200" i="1" dirty="0">
                <a:solidFill>
                  <a:srgbClr val="5E5E66"/>
                </a:solidFill>
                <a:latin typeface="Arial" pitchFamily="34" charset="0"/>
                <a:ea typeface="Arial" pitchFamily="34" charset="-122"/>
                <a:cs typeface="Arial" pitchFamily="34" charset="-120"/>
              </a:rPr>
              <a:t>Sees the scam on your screen. Hears it on your call. Stops it before money moves. Nothing leaves your PC.</a:t>
            </a:r>
            <a:endParaRPr lang="en-US" sz="1200" dirty="0"/>
          </a:p>
        </p:txBody>
      </p:sp>
      <p:sp>
        <p:nvSpPr>
          <p:cNvPr id="16" name="Shape 11"/>
          <p:cNvSpPr/>
          <p:nvPr/>
        </p:nvSpPr>
        <p:spPr>
          <a:xfrm>
            <a:off x="5943600" y="3794760"/>
            <a:ext cx="5760720" cy="0"/>
          </a:xfrm>
          <a:prstGeom prst="line">
            <a:avLst/>
          </a:prstGeom>
          <a:noFill/>
          <a:ln w="25400">
            <a:solidFill>
              <a:srgbClr val="D7002A"/>
            </a:solidFill>
            <a:prstDash val="solid"/>
          </a:ln>
        </p:spPr>
      </p:sp>
      <p:sp>
        <p:nvSpPr>
          <p:cNvPr id="17" name="Shape 12"/>
          <p:cNvSpPr/>
          <p:nvPr/>
        </p:nvSpPr>
        <p:spPr>
          <a:xfrm>
            <a:off x="5943600" y="3977640"/>
            <a:ext cx="2788920" cy="603504"/>
          </a:xfrm>
          <a:prstGeom prst="roundRect">
            <a:avLst>
              <a:gd name="adj" fmla="val 12121"/>
            </a:avLst>
          </a:prstGeom>
          <a:solidFill>
            <a:srgbClr val="FFFFFF"/>
          </a:solidFill>
          <a:ln w="12700">
            <a:solidFill>
              <a:srgbClr val="E3DCD1"/>
            </a:solidFill>
            <a:prstDash val="solid"/>
          </a:ln>
        </p:spPr>
      </p:sp>
      <p:sp>
        <p:nvSpPr>
          <p:cNvPr id="18" name="Shape 13"/>
          <p:cNvSpPr/>
          <p:nvPr/>
        </p:nvSpPr>
        <p:spPr>
          <a:xfrm>
            <a:off x="5943600" y="4069080"/>
            <a:ext cx="64008" cy="420624"/>
          </a:xfrm>
          <a:prstGeom prst="rect">
            <a:avLst/>
          </a:prstGeom>
          <a:solidFill>
            <a:srgbClr val="D7002A"/>
          </a:solidFill>
          <a:ln w="12700">
            <a:solidFill>
              <a:srgbClr val="D7002A"/>
            </a:solidFill>
            <a:prstDash val="solid"/>
          </a:ln>
        </p:spPr>
      </p:sp>
      <p:sp>
        <p:nvSpPr>
          <p:cNvPr id="19" name="Text 14"/>
          <p:cNvSpPr txBox="1"/>
          <p:nvPr/>
        </p:nvSpPr>
        <p:spPr>
          <a:xfrm>
            <a:off x="6108192" y="3977640"/>
            <a:ext cx="2560320" cy="603504"/>
          </a:xfrm>
          <a:prstGeom prst="rect">
            <a:avLst/>
          </a:prstGeom>
          <a:noFill/>
          <a:ln/>
        </p:spPr>
        <p:txBody>
          <a:bodyPr wrap="square" lIns="0" tIns="0" rIns="0" bIns="0" rtlCol="0" anchor="ctr"/>
          <a:lstStyle/>
          <a:p>
            <a:pPr indent="0" marL="0">
              <a:buNone/>
            </a:pPr>
            <a:r>
              <a:rPr lang="en-US" sz="1300" b="1" dirty="0">
                <a:solidFill>
                  <a:srgbClr val="1C1C22"/>
                </a:solidFill>
                <a:latin typeface="Arial" pitchFamily="34" charset="0"/>
                <a:ea typeface="Arial" pitchFamily="34" charset="-122"/>
                <a:cs typeface="Arial" pitchFamily="34" charset="-120"/>
              </a:rPr>
              <a:t>5 AI models</a:t>
            </a:r>
            <a:endParaRPr lang="en-US" sz="1300" dirty="0"/>
          </a:p>
          <a:p>
            <a:pPr indent="0" marL="0">
              <a:buNone/>
            </a:pPr>
            <a:r>
              <a:rPr lang="en-US" sz="850" dirty="0">
                <a:solidFill>
                  <a:srgbClr val="5E5E66"/>
                </a:solidFill>
                <a:latin typeface="Arial" pitchFamily="34" charset="0"/>
                <a:ea typeface="Arial" pitchFamily="34" charset="-122"/>
                <a:cs typeface="Arial" pitchFamily="34" charset="-120"/>
              </a:rPr>
              <a:t>on the Hexagon NPU path</a:t>
            </a:r>
            <a:endParaRPr lang="en-US" sz="1300" dirty="0"/>
          </a:p>
        </p:txBody>
      </p:sp>
      <p:sp>
        <p:nvSpPr>
          <p:cNvPr id="20" name="Shape 15"/>
          <p:cNvSpPr/>
          <p:nvPr/>
        </p:nvSpPr>
        <p:spPr>
          <a:xfrm>
            <a:off x="8869680" y="3977640"/>
            <a:ext cx="2788920" cy="603504"/>
          </a:xfrm>
          <a:prstGeom prst="roundRect">
            <a:avLst>
              <a:gd name="adj" fmla="val 12121"/>
            </a:avLst>
          </a:prstGeom>
          <a:solidFill>
            <a:srgbClr val="FFFFFF"/>
          </a:solidFill>
          <a:ln w="12700">
            <a:solidFill>
              <a:srgbClr val="E3DCD1"/>
            </a:solidFill>
            <a:prstDash val="solid"/>
          </a:ln>
        </p:spPr>
      </p:sp>
      <p:sp>
        <p:nvSpPr>
          <p:cNvPr id="21" name="Shape 16"/>
          <p:cNvSpPr/>
          <p:nvPr/>
        </p:nvSpPr>
        <p:spPr>
          <a:xfrm>
            <a:off x="8869680" y="4069080"/>
            <a:ext cx="64008" cy="420624"/>
          </a:xfrm>
          <a:prstGeom prst="rect">
            <a:avLst/>
          </a:prstGeom>
          <a:solidFill>
            <a:srgbClr val="D7002A"/>
          </a:solidFill>
          <a:ln w="12700">
            <a:solidFill>
              <a:srgbClr val="D7002A"/>
            </a:solidFill>
            <a:prstDash val="solid"/>
          </a:ln>
        </p:spPr>
      </p:sp>
      <p:sp>
        <p:nvSpPr>
          <p:cNvPr id="22" name="Text 17"/>
          <p:cNvSpPr txBox="1"/>
          <p:nvPr/>
        </p:nvSpPr>
        <p:spPr>
          <a:xfrm>
            <a:off x="9034272" y="3977640"/>
            <a:ext cx="2560320" cy="603504"/>
          </a:xfrm>
          <a:prstGeom prst="rect">
            <a:avLst/>
          </a:prstGeom>
          <a:noFill/>
          <a:ln/>
        </p:spPr>
        <p:txBody>
          <a:bodyPr wrap="square" lIns="0" tIns="0" rIns="0" bIns="0" rtlCol="0" anchor="ctr"/>
          <a:lstStyle/>
          <a:p>
            <a:pPr indent="0" marL="0">
              <a:buNone/>
            </a:pPr>
            <a:r>
              <a:rPr lang="en-US" sz="1300" b="1" dirty="0">
                <a:solidFill>
                  <a:srgbClr val="1C1C22"/>
                </a:solidFill>
                <a:latin typeface="Arial" pitchFamily="34" charset="0"/>
                <a:ea typeface="Arial" pitchFamily="34" charset="-122"/>
                <a:cs typeface="Arial" pitchFamily="34" charset="-120"/>
              </a:rPr>
              <a:t>EN | हिन्दी | Hinglish</a:t>
            </a:r>
            <a:endParaRPr lang="en-US" sz="1300" dirty="0"/>
          </a:p>
          <a:p>
            <a:pPr indent="0" marL="0">
              <a:buNone/>
            </a:pPr>
            <a:r>
              <a:rPr lang="en-US" sz="850" dirty="0">
                <a:solidFill>
                  <a:srgbClr val="5E5E66"/>
                </a:solidFill>
                <a:latin typeface="Arial" pitchFamily="34" charset="0"/>
                <a:ea typeface="Arial" pitchFamily="34" charset="-122"/>
                <a:cs typeface="Arial" pitchFamily="34" charset="-120"/>
              </a:rPr>
              <a:t>speech + screen</a:t>
            </a:r>
            <a:endParaRPr lang="en-US" sz="1300" dirty="0"/>
          </a:p>
        </p:txBody>
      </p:sp>
      <p:sp>
        <p:nvSpPr>
          <p:cNvPr id="23" name="Shape 18"/>
          <p:cNvSpPr/>
          <p:nvPr/>
        </p:nvSpPr>
        <p:spPr>
          <a:xfrm>
            <a:off x="5943600" y="4690872"/>
            <a:ext cx="2788920" cy="603504"/>
          </a:xfrm>
          <a:prstGeom prst="roundRect">
            <a:avLst>
              <a:gd name="adj" fmla="val 12121"/>
            </a:avLst>
          </a:prstGeom>
          <a:solidFill>
            <a:srgbClr val="FFFFFF"/>
          </a:solidFill>
          <a:ln w="12700">
            <a:solidFill>
              <a:srgbClr val="E3DCD1"/>
            </a:solidFill>
            <a:prstDash val="solid"/>
          </a:ln>
        </p:spPr>
      </p:sp>
      <p:sp>
        <p:nvSpPr>
          <p:cNvPr id="24" name="Shape 19"/>
          <p:cNvSpPr/>
          <p:nvPr/>
        </p:nvSpPr>
        <p:spPr>
          <a:xfrm>
            <a:off x="5943600" y="4782312"/>
            <a:ext cx="64008" cy="420624"/>
          </a:xfrm>
          <a:prstGeom prst="rect">
            <a:avLst/>
          </a:prstGeom>
          <a:solidFill>
            <a:srgbClr val="D7002A"/>
          </a:solidFill>
          <a:ln w="12700">
            <a:solidFill>
              <a:srgbClr val="D7002A"/>
            </a:solidFill>
            <a:prstDash val="solid"/>
          </a:ln>
        </p:spPr>
      </p:sp>
      <p:sp>
        <p:nvSpPr>
          <p:cNvPr id="25" name="Text 20"/>
          <p:cNvSpPr txBox="1"/>
          <p:nvPr/>
        </p:nvSpPr>
        <p:spPr>
          <a:xfrm>
            <a:off x="6108192" y="4690872"/>
            <a:ext cx="2560320" cy="603504"/>
          </a:xfrm>
          <a:prstGeom prst="rect">
            <a:avLst/>
          </a:prstGeom>
          <a:noFill/>
          <a:ln/>
        </p:spPr>
        <p:txBody>
          <a:bodyPr wrap="square" lIns="0" tIns="0" rIns="0" bIns="0" rtlCol="0" anchor="ctr"/>
          <a:lstStyle/>
          <a:p>
            <a:pPr indent="0" marL="0">
              <a:buNone/>
            </a:pPr>
            <a:r>
              <a:rPr lang="en-US" sz="1300" b="1" dirty="0">
                <a:solidFill>
                  <a:srgbClr val="1C1C22"/>
                </a:solidFill>
                <a:latin typeface="Arial" pitchFamily="34" charset="0"/>
                <a:ea typeface="Arial" pitchFamily="34" charset="-122"/>
                <a:cs typeface="Arial" pitchFamily="34" charset="-120"/>
              </a:rPr>
              <a:t>100% offline</a:t>
            </a:r>
            <a:endParaRPr lang="en-US" sz="1300" dirty="0"/>
          </a:p>
          <a:p>
            <a:pPr indent="0" marL="0">
              <a:buNone/>
            </a:pPr>
            <a:r>
              <a:rPr lang="en-US" sz="850" dirty="0">
                <a:solidFill>
                  <a:srgbClr val="5E5E66"/>
                </a:solidFill>
                <a:latin typeface="Arial" pitchFamily="34" charset="0"/>
                <a:ea typeface="Arial" pitchFamily="34" charset="-122"/>
                <a:cs typeface="Arial" pitchFamily="34" charset="-120"/>
              </a:rPr>
              <a:t>zero cloud, zero upload</a:t>
            </a:r>
            <a:endParaRPr lang="en-US" sz="1300" dirty="0"/>
          </a:p>
        </p:txBody>
      </p:sp>
      <p:sp>
        <p:nvSpPr>
          <p:cNvPr id="26" name="Shape 21"/>
          <p:cNvSpPr/>
          <p:nvPr/>
        </p:nvSpPr>
        <p:spPr>
          <a:xfrm>
            <a:off x="8869680" y="4690872"/>
            <a:ext cx="2788920" cy="603504"/>
          </a:xfrm>
          <a:prstGeom prst="roundRect">
            <a:avLst>
              <a:gd name="adj" fmla="val 12121"/>
            </a:avLst>
          </a:prstGeom>
          <a:solidFill>
            <a:srgbClr val="FFFFFF"/>
          </a:solidFill>
          <a:ln w="12700">
            <a:solidFill>
              <a:srgbClr val="E3DCD1"/>
            </a:solidFill>
            <a:prstDash val="solid"/>
          </a:ln>
        </p:spPr>
      </p:sp>
      <p:sp>
        <p:nvSpPr>
          <p:cNvPr id="27" name="Shape 22"/>
          <p:cNvSpPr/>
          <p:nvPr/>
        </p:nvSpPr>
        <p:spPr>
          <a:xfrm>
            <a:off x="8869680" y="4782312"/>
            <a:ext cx="64008" cy="420624"/>
          </a:xfrm>
          <a:prstGeom prst="rect">
            <a:avLst/>
          </a:prstGeom>
          <a:solidFill>
            <a:srgbClr val="D7002A"/>
          </a:solidFill>
          <a:ln w="12700">
            <a:solidFill>
              <a:srgbClr val="D7002A"/>
            </a:solidFill>
            <a:prstDash val="solid"/>
          </a:ln>
        </p:spPr>
      </p:sp>
      <p:sp>
        <p:nvSpPr>
          <p:cNvPr id="28" name="Text 23"/>
          <p:cNvSpPr txBox="1"/>
          <p:nvPr/>
        </p:nvSpPr>
        <p:spPr>
          <a:xfrm>
            <a:off x="9034272" y="4690872"/>
            <a:ext cx="2560320" cy="603504"/>
          </a:xfrm>
          <a:prstGeom prst="rect">
            <a:avLst/>
          </a:prstGeom>
          <a:noFill/>
          <a:ln/>
        </p:spPr>
        <p:txBody>
          <a:bodyPr wrap="square" lIns="0" tIns="0" rIns="0" bIns="0" rtlCol="0" anchor="ctr"/>
          <a:lstStyle/>
          <a:p>
            <a:pPr indent="0" marL="0">
              <a:buNone/>
            </a:pPr>
            <a:r>
              <a:rPr lang="en-US" sz="1300" b="1" dirty="0">
                <a:solidFill>
                  <a:srgbClr val="1C1C22"/>
                </a:solidFill>
                <a:latin typeface="Arial" pitchFamily="34" charset="0"/>
                <a:ea typeface="Arial" pitchFamily="34" charset="-122"/>
                <a:cs typeface="Arial" pitchFamily="34" charset="-120"/>
              </a:rPr>
              <a:t>91% / 0.5%</a:t>
            </a:r>
            <a:endParaRPr lang="en-US" sz="1300" dirty="0"/>
          </a:p>
          <a:p>
            <a:pPr indent="0" marL="0">
              <a:buNone/>
            </a:pPr>
            <a:r>
              <a:rPr lang="en-US" sz="850" dirty="0">
                <a:solidFill>
                  <a:srgbClr val="5E5E66"/>
                </a:solidFill>
                <a:latin typeface="Arial" pitchFamily="34" charset="0"/>
                <a:ea typeface="Arial" pitchFamily="34" charset="-122"/>
                <a:cs typeface="Arial" pitchFamily="34" charset="-120"/>
              </a:rPr>
              <a:t>detection / false alarms*</a:t>
            </a:r>
            <a:endParaRPr lang="en-US" sz="1300" dirty="0"/>
          </a:p>
        </p:txBody>
      </p:sp>
      <p:sp>
        <p:nvSpPr>
          <p:cNvPr id="29" name="Shape 24"/>
          <p:cNvSpPr/>
          <p:nvPr/>
        </p:nvSpPr>
        <p:spPr>
          <a:xfrm>
            <a:off x="5943600" y="5532120"/>
            <a:ext cx="5760720" cy="713232"/>
          </a:xfrm>
          <a:prstGeom prst="roundRect">
            <a:avLst>
              <a:gd name="adj" fmla="val 12821"/>
            </a:avLst>
          </a:prstGeom>
          <a:solidFill>
            <a:srgbClr val="D7002A"/>
          </a:solidFill>
          <a:ln w="12700">
            <a:solidFill>
              <a:srgbClr val="D7002A"/>
            </a:solidFill>
            <a:prstDash val="solid"/>
          </a:ln>
        </p:spPr>
      </p:sp>
      <p:sp>
        <p:nvSpPr>
          <p:cNvPr id="30" name="Text 25"/>
          <p:cNvSpPr txBox="1"/>
          <p:nvPr/>
        </p:nvSpPr>
        <p:spPr>
          <a:xfrm>
            <a:off x="6126480" y="5532120"/>
            <a:ext cx="5486400" cy="71323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Tanmay Sahare</a:t>
            </a:r>
            <a:endParaRPr lang="en-US" sz="1500" dirty="0"/>
          </a:p>
          <a:p>
            <a:pPr indent="0" marL="0">
              <a:buNone/>
            </a:pPr>
            <a:r>
              <a:rPr lang="en-US" sz="950" dirty="0">
                <a:solidFill>
                  <a:srgbClr val="FFE3E8"/>
                </a:solidFill>
                <a:latin typeface="Arial" pitchFamily="34" charset="0"/>
                <a:ea typeface="Arial" pitchFamily="34" charset="-122"/>
                <a:cs typeface="Arial" pitchFamily="34" charset="-120"/>
              </a:rPr>
              <a:t>B.Tech Aerospace Engineering, IIT Kanpur  |  github.com/tanmaysahare/sajag-ai</a:t>
            </a:r>
            <a:endParaRPr lang="en-US" sz="1500" dirty="0"/>
          </a:p>
        </p:txBody>
      </p:sp>
      <p:sp>
        <p:nvSpPr>
          <p:cNvPr id="31" name="Text 26"/>
          <p:cNvSpPr txBox="1"/>
          <p:nvPr/>
        </p:nvSpPr>
        <p:spPr>
          <a:xfrm>
            <a:off x="5943600" y="6309360"/>
            <a:ext cx="5760720" cy="228600"/>
          </a:xfrm>
          <a:prstGeom prst="rect">
            <a:avLst/>
          </a:prstGeom>
          <a:noFill/>
          <a:ln/>
        </p:spPr>
        <p:txBody>
          <a:bodyPr wrap="square" lIns="0" tIns="0" rIns="0" bIns="0" rtlCol="0" anchor="ctr"/>
          <a:lstStyle/>
          <a:p>
            <a:pPr indent="0" marL="0">
              <a:buNone/>
            </a:pPr>
            <a:r>
              <a:rPr lang="en-US" sz="750" dirty="0">
                <a:solidFill>
                  <a:srgbClr val="5E5E66"/>
                </a:solidFill>
                <a:latin typeface="Arial" pitchFamily="34" charset="0"/>
                <a:ea typeface="Arial" pitchFamily="34" charset="-122"/>
                <a:cs typeface="Arial" pitchFamily="34" charset="-120"/>
              </a:rPr>
              <a:t>*synthetic evaluation, see Results</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D7002A"/>
          </a:solidFill>
          <a:ln w="6350">
            <a:solidFill>
              <a:srgbClr val="D7002A"/>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Scams now happen live, on the PC screen and the call</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Every defence today acts before or after the call. Nothing guards the moment the scam happens.</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2834640" cy="749808"/>
          </a:xfrm>
          <a:prstGeom prst="roundRect">
            <a:avLst>
              <a:gd name="adj" fmla="val 9756"/>
            </a:avLst>
          </a:prstGeom>
          <a:solidFill>
            <a:srgbClr val="FFFFFF"/>
          </a:solidFill>
          <a:ln w="15875">
            <a:solidFill>
              <a:srgbClr val="D7002A"/>
            </a:solidFill>
            <a:prstDash val="solid"/>
          </a:ln>
        </p:spPr>
      </p:sp>
      <p:pic>
        <p:nvPicPr>
          <p:cNvPr id="35" name="Image 2" descr="preencoded.png">    </p:cNvPr>
          <p:cNvPicPr>
            <a:picLocks noChangeAspect="1"/>
          </p:cNvPicPr>
          <p:nvPr/>
        </p:nvPicPr>
        <p:blipFill>
          <a:blip r:embed="rId3"/>
          <a:stretch>
            <a:fillRect/>
          </a:stretch>
        </p:blipFill>
        <p:spPr>
          <a:xfrm>
            <a:off x="384048" y="1417320"/>
            <a:ext cx="384048" cy="384048"/>
          </a:xfrm>
          <a:prstGeom prst="rect">
            <a:avLst/>
          </a:prstGeom>
        </p:spPr>
      </p:pic>
      <p:sp>
        <p:nvSpPr>
          <p:cNvPr id="36" name="Text 31"/>
          <p:cNvSpPr txBox="1"/>
          <p:nvPr/>
        </p:nvSpPr>
        <p:spPr>
          <a:xfrm>
            <a:off x="841248" y="1271016"/>
            <a:ext cx="2212848" cy="676656"/>
          </a:xfrm>
          <a:prstGeom prst="rect">
            <a:avLst/>
          </a:prstGeom>
          <a:noFill/>
          <a:ln/>
        </p:spPr>
        <p:txBody>
          <a:bodyPr wrap="square" lIns="0" tIns="0" rIns="0" bIns="0" rtlCol="0" anchor="ctr"/>
          <a:lstStyle/>
          <a:p>
            <a:pPr indent="0" marL="0">
              <a:buNone/>
            </a:pPr>
            <a:r>
              <a:rPr lang="en-US" sz="1800" b="1" dirty="0">
                <a:solidFill>
                  <a:srgbClr val="D7002A"/>
                </a:solidFill>
                <a:latin typeface="Arial" pitchFamily="34" charset="0"/>
                <a:ea typeface="Arial" pitchFamily="34" charset="-122"/>
                <a:cs typeface="Arial" pitchFamily="34" charset="-120"/>
              </a:rPr>
              <a:t>₹22,845 cr</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lost to cyber fraud in 2024, up 206% vs 2023 (MHA)</a:t>
            </a:r>
            <a:endParaRPr lang="en-US" sz="1800" dirty="0"/>
          </a:p>
        </p:txBody>
      </p:sp>
      <p:sp>
        <p:nvSpPr>
          <p:cNvPr id="37" name="Shape 32"/>
          <p:cNvSpPr/>
          <p:nvPr/>
        </p:nvSpPr>
        <p:spPr>
          <a:xfrm>
            <a:off x="3200400" y="1234440"/>
            <a:ext cx="2834640" cy="749808"/>
          </a:xfrm>
          <a:prstGeom prst="roundRect">
            <a:avLst>
              <a:gd name="adj" fmla="val 9756"/>
            </a:avLst>
          </a:prstGeom>
          <a:solidFill>
            <a:srgbClr val="FFFFFF"/>
          </a:solidFill>
          <a:ln w="15875">
            <a:solidFill>
              <a:srgbClr val="D7002A"/>
            </a:solidFill>
            <a:prstDash val="solid"/>
          </a:ln>
        </p:spPr>
      </p:sp>
      <p:pic>
        <p:nvPicPr>
          <p:cNvPr id="38" name="Image 3" descr="preencoded.png">    </p:cNvPr>
          <p:cNvPicPr>
            <a:picLocks noChangeAspect="1"/>
          </p:cNvPicPr>
          <p:nvPr/>
        </p:nvPicPr>
        <p:blipFill>
          <a:blip r:embed="rId4"/>
          <a:stretch>
            <a:fillRect/>
          </a:stretch>
        </p:blipFill>
        <p:spPr>
          <a:xfrm>
            <a:off x="3310128" y="1417320"/>
            <a:ext cx="384048" cy="384048"/>
          </a:xfrm>
          <a:prstGeom prst="rect">
            <a:avLst/>
          </a:prstGeom>
        </p:spPr>
      </p:pic>
      <p:sp>
        <p:nvSpPr>
          <p:cNvPr id="39" name="Text 33"/>
          <p:cNvSpPr txBox="1"/>
          <p:nvPr/>
        </p:nvSpPr>
        <p:spPr>
          <a:xfrm>
            <a:off x="3767328" y="1271016"/>
            <a:ext cx="2212848" cy="676656"/>
          </a:xfrm>
          <a:prstGeom prst="rect">
            <a:avLst/>
          </a:prstGeom>
          <a:noFill/>
          <a:ln/>
        </p:spPr>
        <p:txBody>
          <a:bodyPr wrap="square" lIns="0" tIns="0" rIns="0" bIns="0" rtlCol="0" anchor="ctr"/>
          <a:lstStyle/>
          <a:p>
            <a:pPr indent="0" marL="0">
              <a:buNone/>
            </a:pPr>
            <a:r>
              <a:rPr lang="en-US" sz="1800" b="1" dirty="0">
                <a:solidFill>
                  <a:srgbClr val="D7002A"/>
                </a:solidFill>
                <a:latin typeface="Arial" pitchFamily="34" charset="0"/>
                <a:ea typeface="Arial" pitchFamily="34" charset="-122"/>
                <a:cs typeface="Arial" pitchFamily="34" charset="-120"/>
              </a:rPr>
              <a:t>1,23,672</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digital-arrest cases in 2024, ₹1,918 cr lost (I4C)</a:t>
            </a:r>
            <a:endParaRPr lang="en-US" sz="1800" dirty="0"/>
          </a:p>
        </p:txBody>
      </p:sp>
      <p:sp>
        <p:nvSpPr>
          <p:cNvPr id="40" name="Shape 34"/>
          <p:cNvSpPr/>
          <p:nvPr/>
        </p:nvSpPr>
        <p:spPr>
          <a:xfrm>
            <a:off x="6126480" y="1234440"/>
            <a:ext cx="2834640" cy="749808"/>
          </a:xfrm>
          <a:prstGeom prst="roundRect">
            <a:avLst>
              <a:gd name="adj" fmla="val 9756"/>
            </a:avLst>
          </a:prstGeom>
          <a:solidFill>
            <a:srgbClr val="FFFFFF"/>
          </a:solidFill>
          <a:ln w="15875">
            <a:solidFill>
              <a:srgbClr val="D7002A"/>
            </a:solidFill>
            <a:prstDash val="solid"/>
          </a:ln>
        </p:spPr>
      </p:sp>
      <p:pic>
        <p:nvPicPr>
          <p:cNvPr id="41" name="Image 4" descr="preencoded.png">    </p:cNvPr>
          <p:cNvPicPr>
            <a:picLocks noChangeAspect="1"/>
          </p:cNvPicPr>
          <p:nvPr/>
        </p:nvPicPr>
        <p:blipFill>
          <a:blip r:embed="rId5"/>
          <a:stretch>
            <a:fillRect/>
          </a:stretch>
        </p:blipFill>
        <p:spPr>
          <a:xfrm>
            <a:off x="6236208" y="1417320"/>
            <a:ext cx="384048" cy="384048"/>
          </a:xfrm>
          <a:prstGeom prst="rect">
            <a:avLst/>
          </a:prstGeom>
        </p:spPr>
      </p:pic>
      <p:sp>
        <p:nvSpPr>
          <p:cNvPr id="42" name="Text 35"/>
          <p:cNvSpPr txBox="1"/>
          <p:nvPr/>
        </p:nvSpPr>
        <p:spPr>
          <a:xfrm>
            <a:off x="6693408" y="1271016"/>
            <a:ext cx="2212848" cy="676656"/>
          </a:xfrm>
          <a:prstGeom prst="rect">
            <a:avLst/>
          </a:prstGeom>
          <a:noFill/>
          <a:ln/>
        </p:spPr>
        <p:txBody>
          <a:bodyPr wrap="square" lIns="0" tIns="0" rIns="0" bIns="0" rtlCol="0" anchor="ctr"/>
          <a:lstStyle/>
          <a:p>
            <a:pPr indent="0" marL="0">
              <a:buNone/>
            </a:pPr>
            <a:r>
              <a:rPr lang="en-US" sz="1800" b="1" dirty="0">
                <a:solidFill>
                  <a:srgbClr val="D7002A"/>
                </a:solidFill>
                <a:latin typeface="Arial" pitchFamily="34" charset="0"/>
                <a:ea typeface="Arial" pitchFamily="34" charset="-122"/>
                <a:cs typeface="Arial" pitchFamily="34" charset="-120"/>
              </a:rPr>
              <a:t>7 in 10</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Indians met a tech-support scam in a year, highest globally (Microsoft)</a:t>
            </a:r>
            <a:endParaRPr lang="en-US" sz="1800" dirty="0"/>
          </a:p>
        </p:txBody>
      </p:sp>
      <p:sp>
        <p:nvSpPr>
          <p:cNvPr id="43" name="Shape 36"/>
          <p:cNvSpPr/>
          <p:nvPr/>
        </p:nvSpPr>
        <p:spPr>
          <a:xfrm>
            <a:off x="9052560" y="1234440"/>
            <a:ext cx="2862072" cy="749808"/>
          </a:xfrm>
          <a:prstGeom prst="roundRect">
            <a:avLst>
              <a:gd name="adj" fmla="val 9756"/>
            </a:avLst>
          </a:prstGeom>
          <a:solidFill>
            <a:srgbClr val="FFFFFF"/>
          </a:solidFill>
          <a:ln w="15875">
            <a:solidFill>
              <a:srgbClr val="D7002A"/>
            </a:solidFill>
            <a:prstDash val="solid"/>
          </a:ln>
        </p:spPr>
      </p:sp>
      <p:pic>
        <p:nvPicPr>
          <p:cNvPr id="44" name="Image 5" descr="preencoded.png">    </p:cNvPr>
          <p:cNvPicPr>
            <a:picLocks noChangeAspect="1"/>
          </p:cNvPicPr>
          <p:nvPr/>
        </p:nvPicPr>
        <p:blipFill>
          <a:blip r:embed="rId6"/>
          <a:stretch>
            <a:fillRect/>
          </a:stretch>
        </p:blipFill>
        <p:spPr>
          <a:xfrm>
            <a:off x="9162288" y="1417320"/>
            <a:ext cx="384048" cy="384048"/>
          </a:xfrm>
          <a:prstGeom prst="rect">
            <a:avLst/>
          </a:prstGeom>
        </p:spPr>
      </p:pic>
      <p:sp>
        <p:nvSpPr>
          <p:cNvPr id="45" name="Text 37"/>
          <p:cNvSpPr txBox="1"/>
          <p:nvPr/>
        </p:nvSpPr>
        <p:spPr>
          <a:xfrm>
            <a:off x="9619488" y="1271016"/>
            <a:ext cx="2240280" cy="676656"/>
          </a:xfrm>
          <a:prstGeom prst="rect">
            <a:avLst/>
          </a:prstGeom>
          <a:noFill/>
          <a:ln/>
        </p:spPr>
        <p:txBody>
          <a:bodyPr wrap="square" lIns="0" tIns="0" rIns="0" bIns="0" rtlCol="0" anchor="ctr"/>
          <a:lstStyle/>
          <a:p>
            <a:pPr indent="0" marL="0">
              <a:buNone/>
            </a:pPr>
            <a:r>
              <a:rPr lang="en-US" sz="1800" b="1" dirty="0">
                <a:solidFill>
                  <a:srgbClr val="D7002A"/>
                </a:solidFill>
                <a:latin typeface="Arial" pitchFamily="34" charset="0"/>
                <a:ea typeface="Arial" pitchFamily="34" charset="-122"/>
                <a:cs typeface="Arial" pitchFamily="34" charset="-120"/>
              </a:rPr>
              <a:t>47%</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of Indians faced or know an AI voice-clone scam (McAfee)</a:t>
            </a:r>
            <a:endParaRPr lang="en-US" sz="1800" dirty="0"/>
          </a:p>
        </p:txBody>
      </p:sp>
      <p:sp>
        <p:nvSpPr>
          <p:cNvPr id="46" name="Shape 38"/>
          <p:cNvSpPr/>
          <p:nvPr/>
        </p:nvSpPr>
        <p:spPr>
          <a:xfrm>
            <a:off x="274320" y="2148840"/>
            <a:ext cx="4343400" cy="2926080"/>
          </a:xfrm>
          <a:prstGeom prst="roundRect">
            <a:avLst>
              <a:gd name="adj" fmla="val 2500"/>
            </a:avLst>
          </a:prstGeom>
          <a:solidFill>
            <a:srgbClr val="FFFFFF"/>
          </a:solidFill>
          <a:ln w="9525">
            <a:solidFill>
              <a:srgbClr val="E3DCD1"/>
            </a:solidFill>
            <a:prstDash val="solid"/>
          </a:ln>
        </p:spPr>
      </p:sp>
      <p:sp>
        <p:nvSpPr>
          <p:cNvPr id="47" name="Shape 39"/>
          <p:cNvSpPr/>
          <p:nvPr/>
        </p:nvSpPr>
        <p:spPr>
          <a:xfrm>
            <a:off x="365760" y="2221992"/>
            <a:ext cx="4160520" cy="274320"/>
          </a:xfrm>
          <a:prstGeom prst="roundRect">
            <a:avLst>
              <a:gd name="adj" fmla="val 16667"/>
            </a:avLst>
          </a:prstGeom>
          <a:solidFill>
            <a:srgbClr val="121217"/>
          </a:solidFill>
          <a:ln w="12700">
            <a:solidFill>
              <a:srgbClr val="121217"/>
            </a:solidFill>
            <a:prstDash val="solid"/>
          </a:ln>
        </p:spPr>
      </p:sp>
      <p:sp>
        <p:nvSpPr>
          <p:cNvPr id="48" name="Text 40"/>
          <p:cNvSpPr txBox="1"/>
          <p:nvPr/>
        </p:nvSpPr>
        <p:spPr>
          <a:xfrm>
            <a:off x="365760" y="2221992"/>
            <a:ext cx="4160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Digital-arrest scams: cases fell, loss per case more than doubled</a:t>
            </a:r>
            <a:endParaRPr lang="en-US" sz="1000" dirty="0"/>
          </a:p>
        </p:txBody>
      </p:sp>
      <p:graphicFrame>
        <p:nvGraphicFramePr>
          <p:cNvPr id="49" name="Chart 0" descr=""/>
          <p:cNvGraphicFramePr/>
          <p:nvPr/>
        </p:nvGraphicFramePr>
        <p:xfrm>
          <a:off x="365760" y="2560320"/>
          <a:ext cx="4160520" cy="1536192"/>
        </p:xfrm>
        <a:graphic xmlns:a="http://schemas.openxmlformats.org/drawingml/2006/main">
          <a:graphicData uri="http://schemas.openxmlformats.org/drawingml/2006/chart">
            <c:chart xmlns:c="http://schemas.openxmlformats.org/drawingml/2006/chart" r:id="rId7"/>
          </a:graphicData>
        </a:graphic>
      </p:graphicFrame>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4069080"/>
          <a:ext cx="4069080" cy="914400"/>
        </p:xfrm>
        <a:graphic>
          <a:graphicData uri="http://schemas.openxmlformats.org/drawingml/2006/table">
            <a:tbl>
              <a:tblPr/>
              <a:tblGrid>
                <a:gridCol w="1508760"/>
                <a:gridCol w="640080"/>
                <a:gridCol w="640080"/>
                <a:gridCol w="640080"/>
                <a:gridCol w="640080"/>
              </a:tblGrid>
              <a:tr h="173736">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Year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2022</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2023</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2024</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2025</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173736">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Loss (₹ crore)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91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339</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1,918</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644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173736">
                <a:tc>
                  <a:txBody>
                    <a:bodyPr/>
                    <a:lstStyle/>
                    <a:p>
                      <a:pPr algn="l" indent="0" marL="0">
                        <a:buNone/>
                      </a:pPr>
                      <a:r>
                        <a:rPr lang="en-US" sz="750" b="1" dirty="0">
                          <a:solidFill>
                            <a:srgbClr val="D7002A"/>
                          </a:solidFill>
                          <a:latin typeface="Arial" pitchFamily="34" charset="0"/>
                          <a:ea typeface="Arial" pitchFamily="34" charset="-122"/>
                          <a:cs typeface="Arial" pitchFamily="34" charset="-120"/>
                        </a:rPr>
                        <a:t>Avg loss / case (₹ lakh)</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2.28</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5.59</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1.55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3.73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bl>
          </a:graphicData>
        </a:graphic>
      </p:graphicFrame>
      <p:sp>
        <p:nvSpPr>
          <p:cNvPr id="51" name="Text 41"/>
          <p:cNvSpPr txBox="1"/>
          <p:nvPr/>
        </p:nvSpPr>
        <p:spPr>
          <a:xfrm>
            <a:off x="365760" y="4645152"/>
            <a:ext cx="4160520" cy="411480"/>
          </a:xfrm>
          <a:prstGeom prst="rect">
            <a:avLst/>
          </a:prstGeom>
          <a:noFill/>
          <a:ln/>
        </p:spPr>
        <p:txBody>
          <a:bodyPr wrap="square" lIns="508" tIns="508" rIns="508" bIns="508" rtlCol="0" anchor="t"/>
          <a:lstStyle/>
          <a:p>
            <a:pPr algn="l" indent="0" marL="0">
              <a:lnSpc>
                <a:spcPct val="100000"/>
              </a:lnSpc>
              <a:spcAft>
                <a:spcPts val="200"/>
              </a:spcAft>
              <a:buNone/>
            </a:pPr>
            <a:r>
              <a:rPr lang="en-US" sz="750" dirty="0">
                <a:solidFill>
                  <a:srgbClr val="5E5E66"/>
                </a:solidFill>
                <a:latin typeface="Arial" pitchFamily="34" charset="0"/>
                <a:ea typeface="Arial" pitchFamily="34" charset="-122"/>
                <a:cs typeface="Arial" pitchFamily="34" charset="-120"/>
              </a:rPr>
              <a:t>Awareness drives cut 2025 cases by 86%, but each remaining victim lost 2.4x more than in 2024. Warnings work; they must arrive at the moment of the call.</a:t>
            </a:r>
            <a:endParaRPr lang="en-US" sz="750" dirty="0"/>
          </a:p>
        </p:txBody>
      </p:sp>
      <p:sp>
        <p:nvSpPr>
          <p:cNvPr id="52" name="Shape 42"/>
          <p:cNvSpPr/>
          <p:nvPr/>
        </p:nvSpPr>
        <p:spPr>
          <a:xfrm>
            <a:off x="4754880" y="2148840"/>
            <a:ext cx="3566160" cy="2926080"/>
          </a:xfrm>
          <a:prstGeom prst="roundRect">
            <a:avLst>
              <a:gd name="adj" fmla="val 2500"/>
            </a:avLst>
          </a:prstGeom>
          <a:solidFill>
            <a:srgbClr val="FFFFFF"/>
          </a:solidFill>
          <a:ln w="9525">
            <a:solidFill>
              <a:srgbClr val="E3DCD1"/>
            </a:solidFill>
            <a:prstDash val="solid"/>
          </a:ln>
        </p:spPr>
      </p:sp>
      <p:sp>
        <p:nvSpPr>
          <p:cNvPr id="53" name="Shape 43"/>
          <p:cNvSpPr/>
          <p:nvPr/>
        </p:nvSpPr>
        <p:spPr>
          <a:xfrm>
            <a:off x="4754880" y="2148840"/>
            <a:ext cx="54864" cy="2926080"/>
          </a:xfrm>
          <a:prstGeom prst="rect">
            <a:avLst/>
          </a:prstGeom>
          <a:solidFill>
            <a:srgbClr val="D7002A"/>
          </a:solidFill>
          <a:ln w="12700">
            <a:solidFill>
              <a:srgbClr val="D7002A"/>
            </a:solidFill>
            <a:prstDash val="solid"/>
          </a:ln>
        </p:spPr>
      </p:sp>
      <p:sp>
        <p:nvSpPr>
          <p:cNvPr id="54" name="Shape 44"/>
          <p:cNvSpPr/>
          <p:nvPr/>
        </p:nvSpPr>
        <p:spPr>
          <a:xfrm>
            <a:off x="4892040" y="2286000"/>
            <a:ext cx="365760" cy="365760"/>
          </a:xfrm>
          <a:prstGeom prst="ellipse">
            <a:avLst/>
          </a:prstGeom>
          <a:solidFill>
            <a:srgbClr val="2A2A33"/>
          </a:solidFill>
          <a:ln w="12700">
            <a:solidFill>
              <a:srgbClr val="2A2A33"/>
            </a:solidFill>
            <a:prstDash val="solid"/>
          </a:ln>
        </p:spPr>
      </p:sp>
      <p:pic>
        <p:nvPicPr>
          <p:cNvPr id="55" name="Image 6" descr="preencoded.png">    </p:cNvPr>
          <p:cNvPicPr>
            <a:picLocks noChangeAspect="1"/>
          </p:cNvPicPr>
          <p:nvPr/>
        </p:nvPicPr>
        <p:blipFill>
          <a:blip r:embed="rId8"/>
          <a:stretch>
            <a:fillRect/>
          </a:stretch>
        </p:blipFill>
        <p:spPr>
          <a:xfrm>
            <a:off x="4972507" y="2366467"/>
            <a:ext cx="204826" cy="204826"/>
          </a:xfrm>
          <a:prstGeom prst="rect">
            <a:avLst/>
          </a:prstGeom>
        </p:spPr>
      </p:pic>
      <p:sp>
        <p:nvSpPr>
          <p:cNvPr id="56" name="Text 45"/>
          <p:cNvSpPr txBox="1"/>
          <p:nvPr/>
        </p:nvSpPr>
        <p:spPr>
          <a:xfrm>
            <a:off x="5321808" y="2258568"/>
            <a:ext cx="2926080" cy="43891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Contact  </a:t>
            </a:r>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WhatsApp / Skype video call, or a full-screen browser pop-up</a:t>
            </a:r>
            <a:endParaRPr lang="en-US" sz="800" dirty="0"/>
          </a:p>
        </p:txBody>
      </p:sp>
      <p:sp>
        <p:nvSpPr>
          <p:cNvPr id="57" name="Text 46"/>
          <p:cNvSpPr txBox="1"/>
          <p:nvPr/>
        </p:nvSpPr>
        <p:spPr>
          <a:xfrm>
            <a:off x="7223760" y="2176272"/>
            <a:ext cx="1051560" cy="182880"/>
          </a:xfrm>
          <a:prstGeom prst="rect">
            <a:avLst/>
          </a:prstGeom>
          <a:noFill/>
          <a:ln/>
        </p:spPr>
        <p:txBody>
          <a:bodyPr wrap="square" lIns="508" tIns="508" rIns="508" bIns="508" rtlCol="0" anchor="t"/>
          <a:lstStyle/>
          <a:p>
            <a:pPr algn="r" indent="0" marL="0">
              <a:lnSpc>
                <a:spcPct val="100000"/>
              </a:lnSpc>
              <a:spcAft>
                <a:spcPts val="200"/>
              </a:spcAft>
              <a:buNone/>
            </a:pPr>
            <a:r>
              <a:rPr lang="en-US" sz="700" b="1" dirty="0">
                <a:solidFill>
                  <a:srgbClr val="D7002A"/>
                </a:solidFill>
                <a:latin typeface="Arial" pitchFamily="34" charset="0"/>
                <a:ea typeface="Arial" pitchFamily="34" charset="-122"/>
                <a:cs typeface="Arial" pitchFamily="34" charset="-120"/>
              </a:rPr>
              <a:t>THE KILL CHAIN</a:t>
            </a:r>
            <a:endParaRPr lang="en-US" sz="700" dirty="0"/>
          </a:p>
        </p:txBody>
      </p:sp>
      <p:sp>
        <p:nvSpPr>
          <p:cNvPr id="58" name="Shape 47"/>
          <p:cNvSpPr/>
          <p:nvPr/>
        </p:nvSpPr>
        <p:spPr>
          <a:xfrm>
            <a:off x="4892040" y="2743200"/>
            <a:ext cx="365760" cy="365760"/>
          </a:xfrm>
          <a:prstGeom prst="ellipse">
            <a:avLst/>
          </a:prstGeom>
          <a:solidFill>
            <a:srgbClr val="2A2A33"/>
          </a:solidFill>
          <a:ln w="12700">
            <a:solidFill>
              <a:srgbClr val="2A2A33"/>
            </a:solidFill>
            <a:prstDash val="solid"/>
          </a:ln>
        </p:spPr>
      </p:sp>
      <p:pic>
        <p:nvPicPr>
          <p:cNvPr id="59" name="Image 7" descr="preencoded.png">    </p:cNvPr>
          <p:cNvPicPr>
            <a:picLocks noChangeAspect="1"/>
          </p:cNvPicPr>
          <p:nvPr/>
        </p:nvPicPr>
        <p:blipFill>
          <a:blip r:embed="rId9"/>
          <a:stretch>
            <a:fillRect/>
          </a:stretch>
        </p:blipFill>
        <p:spPr>
          <a:xfrm>
            <a:off x="4972507" y="2823667"/>
            <a:ext cx="204826" cy="204826"/>
          </a:xfrm>
          <a:prstGeom prst="rect">
            <a:avLst/>
          </a:prstGeom>
        </p:spPr>
      </p:pic>
      <p:sp>
        <p:nvSpPr>
          <p:cNvPr id="60" name="Text 48"/>
          <p:cNvSpPr txBox="1"/>
          <p:nvPr/>
        </p:nvSpPr>
        <p:spPr>
          <a:xfrm>
            <a:off x="5321808" y="2715768"/>
            <a:ext cx="2926080" cy="43891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Authority  </a:t>
            </a:r>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'CBI', 'Mumbai Police', 'Microsoft support', fake warrant on screen</a:t>
            </a:r>
            <a:endParaRPr lang="en-US" sz="800" dirty="0"/>
          </a:p>
        </p:txBody>
      </p:sp>
      <p:sp>
        <p:nvSpPr>
          <p:cNvPr id="61" name="Shape 49"/>
          <p:cNvSpPr/>
          <p:nvPr/>
        </p:nvSpPr>
        <p:spPr>
          <a:xfrm>
            <a:off x="4892040" y="3200400"/>
            <a:ext cx="365760" cy="365760"/>
          </a:xfrm>
          <a:prstGeom prst="ellipse">
            <a:avLst/>
          </a:prstGeom>
          <a:solidFill>
            <a:srgbClr val="2A2A33"/>
          </a:solidFill>
          <a:ln w="12700">
            <a:solidFill>
              <a:srgbClr val="2A2A33"/>
            </a:solidFill>
            <a:prstDash val="solid"/>
          </a:ln>
        </p:spPr>
      </p:sp>
      <p:pic>
        <p:nvPicPr>
          <p:cNvPr id="62" name="Image 8" descr="preencoded.png">    </p:cNvPr>
          <p:cNvPicPr>
            <a:picLocks noChangeAspect="1"/>
          </p:cNvPicPr>
          <p:nvPr/>
        </p:nvPicPr>
        <p:blipFill>
          <a:blip r:embed="rId10"/>
          <a:stretch>
            <a:fillRect/>
          </a:stretch>
        </p:blipFill>
        <p:spPr>
          <a:xfrm>
            <a:off x="4972507" y="3280867"/>
            <a:ext cx="204826" cy="204826"/>
          </a:xfrm>
          <a:prstGeom prst="rect">
            <a:avLst/>
          </a:prstGeom>
        </p:spPr>
      </p:pic>
      <p:sp>
        <p:nvSpPr>
          <p:cNvPr id="63" name="Text 50"/>
          <p:cNvSpPr txBox="1"/>
          <p:nvPr/>
        </p:nvSpPr>
        <p:spPr>
          <a:xfrm>
            <a:off x="5321808" y="3172968"/>
            <a:ext cx="2926080" cy="43891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Fear  </a:t>
            </a:r>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Drugs in your parcel, Aadhaar misused, PC infected, arrest warrant</a:t>
            </a:r>
            <a:endParaRPr lang="en-US" sz="800" dirty="0"/>
          </a:p>
        </p:txBody>
      </p:sp>
      <p:sp>
        <p:nvSpPr>
          <p:cNvPr id="64" name="Shape 51"/>
          <p:cNvSpPr/>
          <p:nvPr/>
        </p:nvSpPr>
        <p:spPr>
          <a:xfrm>
            <a:off x="4892040" y="3657600"/>
            <a:ext cx="365760" cy="365760"/>
          </a:xfrm>
          <a:prstGeom prst="ellipse">
            <a:avLst/>
          </a:prstGeom>
          <a:solidFill>
            <a:srgbClr val="D7002A"/>
          </a:solidFill>
          <a:ln w="12700">
            <a:solidFill>
              <a:srgbClr val="D7002A"/>
            </a:solidFill>
            <a:prstDash val="solid"/>
          </a:ln>
        </p:spPr>
      </p:sp>
      <p:pic>
        <p:nvPicPr>
          <p:cNvPr id="65" name="Image 9" descr="preencoded.png">    </p:cNvPr>
          <p:cNvPicPr>
            <a:picLocks noChangeAspect="1"/>
          </p:cNvPicPr>
          <p:nvPr/>
        </p:nvPicPr>
        <p:blipFill>
          <a:blip r:embed="rId11"/>
          <a:stretch>
            <a:fillRect/>
          </a:stretch>
        </p:blipFill>
        <p:spPr>
          <a:xfrm>
            <a:off x="4972507" y="3738067"/>
            <a:ext cx="204826" cy="204826"/>
          </a:xfrm>
          <a:prstGeom prst="rect">
            <a:avLst/>
          </a:prstGeom>
        </p:spPr>
      </p:pic>
      <p:sp>
        <p:nvSpPr>
          <p:cNvPr id="66" name="Text 52"/>
          <p:cNvSpPr txBox="1"/>
          <p:nvPr/>
        </p:nvSpPr>
        <p:spPr>
          <a:xfrm>
            <a:off x="5321808" y="3630168"/>
            <a:ext cx="2926080" cy="43891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D7002A"/>
                </a:solidFill>
                <a:latin typeface="Arial" pitchFamily="34" charset="0"/>
                <a:ea typeface="Arial" pitchFamily="34" charset="-122"/>
                <a:cs typeface="Arial" pitchFamily="34" charset="-120"/>
              </a:rPr>
              <a:t>Isolation  </a:t>
            </a:r>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Stay on camera, do not tell anyone, do not disconnect</a:t>
            </a:r>
            <a:endParaRPr lang="en-US" sz="800" dirty="0"/>
          </a:p>
        </p:txBody>
      </p:sp>
      <p:sp>
        <p:nvSpPr>
          <p:cNvPr id="67" name="Shape 53"/>
          <p:cNvSpPr/>
          <p:nvPr/>
        </p:nvSpPr>
        <p:spPr>
          <a:xfrm>
            <a:off x="4892040" y="4114800"/>
            <a:ext cx="365760" cy="365760"/>
          </a:xfrm>
          <a:prstGeom prst="ellipse">
            <a:avLst/>
          </a:prstGeom>
          <a:solidFill>
            <a:srgbClr val="D7002A"/>
          </a:solidFill>
          <a:ln w="12700">
            <a:solidFill>
              <a:srgbClr val="D7002A"/>
            </a:solidFill>
            <a:prstDash val="solid"/>
          </a:ln>
        </p:spPr>
      </p:sp>
      <p:pic>
        <p:nvPicPr>
          <p:cNvPr id="68" name="Image 10" descr="preencoded.png">    </p:cNvPr>
          <p:cNvPicPr>
            <a:picLocks noChangeAspect="1"/>
          </p:cNvPicPr>
          <p:nvPr/>
        </p:nvPicPr>
        <p:blipFill>
          <a:blip r:embed="rId12"/>
          <a:stretch>
            <a:fillRect/>
          </a:stretch>
        </p:blipFill>
        <p:spPr>
          <a:xfrm>
            <a:off x="4972507" y="4195267"/>
            <a:ext cx="204826" cy="204826"/>
          </a:xfrm>
          <a:prstGeom prst="rect">
            <a:avLst/>
          </a:prstGeom>
        </p:spPr>
      </p:pic>
      <p:sp>
        <p:nvSpPr>
          <p:cNvPr id="69" name="Text 54"/>
          <p:cNvSpPr txBox="1"/>
          <p:nvPr/>
        </p:nvSpPr>
        <p:spPr>
          <a:xfrm>
            <a:off x="5321808" y="4087368"/>
            <a:ext cx="2926080" cy="43891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D7002A"/>
                </a:solidFill>
                <a:latin typeface="Arial" pitchFamily="34" charset="0"/>
                <a:ea typeface="Arial" pitchFamily="34" charset="-122"/>
                <a:cs typeface="Arial" pitchFamily="34" charset="-120"/>
              </a:rPr>
              <a:t>Control  </a:t>
            </a:r>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Install AnyDesk / TeamViewer, share screen</a:t>
            </a:r>
            <a:endParaRPr lang="en-US" sz="800" dirty="0"/>
          </a:p>
        </p:txBody>
      </p:sp>
      <p:sp>
        <p:nvSpPr>
          <p:cNvPr id="70" name="Shape 55"/>
          <p:cNvSpPr/>
          <p:nvPr/>
        </p:nvSpPr>
        <p:spPr>
          <a:xfrm>
            <a:off x="4892040" y="4572000"/>
            <a:ext cx="365760" cy="365760"/>
          </a:xfrm>
          <a:prstGeom prst="ellipse">
            <a:avLst/>
          </a:prstGeom>
          <a:solidFill>
            <a:srgbClr val="D7002A"/>
          </a:solidFill>
          <a:ln w="12700">
            <a:solidFill>
              <a:srgbClr val="D7002A"/>
            </a:solidFill>
            <a:prstDash val="solid"/>
          </a:ln>
        </p:spPr>
      </p:sp>
      <p:pic>
        <p:nvPicPr>
          <p:cNvPr id="71" name="Image 11" descr="preencoded.png">    </p:cNvPr>
          <p:cNvPicPr>
            <a:picLocks noChangeAspect="1"/>
          </p:cNvPicPr>
          <p:nvPr/>
        </p:nvPicPr>
        <p:blipFill>
          <a:blip r:embed="rId13"/>
          <a:stretch>
            <a:fillRect/>
          </a:stretch>
        </p:blipFill>
        <p:spPr>
          <a:xfrm>
            <a:off x="4972507" y="4652467"/>
            <a:ext cx="204826" cy="204826"/>
          </a:xfrm>
          <a:prstGeom prst="rect">
            <a:avLst/>
          </a:prstGeom>
        </p:spPr>
      </p:pic>
      <p:sp>
        <p:nvSpPr>
          <p:cNvPr id="72" name="Text 56"/>
          <p:cNvSpPr txBox="1"/>
          <p:nvPr/>
        </p:nvSpPr>
        <p:spPr>
          <a:xfrm>
            <a:off x="5321808" y="4544568"/>
            <a:ext cx="2926080" cy="43891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D7002A"/>
                </a:solidFill>
                <a:latin typeface="Arial" pitchFamily="34" charset="0"/>
                <a:ea typeface="Arial" pitchFamily="34" charset="-122"/>
                <a:cs typeface="Arial" pitchFamily="34" charset="-120"/>
              </a:rPr>
              <a:t>Money  </a:t>
            </a:r>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Transfer to 'RBI safe account', read the OTP</a:t>
            </a:r>
            <a:endParaRPr lang="en-US" sz="800" dirty="0"/>
          </a:p>
        </p:txBody>
      </p:sp>
      <p:sp>
        <p:nvSpPr>
          <p:cNvPr id="73" name="Shape 57"/>
          <p:cNvSpPr/>
          <p:nvPr/>
        </p:nvSpPr>
        <p:spPr>
          <a:xfrm>
            <a:off x="8458200" y="2148840"/>
            <a:ext cx="3456432" cy="2926080"/>
          </a:xfrm>
          <a:prstGeom prst="roundRect">
            <a:avLst>
              <a:gd name="adj" fmla="val 2500"/>
            </a:avLst>
          </a:prstGeom>
          <a:solidFill>
            <a:srgbClr val="FFFFFF"/>
          </a:solidFill>
          <a:ln w="9525">
            <a:solidFill>
              <a:srgbClr val="E3DCD1"/>
            </a:solidFill>
            <a:prstDash val="solid"/>
          </a:ln>
        </p:spPr>
      </p:sp>
      <p:sp>
        <p:nvSpPr>
          <p:cNvPr id="74" name="Shape 58"/>
          <p:cNvSpPr/>
          <p:nvPr/>
        </p:nvSpPr>
        <p:spPr>
          <a:xfrm>
            <a:off x="8549640" y="2221992"/>
            <a:ext cx="3273552" cy="274320"/>
          </a:xfrm>
          <a:prstGeom prst="roundRect">
            <a:avLst>
              <a:gd name="adj" fmla="val 16667"/>
            </a:avLst>
          </a:prstGeom>
          <a:solidFill>
            <a:srgbClr val="121217"/>
          </a:solidFill>
          <a:ln w="12700">
            <a:solidFill>
              <a:srgbClr val="121217"/>
            </a:solidFill>
            <a:prstDash val="solid"/>
          </a:ln>
        </p:spPr>
      </p:sp>
      <p:sp>
        <p:nvSpPr>
          <p:cNvPr id="75" name="Text 59"/>
          <p:cNvSpPr txBox="1"/>
          <p:nvPr/>
        </p:nvSpPr>
        <p:spPr>
          <a:xfrm>
            <a:off x="8549640" y="2221992"/>
            <a:ext cx="327355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Why existing defences miss it</a:t>
            </a:r>
            <a:endParaRPr lang="en-US" sz="10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8549640" y="2560320"/>
          <a:ext cx="3273552" cy="914400"/>
        </p:xfrm>
        <a:graphic>
          <a:graphicData uri="http://schemas.openxmlformats.org/drawingml/2006/table">
            <a:tbl>
              <a:tblPr/>
              <a:tblGrid>
                <a:gridCol w="1517904"/>
                <a:gridCol w="585216"/>
                <a:gridCol w="585216"/>
                <a:gridCol w="585216"/>
              </a:tblGrid>
              <a:tr h="274320">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Defence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Before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During</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After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Awareness ads, caller tunes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Bank SMS: 'never share OTP'</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Spam caller-ID apps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Browser scareware blockers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1930 helpline, cybercrime.gov.in</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b="1" dirty="0">
                          <a:solidFill>
                            <a:srgbClr val="D7002A"/>
                          </a:solidFill>
                          <a:latin typeface="Arial" pitchFamily="34" charset="0"/>
                          <a:ea typeface="Arial" pitchFamily="34" charset="-122"/>
                          <a:cs typeface="Arial" pitchFamily="34" charset="-120"/>
                        </a:rPr>
                        <a:t>Sajag AI (on-device)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bl>
          </a:graphicData>
        </a:graphic>
      </p:graphicFrame>
      <p:sp>
        <p:nvSpPr>
          <p:cNvPr id="77" name="Text 60"/>
          <p:cNvSpPr txBox="1"/>
          <p:nvPr/>
        </p:nvSpPr>
        <p:spPr>
          <a:xfrm>
            <a:off x="8549640" y="4526280"/>
            <a:ext cx="3273552" cy="502920"/>
          </a:xfrm>
          <a:prstGeom prst="rect">
            <a:avLst/>
          </a:prstGeom>
          <a:noFill/>
          <a:ln/>
        </p:spPr>
        <p:txBody>
          <a:bodyPr wrap="square" lIns="508" tIns="508" rIns="508" bIns="508" rtlCol="0" anchor="t"/>
          <a:lstStyle/>
          <a:p>
            <a:pPr algn="l" indent="0" marL="0">
              <a:lnSpc>
                <a:spcPct val="100000"/>
              </a:lnSpc>
              <a:spcAft>
                <a:spcPts val="200"/>
              </a:spcAft>
              <a:buNone/>
            </a:pPr>
            <a:r>
              <a:rPr lang="en-US" sz="750" i="1" dirty="0">
                <a:solidFill>
                  <a:srgbClr val="5E5E66"/>
                </a:solidFill>
                <a:latin typeface="Arial" pitchFamily="34" charset="0"/>
                <a:ea typeface="Arial" pitchFamily="34" charset="-122"/>
                <a:cs typeface="Arial" pitchFamily="34" charset="-120"/>
              </a:rPr>
              <a:t>Only on-device AI can watch the screen and the call without uploading them. A cloud version would itself be a privacy risk.</a:t>
            </a:r>
            <a:endParaRPr lang="en-US" sz="750" dirty="0"/>
          </a:p>
        </p:txBody>
      </p:sp>
      <p:sp>
        <p:nvSpPr>
          <p:cNvPr id="78" name="Shape 61"/>
          <p:cNvSpPr/>
          <p:nvPr/>
        </p:nvSpPr>
        <p:spPr>
          <a:xfrm>
            <a:off x="274320" y="5212080"/>
            <a:ext cx="11640312" cy="1298448"/>
          </a:xfrm>
          <a:prstGeom prst="roundRect">
            <a:avLst>
              <a:gd name="adj" fmla="val 5634"/>
            </a:avLst>
          </a:prstGeom>
          <a:solidFill>
            <a:srgbClr val="FFFFFF"/>
          </a:solidFill>
          <a:ln w="9525">
            <a:solidFill>
              <a:srgbClr val="E3DCD1"/>
            </a:solidFill>
            <a:prstDash val="solid"/>
          </a:ln>
        </p:spPr>
      </p:sp>
      <p:pic>
        <p:nvPicPr>
          <p:cNvPr id="79" name="Image 12" descr="preencoded.png">    </p:cNvPr>
          <p:cNvPicPr>
            <a:picLocks noChangeAspect="1"/>
          </p:cNvPicPr>
          <p:nvPr/>
        </p:nvPicPr>
        <p:blipFill>
          <a:blip r:embed="rId14"/>
          <a:stretch>
            <a:fillRect/>
          </a:stretch>
        </p:blipFill>
        <p:spPr>
          <a:xfrm>
            <a:off x="411480" y="5376672"/>
            <a:ext cx="566928" cy="566928"/>
          </a:xfrm>
          <a:prstGeom prst="rect">
            <a:avLst/>
          </a:prstGeom>
        </p:spPr>
      </p:pic>
      <p:sp>
        <p:nvSpPr>
          <p:cNvPr id="80" name="Text 62"/>
          <p:cNvSpPr txBox="1"/>
          <p:nvPr/>
        </p:nvSpPr>
        <p:spPr>
          <a:xfrm>
            <a:off x="1097280" y="5303520"/>
            <a:ext cx="7498080" cy="1097280"/>
          </a:xfrm>
          <a:prstGeom prst="rect">
            <a:avLst/>
          </a:prstGeom>
          <a:noFill/>
          <a:ln/>
        </p:spPr>
        <p:txBody>
          <a:bodyPr wrap="square" lIns="508" tIns="508" rIns="508" bIns="508" rtlCol="0" anchor="ctr"/>
          <a:lstStyle/>
          <a:p>
            <a:pPr algn="l" indent="0" marL="0">
              <a:lnSpc>
                <a:spcPct val="100000"/>
              </a:lnSpc>
              <a:spcAft>
                <a:spcPts val="200"/>
              </a:spcAft>
              <a:buNone/>
            </a:pPr>
            <a:r>
              <a:rPr lang="en-US" sz="1000" b="1" dirty="0">
                <a:solidFill>
                  <a:srgbClr val="D7002A"/>
                </a:solidFill>
                <a:latin typeface="Arial" pitchFamily="34" charset="0"/>
                <a:ea typeface="Arial" pitchFamily="34" charset="-122"/>
                <a:cs typeface="Arial" pitchFamily="34" charset="-120"/>
              </a:rPr>
              <a:t>Problem statement:  </a:t>
            </a:r>
            <a:pPr algn="l" indent="0" marL="0">
              <a:lnSpc>
                <a:spcPct val="100000"/>
              </a:lnSpc>
              <a:spcAft>
                <a:spcPts val="200"/>
              </a:spcAft>
              <a:buNone/>
            </a:pPr>
            <a:r>
              <a:rPr lang="en-US" sz="1000" dirty="0">
                <a:solidFill>
                  <a:srgbClr val="1C1C22"/>
                </a:solidFill>
                <a:latin typeface="Arial" pitchFamily="34" charset="0"/>
                <a:ea typeface="Arial" pitchFamily="34" charset="-122"/>
                <a:cs typeface="Arial" pitchFamily="34" charset="-120"/>
              </a:rPr>
              <a:t>Indians are being defrauded live on their own PCs by scammers who impersonate police, banks and tech support in Hindi, English and Hinglish. The victim sees and hears every signal, but under fear and isolation cannot act on it. </a:t>
            </a:r>
            <a:pPr algn="l" indent="0" marL="0">
              <a:lnSpc>
                <a:spcPct val="100000"/>
              </a:lnSpc>
              <a:spcAft>
                <a:spcPts val="200"/>
              </a:spcAft>
              <a:buNone/>
            </a:pPr>
            <a:r>
              <a:rPr lang="en-US" sz="1000" b="1" dirty="0">
                <a:solidFill>
                  <a:srgbClr val="1C1C22"/>
                </a:solidFill>
                <a:latin typeface="Arial" pitchFamily="34" charset="0"/>
                <a:ea typeface="Arial" pitchFamily="34" charset="-122"/>
                <a:cs typeface="Arial" pitchFamily="34" charset="-120"/>
              </a:rPr>
              <a:t>We need a guardian that understands the call and the screen together, in Indian languages, in real time, and without the data ever leaving the device.</a:t>
            </a:r>
            <a:endParaRPr lang="en-US" sz="1000" dirty="0"/>
          </a:p>
        </p:txBody>
      </p:sp>
      <p:sp>
        <p:nvSpPr>
          <p:cNvPr id="81" name="Shape 63"/>
          <p:cNvSpPr/>
          <p:nvPr/>
        </p:nvSpPr>
        <p:spPr>
          <a:xfrm>
            <a:off x="8732520" y="5349240"/>
            <a:ext cx="3063240" cy="1005840"/>
          </a:xfrm>
          <a:prstGeom prst="roundRect">
            <a:avLst>
              <a:gd name="adj" fmla="val 7273"/>
            </a:avLst>
          </a:prstGeom>
          <a:solidFill>
            <a:srgbClr val="FFFFFF"/>
          </a:solidFill>
          <a:ln w="15875">
            <a:solidFill>
              <a:srgbClr val="3253DC"/>
            </a:solidFill>
            <a:prstDash val="solid"/>
          </a:ln>
        </p:spPr>
      </p:sp>
      <p:sp>
        <p:nvSpPr>
          <p:cNvPr id="82" name="Text 64"/>
          <p:cNvSpPr txBox="1"/>
          <p:nvPr/>
        </p:nvSpPr>
        <p:spPr>
          <a:xfrm>
            <a:off x="8823960" y="5385816"/>
            <a:ext cx="2916936" cy="932688"/>
          </a:xfrm>
          <a:prstGeom prst="rect">
            <a:avLst/>
          </a:prstGeom>
          <a:noFill/>
          <a:ln/>
        </p:spPr>
        <p:txBody>
          <a:bodyPr wrap="square" lIns="0" tIns="0" rIns="0" bIns="0" rtlCol="0" anchor="ctr"/>
          <a:lstStyle/>
          <a:p>
            <a:pPr indent="0" marL="0">
              <a:buNone/>
            </a:pPr>
            <a:r>
              <a:rPr lang="en-US" sz="1800" b="1" dirty="0">
                <a:solidFill>
                  <a:srgbClr val="3253DC"/>
                </a:solidFill>
                <a:latin typeface="Arial" pitchFamily="34" charset="0"/>
                <a:ea typeface="Arial" pitchFamily="34" charset="-122"/>
                <a:cs typeface="Arial" pitchFamily="34" charset="-120"/>
              </a:rPr>
              <a:t>15.9 M PCs</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shipped in India in 2025, a record; HP leads the market (IDC)</a:t>
            </a:r>
            <a:endParaRPr lang="en-US" sz="1800" dirty="0"/>
          </a:p>
        </p:txBody>
      </p:sp>
      <p:sp>
        <p:nvSpPr>
          <p:cNvPr id="83" name="Text 65"/>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D7002A"/>
          </a:solidFill>
          <a:ln w="6350">
            <a:solidFill>
              <a:srgbClr val="D7002A"/>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Who gets scammed on a PC, and what each of them needs</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Personas built from MHA, I4C, RBI advisories and reported cases</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2788920" cy="3246120"/>
          </a:xfrm>
          <a:prstGeom prst="roundRect">
            <a:avLst>
              <a:gd name="adj" fmla="val 2623"/>
            </a:avLst>
          </a:prstGeom>
          <a:solidFill>
            <a:srgbClr val="FFFFFF"/>
          </a:solidFill>
          <a:ln w="9525">
            <a:solidFill>
              <a:srgbClr val="E3DCD1"/>
            </a:solidFill>
            <a:prstDash val="solid"/>
          </a:ln>
        </p:spPr>
      </p:sp>
      <p:sp>
        <p:nvSpPr>
          <p:cNvPr id="35" name="Shape 31"/>
          <p:cNvSpPr/>
          <p:nvPr/>
        </p:nvSpPr>
        <p:spPr>
          <a:xfrm>
            <a:off x="411480" y="1353312"/>
            <a:ext cx="566928" cy="566928"/>
          </a:xfrm>
          <a:prstGeom prst="ellipse">
            <a:avLst/>
          </a:prstGeom>
          <a:solidFill>
            <a:srgbClr val="D7002A"/>
          </a:solidFill>
          <a:ln w="12700">
            <a:solidFill>
              <a:srgbClr val="D7002A"/>
            </a:solidFill>
            <a:prstDash val="solid"/>
          </a:ln>
        </p:spPr>
      </p:sp>
      <p:pic>
        <p:nvPicPr>
          <p:cNvPr id="36" name="Image 2" descr="preencoded.png">    </p:cNvPr>
          <p:cNvPicPr>
            <a:picLocks noChangeAspect="1"/>
          </p:cNvPicPr>
          <p:nvPr/>
        </p:nvPicPr>
        <p:blipFill>
          <a:blip r:embed="rId3"/>
          <a:stretch>
            <a:fillRect/>
          </a:stretch>
        </p:blipFill>
        <p:spPr>
          <a:xfrm>
            <a:off x="536204" y="1478036"/>
            <a:ext cx="317480" cy="317480"/>
          </a:xfrm>
          <a:prstGeom prst="rect">
            <a:avLst/>
          </a:prstGeom>
        </p:spPr>
      </p:pic>
      <p:sp>
        <p:nvSpPr>
          <p:cNvPr id="37" name="Text 32"/>
          <p:cNvSpPr txBox="1"/>
          <p:nvPr/>
        </p:nvSpPr>
        <p:spPr>
          <a:xfrm>
            <a:off x="1051560" y="1307592"/>
            <a:ext cx="1965960" cy="731520"/>
          </a:xfrm>
          <a:prstGeom prst="rect">
            <a:avLst/>
          </a:prstGeom>
          <a:noFill/>
          <a:ln/>
        </p:spPr>
        <p:txBody>
          <a:bodyPr wrap="square" lIns="508" tIns="508" rIns="508" bIns="508" rtlCol="0" anchor="t"/>
          <a:lstStyle/>
          <a:p>
            <a:pPr algn="l" indent="0" marL="0">
              <a:lnSpc>
                <a:spcPct val="100000"/>
              </a:lnSpc>
              <a:spcAft>
                <a:spcPts val="200"/>
              </a:spcAft>
              <a:buNone/>
            </a:pPr>
            <a:r>
              <a:rPr lang="en-US" sz="1100" b="1" dirty="0">
                <a:solidFill>
                  <a:srgbClr val="1C1C22"/>
                </a:solidFill>
                <a:latin typeface="Arial" pitchFamily="34" charset="0"/>
                <a:ea typeface="Arial" pitchFamily="34" charset="-122"/>
                <a:cs typeface="Arial" pitchFamily="34" charset="-120"/>
              </a:rPr>
              <a:t>Retired parent, 60+</a:t>
            </a:r>
            <a:endParaRPr lang="en-US" sz="9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Pensioner, Nagpur. Video-calls children on the laptop, uses net banking.</a:t>
            </a:r>
            <a:endParaRPr lang="en-US" sz="900" dirty="0"/>
          </a:p>
        </p:txBody>
      </p:sp>
      <p:sp>
        <p:nvSpPr>
          <p:cNvPr id="38" name="Text 33"/>
          <p:cNvSpPr txBox="1"/>
          <p:nvPr/>
        </p:nvSpPr>
        <p:spPr>
          <a:xfrm>
            <a:off x="411480" y="2103120"/>
            <a:ext cx="2560320" cy="22860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D7002A"/>
                </a:solidFill>
                <a:latin typeface="Arial" pitchFamily="34" charset="0"/>
                <a:ea typeface="Arial" pitchFamily="34" charset="-122"/>
                <a:cs typeface="Arial" pitchFamily="34" charset="-120"/>
              </a:rPr>
              <a:t>Pain points</a:t>
            </a:r>
            <a:endParaRPr lang="en-US" sz="850" dirty="0"/>
          </a:p>
        </p:txBody>
      </p:sp>
      <p:sp>
        <p:nvSpPr>
          <p:cNvPr id="39" name="Text 34"/>
          <p:cNvSpPr txBox="1"/>
          <p:nvPr/>
        </p:nvSpPr>
        <p:spPr>
          <a:xfrm>
            <a:off x="411480" y="2971800"/>
            <a:ext cx="256032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Typically hears: </a:t>
            </a:r>
            <a:pPr algn="l" indent="0" marL="0">
              <a:lnSpc>
                <a:spcPct val="100000"/>
              </a:lnSpc>
              <a:spcAft>
                <a:spcPts val="200"/>
              </a:spcAft>
              <a:buNone/>
            </a:pPr>
            <a:r>
              <a:rPr lang="en-US" sz="800" i="1" dirty="0">
                <a:solidFill>
                  <a:srgbClr val="5E5E66"/>
                </a:solidFill>
                <a:latin typeface="Arial" pitchFamily="34" charset="0"/>
                <a:ea typeface="Arial" pitchFamily="34" charset="-122"/>
                <a:cs typeface="Arial" pitchFamily="34" charset="-120"/>
              </a:rPr>
              <a:t>'Aapke naam se arrest warrant hai, camera on rakho'</a:t>
            </a:r>
            <a:endParaRPr lang="en-US" sz="800" dirty="0"/>
          </a:p>
        </p:txBody>
      </p:sp>
      <p:sp>
        <p:nvSpPr>
          <p:cNvPr id="40" name="Text 35"/>
          <p:cNvSpPr txBox="1"/>
          <p:nvPr/>
        </p:nvSpPr>
        <p:spPr>
          <a:xfrm>
            <a:off x="411480" y="2304288"/>
            <a:ext cx="2560320" cy="1143000"/>
          </a:xfrm>
          <a:prstGeom prst="rect">
            <a:avLst/>
          </a:prstGeom>
          <a:noFill/>
          <a:ln/>
        </p:spPr>
        <p:txBody>
          <a:bodyPr wrap="square" lIns="508" tIns="508" rIns="508" bIns="508" rtlCol="0" anchor="t"/>
          <a:lstStyle/>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Targeted by 'digital arrest' and fake CBI calls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Fear of authority, kept on camera for hours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Senior citizens lost ₹ crores city by city in 2025</a:t>
            </a:r>
            <a:endParaRPr lang="en-US" sz="850" dirty="0"/>
          </a:p>
        </p:txBody>
      </p:sp>
      <p:sp>
        <p:nvSpPr>
          <p:cNvPr id="41" name="Shape 36"/>
          <p:cNvSpPr/>
          <p:nvPr/>
        </p:nvSpPr>
        <p:spPr>
          <a:xfrm>
            <a:off x="384048" y="3520440"/>
            <a:ext cx="2569464" cy="868680"/>
          </a:xfrm>
          <a:prstGeom prst="roundRect">
            <a:avLst>
              <a:gd name="adj" fmla="val 6316"/>
            </a:avLst>
          </a:prstGeom>
          <a:solidFill>
            <a:srgbClr val="FAF7F2"/>
          </a:solidFill>
          <a:ln w="12700">
            <a:solidFill>
              <a:srgbClr val="D7002A"/>
            </a:solidFill>
            <a:prstDash val="solid"/>
          </a:ln>
        </p:spPr>
      </p:sp>
      <p:sp>
        <p:nvSpPr>
          <p:cNvPr id="42" name="Text 37"/>
          <p:cNvSpPr txBox="1"/>
          <p:nvPr/>
        </p:nvSpPr>
        <p:spPr>
          <a:xfrm>
            <a:off x="438912" y="3547872"/>
            <a:ext cx="2468880" cy="822960"/>
          </a:xfrm>
          <a:prstGeom prst="rect">
            <a:avLst/>
          </a:prstGeom>
          <a:noFill/>
          <a:ln/>
        </p:spPr>
        <p:txBody>
          <a:bodyPr wrap="square" lIns="508" tIns="508" rIns="508" bIns="508" rtlCol="0" anchor="ctr"/>
          <a:lstStyle/>
          <a:p>
            <a:pPr algn="l" indent="0" marL="0">
              <a:lnSpc>
                <a:spcPct val="100000"/>
              </a:lnSpc>
              <a:spcAft>
                <a:spcPts val="200"/>
              </a:spcAft>
              <a:buNone/>
            </a:pPr>
            <a:r>
              <a:rPr lang="en-US" sz="850" b="1" dirty="0">
                <a:solidFill>
                  <a:srgbClr val="D7002A"/>
                </a:solidFill>
                <a:latin typeface="Arial" pitchFamily="34" charset="0"/>
                <a:ea typeface="Arial" pitchFamily="34" charset="-122"/>
                <a:cs typeface="Arial" pitchFamily="34" charset="-120"/>
              </a:rPr>
              <a:t>What Sajag does: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Full-screen Hindi warning + voice, tells them to call family / 1930</a:t>
            </a:r>
            <a:endParaRPr lang="en-US" sz="850" dirty="0"/>
          </a:p>
        </p:txBody>
      </p:sp>
      <p:sp>
        <p:nvSpPr>
          <p:cNvPr id="43" name="Shape 38"/>
          <p:cNvSpPr/>
          <p:nvPr/>
        </p:nvSpPr>
        <p:spPr>
          <a:xfrm>
            <a:off x="3200400" y="1234440"/>
            <a:ext cx="2788920" cy="3246120"/>
          </a:xfrm>
          <a:prstGeom prst="roundRect">
            <a:avLst>
              <a:gd name="adj" fmla="val 2623"/>
            </a:avLst>
          </a:prstGeom>
          <a:solidFill>
            <a:srgbClr val="FFFFFF"/>
          </a:solidFill>
          <a:ln w="9525">
            <a:solidFill>
              <a:srgbClr val="E3DCD1"/>
            </a:solidFill>
            <a:prstDash val="solid"/>
          </a:ln>
        </p:spPr>
      </p:sp>
      <p:sp>
        <p:nvSpPr>
          <p:cNvPr id="44" name="Shape 39"/>
          <p:cNvSpPr/>
          <p:nvPr/>
        </p:nvSpPr>
        <p:spPr>
          <a:xfrm>
            <a:off x="3337560" y="1353312"/>
            <a:ext cx="566928" cy="566928"/>
          </a:xfrm>
          <a:prstGeom prst="ellipse">
            <a:avLst/>
          </a:prstGeom>
          <a:solidFill>
            <a:srgbClr val="3253DC"/>
          </a:solidFill>
          <a:ln w="12700">
            <a:solidFill>
              <a:srgbClr val="3253DC"/>
            </a:solidFill>
            <a:prstDash val="solid"/>
          </a:ln>
        </p:spPr>
      </p:sp>
      <p:pic>
        <p:nvPicPr>
          <p:cNvPr id="45" name="Image 3" descr="preencoded.png">    </p:cNvPr>
          <p:cNvPicPr>
            <a:picLocks noChangeAspect="1"/>
          </p:cNvPicPr>
          <p:nvPr/>
        </p:nvPicPr>
        <p:blipFill>
          <a:blip r:embed="rId4"/>
          <a:stretch>
            <a:fillRect/>
          </a:stretch>
        </p:blipFill>
        <p:spPr>
          <a:xfrm>
            <a:off x="3462284" y="1478036"/>
            <a:ext cx="317480" cy="317480"/>
          </a:xfrm>
          <a:prstGeom prst="rect">
            <a:avLst/>
          </a:prstGeom>
        </p:spPr>
      </p:pic>
      <p:sp>
        <p:nvSpPr>
          <p:cNvPr id="46" name="Text 40"/>
          <p:cNvSpPr txBox="1"/>
          <p:nvPr/>
        </p:nvSpPr>
        <p:spPr>
          <a:xfrm>
            <a:off x="3977640" y="1307592"/>
            <a:ext cx="1965960" cy="731520"/>
          </a:xfrm>
          <a:prstGeom prst="rect">
            <a:avLst/>
          </a:prstGeom>
          <a:noFill/>
          <a:ln/>
        </p:spPr>
        <p:txBody>
          <a:bodyPr wrap="square" lIns="508" tIns="508" rIns="508" bIns="508" rtlCol="0" anchor="t"/>
          <a:lstStyle/>
          <a:p>
            <a:pPr algn="l" indent="0" marL="0">
              <a:lnSpc>
                <a:spcPct val="100000"/>
              </a:lnSpc>
              <a:spcAft>
                <a:spcPts val="200"/>
              </a:spcAft>
              <a:buNone/>
            </a:pPr>
            <a:r>
              <a:rPr lang="en-US" sz="1100" b="1" dirty="0">
                <a:solidFill>
                  <a:srgbClr val="1C1C22"/>
                </a:solidFill>
                <a:latin typeface="Arial" pitchFamily="34" charset="0"/>
                <a:ea typeface="Arial" pitchFamily="34" charset="-122"/>
                <a:cs typeface="Arial" pitchFamily="34" charset="-120"/>
              </a:rPr>
              <a:t>Young professional, 22-35</a:t>
            </a:r>
            <a:endParaRPr lang="en-US" sz="9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WFH laptop, Bengaluru. Heavy WhatsApp Desktop and Teams user.</a:t>
            </a:r>
            <a:endParaRPr lang="en-US" sz="900" dirty="0"/>
          </a:p>
        </p:txBody>
      </p:sp>
      <p:sp>
        <p:nvSpPr>
          <p:cNvPr id="47" name="Text 41"/>
          <p:cNvSpPr txBox="1"/>
          <p:nvPr/>
        </p:nvSpPr>
        <p:spPr>
          <a:xfrm>
            <a:off x="3337560" y="2103120"/>
            <a:ext cx="2560320" cy="22860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3253DC"/>
                </a:solidFill>
                <a:latin typeface="Arial" pitchFamily="34" charset="0"/>
                <a:ea typeface="Arial" pitchFamily="34" charset="-122"/>
                <a:cs typeface="Arial" pitchFamily="34" charset="-120"/>
              </a:rPr>
              <a:t>Pain points</a:t>
            </a:r>
            <a:endParaRPr lang="en-US" sz="850" dirty="0"/>
          </a:p>
        </p:txBody>
      </p:sp>
      <p:sp>
        <p:nvSpPr>
          <p:cNvPr id="48" name="Text 42"/>
          <p:cNvSpPr txBox="1"/>
          <p:nvPr/>
        </p:nvSpPr>
        <p:spPr>
          <a:xfrm>
            <a:off x="3337560" y="2971800"/>
            <a:ext cx="256032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Typically hears: </a:t>
            </a:r>
            <a:pPr algn="l" indent="0" marL="0">
              <a:lnSpc>
                <a:spcPct val="100000"/>
              </a:lnSpc>
              <a:spcAft>
                <a:spcPts val="200"/>
              </a:spcAft>
              <a:buNone/>
            </a:pPr>
            <a:r>
              <a:rPr lang="en-US" sz="800" i="1" dirty="0">
                <a:solidFill>
                  <a:srgbClr val="5E5E66"/>
                </a:solidFill>
                <a:latin typeface="Arial" pitchFamily="34" charset="0"/>
                <a:ea typeface="Arial" pitchFamily="34" charset="-122"/>
                <a:cs typeface="Arial" pitchFamily="34" charset="-120"/>
              </a:rPr>
              <a:t>'Your FedEx parcel has MDMA, connecting you to Mumbai police'</a:t>
            </a:r>
            <a:endParaRPr lang="en-US" sz="800" dirty="0"/>
          </a:p>
        </p:txBody>
      </p:sp>
      <p:sp>
        <p:nvSpPr>
          <p:cNvPr id="49" name="Text 43"/>
          <p:cNvSpPr txBox="1"/>
          <p:nvPr/>
        </p:nvSpPr>
        <p:spPr>
          <a:xfrm>
            <a:off x="3337560" y="2304288"/>
            <a:ext cx="2560320" cy="1143000"/>
          </a:xfrm>
          <a:prstGeom prst="rect">
            <a:avLst/>
          </a:prstGeom>
          <a:noFill/>
          <a:ln/>
        </p:spPr>
        <p:txBody>
          <a:bodyPr wrap="square" lIns="508" tIns="508" rIns="508" bIns="508" rtlCol="0" anchor="t"/>
          <a:lstStyle/>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'FedEx parcel with drugs' and task-job scams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Hinglish calls from 'customs' or 'HR'</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Trusts screen-share requests at work</a:t>
            </a:r>
            <a:endParaRPr lang="en-US" sz="850" dirty="0"/>
          </a:p>
        </p:txBody>
      </p:sp>
      <p:sp>
        <p:nvSpPr>
          <p:cNvPr id="50" name="Shape 44"/>
          <p:cNvSpPr/>
          <p:nvPr/>
        </p:nvSpPr>
        <p:spPr>
          <a:xfrm>
            <a:off x="3310128" y="3520440"/>
            <a:ext cx="2569464" cy="868680"/>
          </a:xfrm>
          <a:prstGeom prst="roundRect">
            <a:avLst>
              <a:gd name="adj" fmla="val 6316"/>
            </a:avLst>
          </a:prstGeom>
          <a:solidFill>
            <a:srgbClr val="FAF7F2"/>
          </a:solidFill>
          <a:ln w="12700">
            <a:solidFill>
              <a:srgbClr val="3253DC"/>
            </a:solidFill>
            <a:prstDash val="solid"/>
          </a:ln>
        </p:spPr>
      </p:sp>
      <p:sp>
        <p:nvSpPr>
          <p:cNvPr id="51" name="Text 45"/>
          <p:cNvSpPr txBox="1"/>
          <p:nvPr/>
        </p:nvSpPr>
        <p:spPr>
          <a:xfrm>
            <a:off x="3364992" y="3547872"/>
            <a:ext cx="2468880" cy="822960"/>
          </a:xfrm>
          <a:prstGeom prst="rect">
            <a:avLst/>
          </a:prstGeom>
          <a:noFill/>
          <a:ln/>
        </p:spPr>
        <p:txBody>
          <a:bodyPr wrap="square" lIns="508" tIns="508" rIns="508" bIns="508" rtlCol="0" anchor="ctr"/>
          <a:lstStyle/>
          <a:p>
            <a:pPr algn="l" indent="0" marL="0">
              <a:lnSpc>
                <a:spcPct val="100000"/>
              </a:lnSpc>
              <a:spcAft>
                <a:spcPts val="200"/>
              </a:spcAft>
              <a:buNone/>
            </a:pPr>
            <a:r>
              <a:rPr lang="en-US" sz="850" b="1" dirty="0">
                <a:solidFill>
                  <a:srgbClr val="3253DC"/>
                </a:solidFill>
                <a:latin typeface="Arial" pitchFamily="34" charset="0"/>
                <a:ea typeface="Arial" pitchFamily="34" charset="-122"/>
                <a:cs typeface="Arial" pitchFamily="34" charset="-120"/>
              </a:rPr>
              <a:t>What Sajag does: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Hinglish call understanding + remote-access alert</a:t>
            </a:r>
            <a:endParaRPr lang="en-US" sz="850" dirty="0"/>
          </a:p>
        </p:txBody>
      </p:sp>
      <p:sp>
        <p:nvSpPr>
          <p:cNvPr id="52" name="Shape 46"/>
          <p:cNvSpPr/>
          <p:nvPr/>
        </p:nvSpPr>
        <p:spPr>
          <a:xfrm>
            <a:off x="6126480" y="1234440"/>
            <a:ext cx="2788920" cy="3246120"/>
          </a:xfrm>
          <a:prstGeom prst="roundRect">
            <a:avLst>
              <a:gd name="adj" fmla="val 2623"/>
            </a:avLst>
          </a:prstGeom>
          <a:solidFill>
            <a:srgbClr val="FFFFFF"/>
          </a:solidFill>
          <a:ln w="9525">
            <a:solidFill>
              <a:srgbClr val="E3DCD1"/>
            </a:solidFill>
            <a:prstDash val="solid"/>
          </a:ln>
        </p:spPr>
      </p:sp>
      <p:sp>
        <p:nvSpPr>
          <p:cNvPr id="53" name="Shape 47"/>
          <p:cNvSpPr/>
          <p:nvPr/>
        </p:nvSpPr>
        <p:spPr>
          <a:xfrm>
            <a:off x="6263640" y="1353312"/>
            <a:ext cx="566928" cy="566928"/>
          </a:xfrm>
          <a:prstGeom prst="ellipse">
            <a:avLst/>
          </a:prstGeom>
          <a:solidFill>
            <a:srgbClr val="E08A00"/>
          </a:solidFill>
          <a:ln w="12700">
            <a:solidFill>
              <a:srgbClr val="E08A00"/>
            </a:solidFill>
            <a:prstDash val="solid"/>
          </a:ln>
        </p:spPr>
      </p:sp>
      <p:pic>
        <p:nvPicPr>
          <p:cNvPr id="54" name="Image 4" descr="preencoded.png">    </p:cNvPr>
          <p:cNvPicPr>
            <a:picLocks noChangeAspect="1"/>
          </p:cNvPicPr>
          <p:nvPr/>
        </p:nvPicPr>
        <p:blipFill>
          <a:blip r:embed="rId5"/>
          <a:stretch>
            <a:fillRect/>
          </a:stretch>
        </p:blipFill>
        <p:spPr>
          <a:xfrm>
            <a:off x="6388364" y="1478036"/>
            <a:ext cx="317480" cy="317480"/>
          </a:xfrm>
          <a:prstGeom prst="rect">
            <a:avLst/>
          </a:prstGeom>
        </p:spPr>
      </p:pic>
      <p:sp>
        <p:nvSpPr>
          <p:cNvPr id="55" name="Text 48"/>
          <p:cNvSpPr txBox="1"/>
          <p:nvPr/>
        </p:nvSpPr>
        <p:spPr>
          <a:xfrm>
            <a:off x="6903720" y="1307592"/>
            <a:ext cx="1965960" cy="731520"/>
          </a:xfrm>
          <a:prstGeom prst="rect">
            <a:avLst/>
          </a:prstGeom>
          <a:noFill/>
          <a:ln/>
        </p:spPr>
        <p:txBody>
          <a:bodyPr wrap="square" lIns="508" tIns="508" rIns="508" bIns="508" rtlCol="0" anchor="t"/>
          <a:lstStyle/>
          <a:p>
            <a:pPr algn="l" indent="0" marL="0">
              <a:lnSpc>
                <a:spcPct val="100000"/>
              </a:lnSpc>
              <a:spcAft>
                <a:spcPts val="200"/>
              </a:spcAft>
              <a:buNone/>
            </a:pPr>
            <a:r>
              <a:rPr lang="en-US" sz="1100" b="1" dirty="0">
                <a:solidFill>
                  <a:srgbClr val="1C1C22"/>
                </a:solidFill>
                <a:latin typeface="Arial" pitchFamily="34" charset="0"/>
                <a:ea typeface="Arial" pitchFamily="34" charset="-122"/>
                <a:cs typeface="Arial" pitchFamily="34" charset="-120"/>
              </a:rPr>
              <a:t>Small-business owner, 35-55</a:t>
            </a:r>
            <a:endParaRPr lang="en-US" sz="9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Shop / CA office, Kanpur. Banking and GST portals open all day.</a:t>
            </a:r>
            <a:endParaRPr lang="en-US" sz="900" dirty="0"/>
          </a:p>
        </p:txBody>
      </p:sp>
      <p:sp>
        <p:nvSpPr>
          <p:cNvPr id="56" name="Text 49"/>
          <p:cNvSpPr txBox="1"/>
          <p:nvPr/>
        </p:nvSpPr>
        <p:spPr>
          <a:xfrm>
            <a:off x="6263640" y="2103120"/>
            <a:ext cx="2560320" cy="22860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E08A00"/>
                </a:solidFill>
                <a:latin typeface="Arial" pitchFamily="34" charset="0"/>
                <a:ea typeface="Arial" pitchFamily="34" charset="-122"/>
                <a:cs typeface="Arial" pitchFamily="34" charset="-120"/>
              </a:rPr>
              <a:t>Pain points</a:t>
            </a:r>
            <a:endParaRPr lang="en-US" sz="850" dirty="0"/>
          </a:p>
        </p:txBody>
      </p:sp>
      <p:sp>
        <p:nvSpPr>
          <p:cNvPr id="57" name="Text 50"/>
          <p:cNvSpPr txBox="1"/>
          <p:nvPr/>
        </p:nvSpPr>
        <p:spPr>
          <a:xfrm>
            <a:off x="6263640" y="2971800"/>
            <a:ext cx="256032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Typically hears: </a:t>
            </a:r>
            <a:pPr algn="l" indent="0" marL="0">
              <a:lnSpc>
                <a:spcPct val="100000"/>
              </a:lnSpc>
              <a:spcAft>
                <a:spcPts val="200"/>
              </a:spcAft>
              <a:buNone/>
            </a:pPr>
            <a:r>
              <a:rPr lang="en-US" sz="800" i="1" dirty="0">
                <a:solidFill>
                  <a:srgbClr val="5E5E66"/>
                </a:solidFill>
                <a:latin typeface="Arial" pitchFamily="34" charset="0"/>
                <a:ea typeface="Arial" pitchFamily="34" charset="-122"/>
                <a:cs typeface="Arial" pitchFamily="34" charset="-120"/>
              </a:rPr>
              <a:t>'Sir, KYC expired. Share the OTP or account will be blocked'</a:t>
            </a:r>
            <a:endParaRPr lang="en-US" sz="800" dirty="0"/>
          </a:p>
        </p:txBody>
      </p:sp>
      <p:sp>
        <p:nvSpPr>
          <p:cNvPr id="58" name="Text 51"/>
          <p:cNvSpPr txBox="1"/>
          <p:nvPr/>
        </p:nvSpPr>
        <p:spPr>
          <a:xfrm>
            <a:off x="6263640" y="2304288"/>
            <a:ext cx="2560320" cy="1143000"/>
          </a:xfrm>
          <a:prstGeom prst="rect">
            <a:avLst/>
          </a:prstGeom>
          <a:noFill/>
          <a:ln/>
        </p:spPr>
        <p:txBody>
          <a:bodyPr wrap="square" lIns="508" tIns="508" rIns="508" bIns="508" rtlCol="0" anchor="t"/>
          <a:lstStyle/>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KYC-expiry and 'refund' calls with OTP asks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'Support' installs AnyDesk on the billing PC</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Money screens open while on calls</a:t>
            </a:r>
            <a:endParaRPr lang="en-US" sz="850" dirty="0"/>
          </a:p>
        </p:txBody>
      </p:sp>
      <p:sp>
        <p:nvSpPr>
          <p:cNvPr id="59" name="Shape 52"/>
          <p:cNvSpPr/>
          <p:nvPr/>
        </p:nvSpPr>
        <p:spPr>
          <a:xfrm>
            <a:off x="6236208" y="3520440"/>
            <a:ext cx="2569464" cy="868680"/>
          </a:xfrm>
          <a:prstGeom prst="roundRect">
            <a:avLst>
              <a:gd name="adj" fmla="val 6316"/>
            </a:avLst>
          </a:prstGeom>
          <a:solidFill>
            <a:srgbClr val="FAF7F2"/>
          </a:solidFill>
          <a:ln w="12700">
            <a:solidFill>
              <a:srgbClr val="E08A00"/>
            </a:solidFill>
            <a:prstDash val="solid"/>
          </a:ln>
        </p:spPr>
      </p:sp>
      <p:sp>
        <p:nvSpPr>
          <p:cNvPr id="60" name="Text 53"/>
          <p:cNvSpPr txBox="1"/>
          <p:nvPr/>
        </p:nvSpPr>
        <p:spPr>
          <a:xfrm>
            <a:off x="6291072" y="3547872"/>
            <a:ext cx="2468880" cy="822960"/>
          </a:xfrm>
          <a:prstGeom prst="rect">
            <a:avLst/>
          </a:prstGeom>
          <a:noFill/>
          <a:ln/>
        </p:spPr>
        <p:txBody>
          <a:bodyPr wrap="square" lIns="508" tIns="508" rIns="508" bIns="508" rtlCol="0" anchor="ctr"/>
          <a:lstStyle/>
          <a:p>
            <a:pPr algn="l" indent="0" marL="0">
              <a:lnSpc>
                <a:spcPct val="100000"/>
              </a:lnSpc>
              <a:spcAft>
                <a:spcPts val="200"/>
              </a:spcAft>
              <a:buNone/>
            </a:pPr>
            <a:r>
              <a:rPr lang="en-US" sz="850" b="1" dirty="0">
                <a:solidFill>
                  <a:srgbClr val="E08A00"/>
                </a:solidFill>
                <a:latin typeface="Arial" pitchFamily="34" charset="0"/>
                <a:ea typeface="Arial" pitchFamily="34" charset="-122"/>
                <a:cs typeface="Arial" pitchFamily="34" charset="-120"/>
              </a:rPr>
              <a:t>What Sajag does: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Fusion: remote access + payment screen + OTP ask = DANGER</a:t>
            </a:r>
            <a:endParaRPr lang="en-US" sz="850" dirty="0"/>
          </a:p>
        </p:txBody>
      </p:sp>
      <p:sp>
        <p:nvSpPr>
          <p:cNvPr id="61" name="Shape 54"/>
          <p:cNvSpPr/>
          <p:nvPr/>
        </p:nvSpPr>
        <p:spPr>
          <a:xfrm>
            <a:off x="9052560" y="1234440"/>
            <a:ext cx="2788920" cy="3246120"/>
          </a:xfrm>
          <a:prstGeom prst="roundRect">
            <a:avLst>
              <a:gd name="adj" fmla="val 2623"/>
            </a:avLst>
          </a:prstGeom>
          <a:solidFill>
            <a:srgbClr val="FFFFFF"/>
          </a:solidFill>
          <a:ln w="9525">
            <a:solidFill>
              <a:srgbClr val="E3DCD1"/>
            </a:solidFill>
            <a:prstDash val="solid"/>
          </a:ln>
        </p:spPr>
      </p:sp>
      <p:sp>
        <p:nvSpPr>
          <p:cNvPr id="62" name="Shape 55"/>
          <p:cNvSpPr/>
          <p:nvPr/>
        </p:nvSpPr>
        <p:spPr>
          <a:xfrm>
            <a:off x="9189720" y="1353312"/>
            <a:ext cx="566928" cy="566928"/>
          </a:xfrm>
          <a:prstGeom prst="ellipse">
            <a:avLst/>
          </a:prstGeom>
          <a:solidFill>
            <a:srgbClr val="1E9E57"/>
          </a:solidFill>
          <a:ln w="12700">
            <a:solidFill>
              <a:srgbClr val="1E9E57"/>
            </a:solidFill>
            <a:prstDash val="solid"/>
          </a:ln>
        </p:spPr>
      </p:sp>
      <p:pic>
        <p:nvPicPr>
          <p:cNvPr id="63" name="Image 5" descr="preencoded.png">    </p:cNvPr>
          <p:cNvPicPr>
            <a:picLocks noChangeAspect="1"/>
          </p:cNvPicPr>
          <p:nvPr/>
        </p:nvPicPr>
        <p:blipFill>
          <a:blip r:embed="rId6"/>
          <a:stretch>
            <a:fillRect/>
          </a:stretch>
        </p:blipFill>
        <p:spPr>
          <a:xfrm>
            <a:off x="9314444" y="1478036"/>
            <a:ext cx="317480" cy="317480"/>
          </a:xfrm>
          <a:prstGeom prst="rect">
            <a:avLst/>
          </a:prstGeom>
        </p:spPr>
      </p:pic>
      <p:sp>
        <p:nvSpPr>
          <p:cNvPr id="64" name="Text 56"/>
          <p:cNvSpPr txBox="1"/>
          <p:nvPr/>
        </p:nvSpPr>
        <p:spPr>
          <a:xfrm>
            <a:off x="9829800" y="1307592"/>
            <a:ext cx="1965960" cy="731520"/>
          </a:xfrm>
          <a:prstGeom prst="rect">
            <a:avLst/>
          </a:prstGeom>
          <a:noFill/>
          <a:ln/>
        </p:spPr>
        <p:txBody>
          <a:bodyPr wrap="square" lIns="508" tIns="508" rIns="508" bIns="508" rtlCol="0" anchor="t"/>
          <a:lstStyle/>
          <a:p>
            <a:pPr algn="l" indent="0" marL="0">
              <a:lnSpc>
                <a:spcPct val="100000"/>
              </a:lnSpc>
              <a:spcAft>
                <a:spcPts val="200"/>
              </a:spcAft>
              <a:buNone/>
            </a:pPr>
            <a:r>
              <a:rPr lang="en-US" sz="1100" b="1" dirty="0">
                <a:solidFill>
                  <a:srgbClr val="1C1C22"/>
                </a:solidFill>
                <a:latin typeface="Arial" pitchFamily="34" charset="0"/>
                <a:ea typeface="Arial" pitchFamily="34" charset="-122"/>
                <a:cs typeface="Arial" pitchFamily="34" charset="-120"/>
              </a:rPr>
              <a:t>College student, 18-24</a:t>
            </a:r>
            <a:endParaRPr lang="en-US" sz="9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Hostel laptop. Telegram, YouTube, trading apps.</a:t>
            </a:r>
            <a:endParaRPr lang="en-US" sz="900" dirty="0"/>
          </a:p>
        </p:txBody>
      </p:sp>
      <p:sp>
        <p:nvSpPr>
          <p:cNvPr id="65" name="Text 57"/>
          <p:cNvSpPr txBox="1"/>
          <p:nvPr/>
        </p:nvSpPr>
        <p:spPr>
          <a:xfrm>
            <a:off x="9189720" y="2103120"/>
            <a:ext cx="2560320" cy="22860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E9E57"/>
                </a:solidFill>
                <a:latin typeface="Arial" pitchFamily="34" charset="0"/>
                <a:ea typeface="Arial" pitchFamily="34" charset="-122"/>
                <a:cs typeface="Arial" pitchFamily="34" charset="-120"/>
              </a:rPr>
              <a:t>Pain points</a:t>
            </a:r>
            <a:endParaRPr lang="en-US" sz="850" dirty="0"/>
          </a:p>
        </p:txBody>
      </p:sp>
      <p:sp>
        <p:nvSpPr>
          <p:cNvPr id="66" name="Text 58"/>
          <p:cNvSpPr txBox="1"/>
          <p:nvPr/>
        </p:nvSpPr>
        <p:spPr>
          <a:xfrm>
            <a:off x="9189720" y="2971800"/>
            <a:ext cx="256032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Typically hears: </a:t>
            </a:r>
            <a:pPr algn="l" indent="0" marL="0">
              <a:lnSpc>
                <a:spcPct val="100000"/>
              </a:lnSpc>
              <a:spcAft>
                <a:spcPts val="200"/>
              </a:spcAft>
              <a:buNone/>
            </a:pPr>
            <a:r>
              <a:rPr lang="en-US" sz="800" i="1" dirty="0">
                <a:solidFill>
                  <a:srgbClr val="5E5E66"/>
                </a:solidFill>
                <a:latin typeface="Arial" pitchFamily="34" charset="0"/>
                <a:ea typeface="Arial" pitchFamily="34" charset="-122"/>
                <a:cs typeface="Arial" pitchFamily="34" charset="-120"/>
              </a:rPr>
              <a:t>'Pay ₹4,999 tax to withdraw your ₹48,000 profit'</a:t>
            </a:r>
            <a:endParaRPr lang="en-US" sz="800" dirty="0"/>
          </a:p>
        </p:txBody>
      </p:sp>
      <p:sp>
        <p:nvSpPr>
          <p:cNvPr id="67" name="Text 59"/>
          <p:cNvSpPr txBox="1"/>
          <p:nvPr/>
        </p:nvSpPr>
        <p:spPr>
          <a:xfrm>
            <a:off x="9189720" y="2304288"/>
            <a:ext cx="2560320" cy="1143000"/>
          </a:xfrm>
          <a:prstGeom prst="rect">
            <a:avLst/>
          </a:prstGeom>
          <a:noFill/>
          <a:ln/>
        </p:spPr>
        <p:txBody>
          <a:bodyPr wrap="square" lIns="508" tIns="508" rIns="508" bIns="508" rtlCol="0" anchor="t"/>
          <a:lstStyle/>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'Like videos, earn ₹5,000 a day' task scams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Fake IPO / crypto groups with guaranteed returns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Pay-to-withdraw 'earnings'</a:t>
            </a:r>
            <a:endParaRPr lang="en-US" sz="850" dirty="0"/>
          </a:p>
        </p:txBody>
      </p:sp>
      <p:sp>
        <p:nvSpPr>
          <p:cNvPr id="68" name="Shape 60"/>
          <p:cNvSpPr/>
          <p:nvPr/>
        </p:nvSpPr>
        <p:spPr>
          <a:xfrm>
            <a:off x="9162288" y="3520440"/>
            <a:ext cx="2569464" cy="868680"/>
          </a:xfrm>
          <a:prstGeom prst="roundRect">
            <a:avLst>
              <a:gd name="adj" fmla="val 6316"/>
            </a:avLst>
          </a:prstGeom>
          <a:solidFill>
            <a:srgbClr val="FAF7F2"/>
          </a:solidFill>
          <a:ln w="12700">
            <a:solidFill>
              <a:srgbClr val="1E9E57"/>
            </a:solidFill>
            <a:prstDash val="solid"/>
          </a:ln>
        </p:spPr>
      </p:sp>
      <p:sp>
        <p:nvSpPr>
          <p:cNvPr id="69" name="Text 61"/>
          <p:cNvSpPr txBox="1"/>
          <p:nvPr/>
        </p:nvSpPr>
        <p:spPr>
          <a:xfrm>
            <a:off x="9217152" y="3547872"/>
            <a:ext cx="2468880" cy="822960"/>
          </a:xfrm>
          <a:prstGeom prst="rect">
            <a:avLst/>
          </a:prstGeom>
          <a:noFill/>
          <a:ln/>
        </p:spPr>
        <p:txBody>
          <a:bodyPr wrap="square" lIns="508" tIns="508" rIns="508" bIns="508" rtlCol="0" anchor="ctr"/>
          <a:lstStyle/>
          <a:p>
            <a:pPr algn="l" indent="0" marL="0">
              <a:lnSpc>
                <a:spcPct val="100000"/>
              </a:lnSpc>
              <a:spcAft>
                <a:spcPts val="200"/>
              </a:spcAft>
              <a:buNone/>
            </a:pPr>
            <a:r>
              <a:rPr lang="en-US" sz="850" b="1" dirty="0">
                <a:solidFill>
                  <a:srgbClr val="1E9E57"/>
                </a:solidFill>
                <a:latin typeface="Arial" pitchFamily="34" charset="0"/>
                <a:ea typeface="Arial" pitchFamily="34" charset="-122"/>
                <a:cs typeface="Arial" pitchFamily="34" charset="-120"/>
              </a:rPr>
              <a:t>What Sajag does: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Advance-fee rule: prize or profit that must be paid for</a:t>
            </a:r>
            <a:endParaRPr lang="en-US" sz="850" dirty="0"/>
          </a:p>
        </p:txBody>
      </p:sp>
      <p:sp>
        <p:nvSpPr>
          <p:cNvPr id="70" name="Shape 62"/>
          <p:cNvSpPr/>
          <p:nvPr/>
        </p:nvSpPr>
        <p:spPr>
          <a:xfrm>
            <a:off x="274320" y="4617720"/>
            <a:ext cx="5715000" cy="1892808"/>
          </a:xfrm>
          <a:prstGeom prst="roundRect">
            <a:avLst>
              <a:gd name="adj" fmla="val 3865"/>
            </a:avLst>
          </a:prstGeom>
          <a:solidFill>
            <a:srgbClr val="FFFFFF"/>
          </a:solidFill>
          <a:ln w="9525">
            <a:solidFill>
              <a:srgbClr val="E3DCD1"/>
            </a:solidFill>
            <a:prstDash val="solid"/>
          </a:ln>
        </p:spPr>
      </p:sp>
      <p:sp>
        <p:nvSpPr>
          <p:cNvPr id="71" name="Shape 63"/>
          <p:cNvSpPr/>
          <p:nvPr/>
        </p:nvSpPr>
        <p:spPr>
          <a:xfrm>
            <a:off x="365760" y="4690872"/>
            <a:ext cx="5532120" cy="274320"/>
          </a:xfrm>
          <a:prstGeom prst="roundRect">
            <a:avLst>
              <a:gd name="adj" fmla="val 16667"/>
            </a:avLst>
          </a:prstGeom>
          <a:solidFill>
            <a:srgbClr val="121217"/>
          </a:solidFill>
          <a:ln w="12700">
            <a:solidFill>
              <a:srgbClr val="121217"/>
            </a:solidFill>
            <a:prstDash val="solid"/>
          </a:ln>
        </p:spPr>
      </p:sp>
      <p:sp>
        <p:nvSpPr>
          <p:cNvPr id="72" name="Text 64"/>
          <p:cNvSpPr txBox="1"/>
          <p:nvPr/>
        </p:nvSpPr>
        <p:spPr>
          <a:xfrm>
            <a:off x="365760" y="4690872"/>
            <a:ext cx="5532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Scam families Sajag knows (7) x tactics (10)</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4983480"/>
          <a:ext cx="5532120" cy="914400"/>
        </p:xfrm>
        <a:graphic>
          <a:graphicData uri="http://schemas.openxmlformats.org/drawingml/2006/table">
            <a:tbl>
              <a:tblPr/>
              <a:tblGrid>
                <a:gridCol w="1280160"/>
                <a:gridCol w="1874520"/>
                <a:gridCol w="2377440"/>
              </a:tblGrid>
              <a:tr h="210312">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Family</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Signature tactics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Example cue (as spoken)</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Digital arrest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authority, threat, secrecy, payment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'kisi ko mat batana, call mat kaatna'</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Tech support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fake_error, remote_access, payment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'download AnyDesk, tell me the code'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KYC / bank</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identity_bait, threat, credential</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'केवाईसी खत्म, ओटीपी बताइए'</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UPI refund</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lure, credential</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'enter UPI PIN to receive refund'</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SIM / electricity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authority, threat, urgency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'sim band ho jayega 2 ghante mein'</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Investment / task job</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lure, payment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'pakka munafa, pehle task ke paise bhejo'</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bl>
          </a:graphicData>
        </a:graphic>
      </p:graphicFrame>
      <p:sp>
        <p:nvSpPr>
          <p:cNvPr id="74" name="Shape 65"/>
          <p:cNvSpPr/>
          <p:nvPr/>
        </p:nvSpPr>
        <p:spPr>
          <a:xfrm>
            <a:off x="6126480" y="4617720"/>
            <a:ext cx="5788152" cy="1892808"/>
          </a:xfrm>
          <a:prstGeom prst="roundRect">
            <a:avLst>
              <a:gd name="adj" fmla="val 3865"/>
            </a:avLst>
          </a:prstGeom>
          <a:solidFill>
            <a:srgbClr val="FFFFFF"/>
          </a:solidFill>
          <a:ln w="9525">
            <a:solidFill>
              <a:srgbClr val="E3DCD1"/>
            </a:solidFill>
            <a:prstDash val="solid"/>
          </a:ln>
        </p:spPr>
      </p:sp>
      <p:sp>
        <p:nvSpPr>
          <p:cNvPr id="75" name="Shape 66"/>
          <p:cNvSpPr/>
          <p:nvPr/>
        </p:nvSpPr>
        <p:spPr>
          <a:xfrm>
            <a:off x="6217920" y="4690872"/>
            <a:ext cx="5605272" cy="274320"/>
          </a:xfrm>
          <a:prstGeom prst="roundRect">
            <a:avLst>
              <a:gd name="adj" fmla="val 16667"/>
            </a:avLst>
          </a:prstGeom>
          <a:solidFill>
            <a:srgbClr val="D7002A"/>
          </a:solidFill>
          <a:ln w="12700">
            <a:solidFill>
              <a:srgbClr val="D7002A"/>
            </a:solidFill>
            <a:prstDash val="solid"/>
          </a:ln>
        </p:spPr>
      </p:sp>
      <p:sp>
        <p:nvSpPr>
          <p:cNvPr id="76" name="Text 67"/>
          <p:cNvSpPr txBox="1"/>
          <p:nvPr/>
        </p:nvSpPr>
        <p:spPr>
          <a:xfrm>
            <a:off x="6217920" y="4690872"/>
            <a:ext cx="56052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Design principles from the personas</a:t>
            </a:r>
            <a:endParaRPr lang="en-US" sz="1000" dirty="0"/>
          </a:p>
        </p:txBody>
      </p:sp>
      <p:sp>
        <p:nvSpPr>
          <p:cNvPr id="77" name="Shape 68"/>
          <p:cNvSpPr/>
          <p:nvPr/>
        </p:nvSpPr>
        <p:spPr>
          <a:xfrm>
            <a:off x="6263640" y="5029200"/>
            <a:ext cx="420624" cy="420624"/>
          </a:xfrm>
          <a:prstGeom prst="ellipse">
            <a:avLst/>
          </a:prstGeom>
          <a:solidFill>
            <a:srgbClr val="D7002A"/>
          </a:solidFill>
          <a:ln w="12700">
            <a:solidFill>
              <a:srgbClr val="D7002A"/>
            </a:solidFill>
            <a:prstDash val="solid"/>
          </a:ln>
        </p:spPr>
      </p:sp>
      <p:pic>
        <p:nvPicPr>
          <p:cNvPr id="78" name="Image 6" descr="preencoded.png">    </p:cNvPr>
          <p:cNvPicPr>
            <a:picLocks noChangeAspect="1"/>
          </p:cNvPicPr>
          <p:nvPr/>
        </p:nvPicPr>
        <p:blipFill>
          <a:blip r:embed="rId7"/>
          <a:stretch>
            <a:fillRect/>
          </a:stretch>
        </p:blipFill>
        <p:spPr>
          <a:xfrm>
            <a:off x="6356177" y="5121737"/>
            <a:ext cx="235549" cy="235549"/>
          </a:xfrm>
          <a:prstGeom prst="rect">
            <a:avLst/>
          </a:prstGeom>
        </p:spPr>
      </p:pic>
      <p:sp>
        <p:nvSpPr>
          <p:cNvPr id="79" name="Text 69"/>
          <p:cNvSpPr txBox="1"/>
          <p:nvPr/>
        </p:nvSpPr>
        <p:spPr>
          <a:xfrm>
            <a:off x="6766560" y="4983480"/>
            <a:ext cx="2286000" cy="658368"/>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Interrupt, don't whisper</a:t>
            </a:r>
            <a:endParaRPr lang="en-US" sz="850" dirty="0"/>
          </a:p>
          <a:p>
            <a:pPr algn="l" indent="0" marL="0">
              <a:lnSpc>
                <a:spcPct val="100000"/>
              </a:lnSpc>
              <a:spcAft>
                <a:spcPts val="200"/>
              </a:spcAft>
              <a:buNone/>
            </a:pPr>
            <a:r>
              <a:rPr lang="en-US" sz="850" dirty="0">
                <a:solidFill>
                  <a:srgbClr val="5E5E66"/>
                </a:solidFill>
                <a:latin typeface="Arial" pitchFamily="34" charset="0"/>
                <a:ea typeface="Arial" pitchFamily="34" charset="-122"/>
                <a:cs typeface="Arial" pitchFamily="34" charset="-120"/>
              </a:rPr>
              <a:t>victims are in a fear state; small toasts get ignored</a:t>
            </a:r>
            <a:endParaRPr lang="en-US" sz="850" dirty="0"/>
          </a:p>
        </p:txBody>
      </p:sp>
      <p:sp>
        <p:nvSpPr>
          <p:cNvPr id="80" name="Shape 70"/>
          <p:cNvSpPr/>
          <p:nvPr/>
        </p:nvSpPr>
        <p:spPr>
          <a:xfrm>
            <a:off x="9098280" y="5029200"/>
            <a:ext cx="420624" cy="420624"/>
          </a:xfrm>
          <a:prstGeom prst="ellipse">
            <a:avLst/>
          </a:prstGeom>
          <a:solidFill>
            <a:srgbClr val="D7002A"/>
          </a:solidFill>
          <a:ln w="12700">
            <a:solidFill>
              <a:srgbClr val="D7002A"/>
            </a:solidFill>
            <a:prstDash val="solid"/>
          </a:ln>
        </p:spPr>
      </p:sp>
      <p:pic>
        <p:nvPicPr>
          <p:cNvPr id="81" name="Image 7" descr="preencoded.png">    </p:cNvPr>
          <p:cNvPicPr>
            <a:picLocks noChangeAspect="1"/>
          </p:cNvPicPr>
          <p:nvPr/>
        </p:nvPicPr>
        <p:blipFill>
          <a:blip r:embed="rId8"/>
          <a:stretch>
            <a:fillRect/>
          </a:stretch>
        </p:blipFill>
        <p:spPr>
          <a:xfrm>
            <a:off x="9190817" y="5121737"/>
            <a:ext cx="235549" cy="235549"/>
          </a:xfrm>
          <a:prstGeom prst="rect">
            <a:avLst/>
          </a:prstGeom>
        </p:spPr>
      </p:pic>
      <p:sp>
        <p:nvSpPr>
          <p:cNvPr id="82" name="Text 71"/>
          <p:cNvSpPr txBox="1"/>
          <p:nvPr/>
        </p:nvSpPr>
        <p:spPr>
          <a:xfrm>
            <a:off x="9601200" y="4983480"/>
            <a:ext cx="2286000" cy="658368"/>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Speak their language</a:t>
            </a:r>
            <a:endParaRPr lang="en-US" sz="850" dirty="0"/>
          </a:p>
          <a:p>
            <a:pPr algn="l" indent="0" marL="0">
              <a:lnSpc>
                <a:spcPct val="100000"/>
              </a:lnSpc>
              <a:spcAft>
                <a:spcPts val="200"/>
              </a:spcAft>
              <a:buNone/>
            </a:pPr>
            <a:r>
              <a:rPr lang="en-US" sz="850" dirty="0">
                <a:solidFill>
                  <a:srgbClr val="5E5E66"/>
                </a:solidFill>
                <a:latin typeface="Arial" pitchFamily="34" charset="0"/>
                <a:ea typeface="Arial" pitchFamily="34" charset="-122"/>
                <a:cs typeface="Arial" pitchFamily="34" charset="-120"/>
              </a:rPr>
              <a:t>Hindi, English and Hinglish in both speech and screen</a:t>
            </a:r>
            <a:endParaRPr lang="en-US" sz="850" dirty="0"/>
          </a:p>
        </p:txBody>
      </p:sp>
      <p:sp>
        <p:nvSpPr>
          <p:cNvPr id="83" name="Shape 72"/>
          <p:cNvSpPr/>
          <p:nvPr/>
        </p:nvSpPr>
        <p:spPr>
          <a:xfrm>
            <a:off x="6263640" y="5742432"/>
            <a:ext cx="420624" cy="420624"/>
          </a:xfrm>
          <a:prstGeom prst="ellipse">
            <a:avLst/>
          </a:prstGeom>
          <a:solidFill>
            <a:srgbClr val="D7002A"/>
          </a:solidFill>
          <a:ln w="12700">
            <a:solidFill>
              <a:srgbClr val="D7002A"/>
            </a:solidFill>
            <a:prstDash val="solid"/>
          </a:ln>
        </p:spPr>
      </p:sp>
      <p:pic>
        <p:nvPicPr>
          <p:cNvPr id="84" name="Image 8" descr="preencoded.png">    </p:cNvPr>
          <p:cNvPicPr>
            <a:picLocks noChangeAspect="1"/>
          </p:cNvPicPr>
          <p:nvPr/>
        </p:nvPicPr>
        <p:blipFill>
          <a:blip r:embed="rId9"/>
          <a:stretch>
            <a:fillRect/>
          </a:stretch>
        </p:blipFill>
        <p:spPr>
          <a:xfrm>
            <a:off x="6356177" y="5834969"/>
            <a:ext cx="235549" cy="235549"/>
          </a:xfrm>
          <a:prstGeom prst="rect">
            <a:avLst/>
          </a:prstGeom>
        </p:spPr>
      </p:pic>
      <p:sp>
        <p:nvSpPr>
          <p:cNvPr id="85" name="Text 73"/>
          <p:cNvSpPr txBox="1"/>
          <p:nvPr/>
        </p:nvSpPr>
        <p:spPr>
          <a:xfrm>
            <a:off x="6766560" y="5696712"/>
            <a:ext cx="2286000" cy="658368"/>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Explain the why</a:t>
            </a:r>
            <a:endParaRPr lang="en-US" sz="850" dirty="0"/>
          </a:p>
          <a:p>
            <a:pPr algn="l" indent="0" marL="0">
              <a:lnSpc>
                <a:spcPct val="100000"/>
              </a:lnSpc>
              <a:spcAft>
                <a:spcPts val="200"/>
              </a:spcAft>
              <a:buNone/>
            </a:pPr>
            <a:r>
              <a:rPr lang="en-US" sz="850" dirty="0">
                <a:solidFill>
                  <a:srgbClr val="5E5E66"/>
                </a:solidFill>
                <a:latin typeface="Arial" pitchFamily="34" charset="0"/>
                <a:ea typeface="Arial" pitchFamily="34" charset="-122"/>
                <a:cs typeface="Arial" pitchFamily="34" charset="-120"/>
              </a:rPr>
              <a:t>show the exact phrase and source behind every alert</a:t>
            </a:r>
            <a:endParaRPr lang="en-US" sz="850" dirty="0"/>
          </a:p>
        </p:txBody>
      </p:sp>
      <p:sp>
        <p:nvSpPr>
          <p:cNvPr id="86" name="Shape 74"/>
          <p:cNvSpPr/>
          <p:nvPr/>
        </p:nvSpPr>
        <p:spPr>
          <a:xfrm>
            <a:off x="9098280" y="5742432"/>
            <a:ext cx="420624" cy="420624"/>
          </a:xfrm>
          <a:prstGeom prst="ellipse">
            <a:avLst/>
          </a:prstGeom>
          <a:solidFill>
            <a:srgbClr val="D7002A"/>
          </a:solidFill>
          <a:ln w="12700">
            <a:solidFill>
              <a:srgbClr val="D7002A"/>
            </a:solidFill>
            <a:prstDash val="solid"/>
          </a:ln>
        </p:spPr>
      </p:sp>
      <p:pic>
        <p:nvPicPr>
          <p:cNvPr id="87" name="Image 9" descr="preencoded.png">    </p:cNvPr>
          <p:cNvPicPr>
            <a:picLocks noChangeAspect="1"/>
          </p:cNvPicPr>
          <p:nvPr/>
        </p:nvPicPr>
        <p:blipFill>
          <a:blip r:embed="rId10"/>
          <a:stretch>
            <a:fillRect/>
          </a:stretch>
        </p:blipFill>
        <p:spPr>
          <a:xfrm>
            <a:off x="9190817" y="5834969"/>
            <a:ext cx="235549" cy="235549"/>
          </a:xfrm>
          <a:prstGeom prst="rect">
            <a:avLst/>
          </a:prstGeom>
        </p:spPr>
      </p:pic>
      <p:sp>
        <p:nvSpPr>
          <p:cNvPr id="88" name="Text 75"/>
          <p:cNvSpPr txBox="1"/>
          <p:nvPr/>
        </p:nvSpPr>
        <p:spPr>
          <a:xfrm>
            <a:off x="9601200" y="5696712"/>
            <a:ext cx="2286000" cy="658368"/>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Never phone home</a:t>
            </a:r>
            <a:endParaRPr lang="en-US" sz="850" dirty="0"/>
          </a:p>
          <a:p>
            <a:pPr algn="l" indent="0" marL="0">
              <a:lnSpc>
                <a:spcPct val="100000"/>
              </a:lnSpc>
              <a:spcAft>
                <a:spcPts val="200"/>
              </a:spcAft>
              <a:buNone/>
            </a:pPr>
            <a:r>
              <a:rPr lang="en-US" sz="850" dirty="0">
                <a:solidFill>
                  <a:srgbClr val="5E5E66"/>
                </a:solidFill>
                <a:latin typeface="Arial" pitchFamily="34" charset="0"/>
                <a:ea typeface="Arial" pitchFamily="34" charset="-122"/>
                <a:cs typeface="Arial" pitchFamily="34" charset="-120"/>
              </a:rPr>
              <a:t>no account, no cloud, works offline</a:t>
            </a:r>
            <a:endParaRPr lang="en-US" sz="850" dirty="0"/>
          </a:p>
        </p:txBody>
      </p:sp>
      <p:sp>
        <p:nvSpPr>
          <p:cNvPr id="89" name="Text 76"/>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D7002A"/>
          </a:solidFill>
          <a:ln w="6350">
            <a:solidFill>
              <a:srgbClr val="D7002A"/>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15 candidate solutions, scored against the judging criteria</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Weights from an AHP pairwise comparison (next slide). Scores 1-5.</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74320" y="1234440"/>
          <a:ext cx="7955280" cy="914400"/>
        </p:xfrm>
        <a:graphic>
          <a:graphicData uri="http://schemas.openxmlformats.org/drawingml/2006/table">
            <a:tbl>
              <a:tblPr/>
              <a:tblGrid>
                <a:gridCol w="274320"/>
                <a:gridCol w="3072384"/>
                <a:gridCol w="658368"/>
                <a:gridCol w="658368"/>
                <a:gridCol w="658368"/>
                <a:gridCol w="658368"/>
                <a:gridCol w="658368"/>
                <a:gridCol w="658368"/>
                <a:gridCol w="658368"/>
              </a:tblGrid>
              <a:tr h="301752">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Candidate solution for Snapdragon HP AI PCs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Tech depth on NPU</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(w=0.31)</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Innovation</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(w=0.19)</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India impact</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(w=0.17)</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Deploy &amp; access</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(w=0.14)</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Why on-device</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(w=0.09)</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Buildability</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(w=0.10)</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Weighted</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D7002A"/>
                          </a:solidFill>
                          <a:latin typeface="Arial" pitchFamily="34" charset="0"/>
                          <a:ea typeface="Arial" pitchFamily="34" charset="-122"/>
                          <a:cs typeface="Arial" pitchFamily="34" charset="-120"/>
                        </a:rPr>
                        <a:t>Sajag: on-device multimodal scam shield (screen + call + system)</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FFFFFF"/>
                          </a:solidFill>
                          <a:latin typeface="Arial" pitchFamily="34" charset="0"/>
                          <a:ea typeface="Arial" pitchFamily="34" charset="-122"/>
                          <a:cs typeface="Arial" pitchFamily="34" charset="-120"/>
                        </a:rPr>
                        <a:t>4.76</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7002A"/>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Deepfake video-call detector (face + voice liveness)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BE3E7"/>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4.06</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Offline crop-disease + Hindi voice advisor for CSC / FPO kiosks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3.74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Drone-video triage ground station for disaster response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3.67</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Rural clinic medical scribe (ASR + note LLM)</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3.57</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6</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Indian Sign Language to speech translator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3.57</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7</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DPDP-compliance PII redaction shield for SMEs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3.52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8</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Offline Indic KYC / form assistant for CSC operators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3.33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9</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Low-vision scene describer (VLM on NPU)</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3.29</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10</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Energy-aware AI workload router (CPU / GPU / NPU)</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BE3E7"/>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3.28</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Always-on posture &amp; eye-strain coach</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3.20</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Offline Indic live captions for classrooms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3.13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Local RAG second brain over personal files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BE3E7"/>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3.01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Private meeting / lecture copilot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BE3E7"/>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DF3E6"/>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2.92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0175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15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On-device AI exam proctor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4</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C1C22"/>
                          </a:solidFill>
                          <a:latin typeface="Arial" pitchFamily="34" charset="0"/>
                          <a:ea typeface="Arial" pitchFamily="34" charset="-122"/>
                          <a:cs typeface="Arial" pitchFamily="34" charset="-120"/>
                        </a:rPr>
                        <a:t>2.83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bl>
          </a:graphicData>
        </a:graphic>
      </p:graphicFrame>
      <p:sp>
        <p:nvSpPr>
          <p:cNvPr id="35" name="Shape 30"/>
          <p:cNvSpPr/>
          <p:nvPr/>
        </p:nvSpPr>
        <p:spPr>
          <a:xfrm>
            <a:off x="8366760" y="1234440"/>
            <a:ext cx="3547872" cy="2377440"/>
          </a:xfrm>
          <a:prstGeom prst="roundRect">
            <a:avLst>
              <a:gd name="adj" fmla="val 3077"/>
            </a:avLst>
          </a:prstGeom>
          <a:solidFill>
            <a:srgbClr val="FFFFFF"/>
          </a:solidFill>
          <a:ln w="9525">
            <a:solidFill>
              <a:srgbClr val="E3DCD1"/>
            </a:solidFill>
            <a:prstDash val="solid"/>
          </a:ln>
        </p:spPr>
      </p:sp>
      <p:sp>
        <p:nvSpPr>
          <p:cNvPr id="36" name="Shape 31"/>
          <p:cNvSpPr/>
          <p:nvPr/>
        </p:nvSpPr>
        <p:spPr>
          <a:xfrm>
            <a:off x="8458200" y="1307592"/>
            <a:ext cx="3364992" cy="274320"/>
          </a:xfrm>
          <a:prstGeom prst="roundRect">
            <a:avLst>
              <a:gd name="adj" fmla="val 16667"/>
            </a:avLst>
          </a:prstGeom>
          <a:solidFill>
            <a:srgbClr val="121217"/>
          </a:solidFill>
          <a:ln w="12700">
            <a:solidFill>
              <a:srgbClr val="121217"/>
            </a:solidFill>
            <a:prstDash val="solid"/>
          </a:ln>
        </p:spPr>
      </p:sp>
      <p:sp>
        <p:nvSpPr>
          <p:cNvPr id="37" name="Text 32"/>
          <p:cNvSpPr txBox="1"/>
          <p:nvPr/>
        </p:nvSpPr>
        <p:spPr>
          <a:xfrm>
            <a:off x="8458200" y="1307592"/>
            <a:ext cx="33649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How ideas were generated</a:t>
            </a:r>
            <a:endParaRPr lang="en-US" sz="1000" dirty="0"/>
          </a:p>
        </p:txBody>
      </p:sp>
      <p:sp>
        <p:nvSpPr>
          <p:cNvPr id="38" name="Text 33"/>
          <p:cNvSpPr txBox="1"/>
          <p:nvPr/>
        </p:nvSpPr>
        <p:spPr>
          <a:xfrm>
            <a:off x="8458200" y="1645920"/>
            <a:ext cx="3383280" cy="1920240"/>
          </a:xfrm>
          <a:prstGeom prst="rect">
            <a:avLst/>
          </a:prstGeom>
          <a:noFill/>
          <a:ln/>
        </p:spPr>
        <p:txBody>
          <a:bodyPr wrap="square" lIns="508" tIns="508" rIns="508" bIns="508" rtlCol="0" anchor="t"/>
          <a:lstStyle/>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Mapped AI Hub's model catalogue (VAD, Whisper, OCR, LLMs, VLMs, pose, detection) to Indian problems where on-device matters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Scanned 10+ public challenge repos to avoid crowded themes (study buddies, note-takers, health bots)</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Filtered by what a judge can verify: runnable demo, measurable NPU path</a:t>
            </a:r>
            <a:endParaRPr lang="en-US" sz="850" dirty="0"/>
          </a:p>
          <a:p>
            <a:pPr marL="127000" indent="-127000">
              <a:spcAft>
                <a:spcPts val="300"/>
              </a:spcAft>
              <a:buSzPct val="100000"/>
              <a:buChar char="■"/>
            </a:pPr>
            <a:r>
              <a:rPr lang="en-US" sz="850" dirty="0">
                <a:solidFill>
                  <a:srgbClr val="1C1C22"/>
                </a:solidFill>
                <a:latin typeface="Arial" pitchFamily="34" charset="0"/>
                <a:ea typeface="Arial" pitchFamily="34" charset="-122"/>
                <a:cs typeface="Arial" pitchFamily="34" charset="-120"/>
              </a:rPr>
              <a:t>Scored each idea on 6 criteria mapped to the 4 official judging criteria</a:t>
            </a:r>
            <a:endParaRPr lang="en-US" sz="850" dirty="0"/>
          </a:p>
        </p:txBody>
      </p:sp>
      <p:sp>
        <p:nvSpPr>
          <p:cNvPr id="39" name="Shape 34"/>
          <p:cNvSpPr/>
          <p:nvPr/>
        </p:nvSpPr>
        <p:spPr>
          <a:xfrm>
            <a:off x="8366760" y="3749040"/>
            <a:ext cx="3547872" cy="2761488"/>
          </a:xfrm>
          <a:prstGeom prst="roundRect">
            <a:avLst>
              <a:gd name="adj" fmla="val 2649"/>
            </a:avLst>
          </a:prstGeom>
          <a:solidFill>
            <a:srgbClr val="FFFFFF"/>
          </a:solidFill>
          <a:ln w="9525">
            <a:solidFill>
              <a:srgbClr val="E3DCD1"/>
            </a:solidFill>
            <a:prstDash val="solid"/>
          </a:ln>
        </p:spPr>
      </p:sp>
      <p:sp>
        <p:nvSpPr>
          <p:cNvPr id="40" name="Shape 35"/>
          <p:cNvSpPr/>
          <p:nvPr/>
        </p:nvSpPr>
        <p:spPr>
          <a:xfrm>
            <a:off x="8458200" y="3822192"/>
            <a:ext cx="3364992" cy="274320"/>
          </a:xfrm>
          <a:prstGeom prst="roundRect">
            <a:avLst>
              <a:gd name="adj" fmla="val 16667"/>
            </a:avLst>
          </a:prstGeom>
          <a:solidFill>
            <a:srgbClr val="D7002A"/>
          </a:solidFill>
          <a:ln w="12700">
            <a:solidFill>
              <a:srgbClr val="D7002A"/>
            </a:solidFill>
            <a:prstDash val="solid"/>
          </a:ln>
        </p:spPr>
      </p:sp>
      <p:sp>
        <p:nvSpPr>
          <p:cNvPr id="41" name="Text 36"/>
          <p:cNvSpPr txBox="1"/>
          <p:nvPr/>
        </p:nvSpPr>
        <p:spPr>
          <a:xfrm>
            <a:off x="8458200" y="3822192"/>
            <a:ext cx="33649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Why the runner-ups lost</a:t>
            </a:r>
            <a:endParaRPr lang="en-US" sz="1000" dirty="0"/>
          </a:p>
        </p:txBody>
      </p:sp>
      <p:sp>
        <p:nvSpPr>
          <p:cNvPr id="42" name="Text 37"/>
          <p:cNvSpPr txBox="1"/>
          <p:nvPr/>
        </p:nvSpPr>
        <p:spPr>
          <a:xfrm>
            <a:off x="8458200" y="4160520"/>
            <a:ext cx="3383280" cy="2286000"/>
          </a:xfrm>
          <a:prstGeom prst="rect">
            <a:avLst/>
          </a:prstGeom>
          <a:noFill/>
          <a:ln/>
        </p:spPr>
        <p:txBody>
          <a:bodyPr wrap="square" lIns="508" tIns="508" rIns="508" bIns="508" rtlCol="0" anchor="t"/>
          <a:lstStyle/>
          <a:p>
            <a:pPr marL="127000" indent="-127000">
              <a:spcAft>
                <a:spcPts val="300"/>
              </a:spcAft>
              <a:buSzPct val="100000"/>
              <a:buChar char="■"/>
            </a:pPr>
            <a:r>
              <a:rPr lang="en-US" sz="850" b="1" dirty="0">
                <a:solidFill>
                  <a:srgbClr val="1C1C22"/>
                </a:solidFill>
                <a:latin typeface="Arial" pitchFamily="34" charset="0"/>
                <a:ea typeface="Arial" pitchFamily="34" charset="-122"/>
                <a:cs typeface="Arial" pitchFamily="34" charset="-120"/>
              </a:rPr>
              <a:t>Deepfake call detector: </a:t>
            </a:r>
            <a:pPr indent="0" marL="0">
              <a:spcAft>
                <a:spcPts val="300"/>
              </a:spcAft>
              <a:buNone/>
            </a:pPr>
            <a:r>
              <a:rPr lang="en-US" sz="850" dirty="0">
                <a:solidFill>
                  <a:srgbClr val="1C1C22"/>
                </a:solidFill>
                <a:latin typeface="Arial" pitchFamily="34" charset="0"/>
                <a:ea typeface="Arial" pitchFamily="34" charset="-122"/>
                <a:cs typeface="Arial" pitchFamily="34" charset="-120"/>
              </a:rPr>
              <a:t>novel but no validated Indian dataset; risky claims</a:t>
            </a:r>
            <a:endParaRPr lang="en-US" sz="850" dirty="0"/>
          </a:p>
          <a:p>
            <a:pPr marL="127000" indent="-127000">
              <a:spcAft>
                <a:spcPts val="300"/>
              </a:spcAft>
              <a:buSzPct val="100000"/>
              <a:buChar char="■"/>
            </a:pPr>
            <a:r>
              <a:rPr lang="en-US" sz="850" b="1" dirty="0">
                <a:solidFill>
                  <a:srgbClr val="1C1C22"/>
                </a:solidFill>
                <a:latin typeface="Arial" pitchFamily="34" charset="0"/>
                <a:ea typeface="Arial" pitchFamily="34" charset="-122"/>
                <a:cs typeface="Arial" pitchFamily="34" charset="-120"/>
              </a:rPr>
              <a:t>Crop-disease kiosk: </a:t>
            </a:r>
            <a:pPr indent="0" marL="0">
              <a:spcAft>
                <a:spcPts val="300"/>
              </a:spcAft>
              <a:buNone/>
            </a:pPr>
            <a:r>
              <a:rPr lang="en-US" sz="850" dirty="0">
                <a:solidFill>
                  <a:srgbClr val="1C1C22"/>
                </a:solidFill>
                <a:latin typeface="Arial" pitchFamily="34" charset="0"/>
                <a:ea typeface="Arial" pitchFamily="34" charset="-122"/>
                <a:cs typeface="Arial" pitchFamily="34" charset="-120"/>
              </a:rPr>
              <a:t>farmers use phones, not PCs; lab datasets fail in field</a:t>
            </a:r>
            <a:endParaRPr lang="en-US" sz="850" dirty="0"/>
          </a:p>
          <a:p>
            <a:pPr marL="127000" indent="-127000">
              <a:spcAft>
                <a:spcPts val="300"/>
              </a:spcAft>
              <a:buSzPct val="100000"/>
              <a:buChar char="■"/>
            </a:pPr>
            <a:r>
              <a:rPr lang="en-US" sz="850" b="1" dirty="0">
                <a:solidFill>
                  <a:srgbClr val="1C1C22"/>
                </a:solidFill>
                <a:latin typeface="Arial" pitchFamily="34" charset="0"/>
                <a:ea typeface="Arial" pitchFamily="34" charset="-122"/>
                <a:cs typeface="Arial" pitchFamily="34" charset="-120"/>
              </a:rPr>
              <a:t>Drone triage: </a:t>
            </a:r>
            <a:pPr indent="0" marL="0">
              <a:spcAft>
                <a:spcPts val="300"/>
              </a:spcAft>
              <a:buNone/>
            </a:pPr>
            <a:r>
              <a:rPr lang="en-US" sz="850" dirty="0">
                <a:solidFill>
                  <a:srgbClr val="1C1C22"/>
                </a:solidFill>
                <a:latin typeface="Arial" pitchFamily="34" charset="0"/>
                <a:ea typeface="Arial" pitchFamily="34" charset="-122"/>
                <a:cs typeface="Arial" pitchFamily="34" charset="-120"/>
              </a:rPr>
              <a:t>needs aerial fine-tuning and hardware to demo</a:t>
            </a:r>
            <a:endParaRPr lang="en-US" sz="850" dirty="0"/>
          </a:p>
          <a:p>
            <a:pPr marL="127000" indent="-127000">
              <a:spcAft>
                <a:spcPts val="300"/>
              </a:spcAft>
              <a:buSzPct val="100000"/>
              <a:buChar char="■"/>
            </a:pPr>
            <a:r>
              <a:rPr lang="en-US" sz="850" b="1" dirty="0">
                <a:solidFill>
                  <a:srgbClr val="1C1C22"/>
                </a:solidFill>
                <a:latin typeface="Arial" pitchFamily="34" charset="0"/>
                <a:ea typeface="Arial" pitchFamily="34" charset="-122"/>
                <a:cs typeface="Arial" pitchFamily="34" charset="-120"/>
              </a:rPr>
              <a:t>Meeting copilot / RAG: </a:t>
            </a:r>
            <a:pPr indent="0" marL="0">
              <a:spcAft>
                <a:spcPts val="300"/>
              </a:spcAft>
              <a:buNone/>
            </a:pPr>
            <a:r>
              <a:rPr lang="en-US" sz="850" dirty="0">
                <a:solidFill>
                  <a:srgbClr val="1C1C22"/>
                </a:solidFill>
                <a:latin typeface="Arial" pitchFamily="34" charset="0"/>
                <a:ea typeface="Arial" pitchFamily="34" charset="-122"/>
                <a:cs typeface="Arial" pitchFamily="34" charset="-120"/>
              </a:rPr>
              <a:t>crowded, already built into Windows and AnythingLLM</a:t>
            </a:r>
            <a:endParaRPr lang="en-US" sz="850" dirty="0"/>
          </a:p>
        </p:txBody>
      </p:sp>
      <p:sp>
        <p:nvSpPr>
          <p:cNvPr id="43" name="Text 38"/>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D7002A"/>
          </a:solidFill>
          <a:ln w="6350">
            <a:solidFill>
              <a:srgbClr val="D7002A"/>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Why Sajag: AHP-weighted choice and a clear gap in the market</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Consistency ratio 0.013 (&lt; 0.10 means the pairwise judgements are consistent)</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4754880" cy="2880360"/>
          </a:xfrm>
          <a:prstGeom prst="roundRect">
            <a:avLst>
              <a:gd name="adj" fmla="val 2540"/>
            </a:avLst>
          </a:prstGeom>
          <a:solidFill>
            <a:srgbClr val="FFFFFF"/>
          </a:solidFill>
          <a:ln w="9525">
            <a:solidFill>
              <a:srgbClr val="E3DCD1"/>
            </a:solidFill>
            <a:prstDash val="solid"/>
          </a:ln>
        </p:spPr>
      </p:sp>
      <p:sp>
        <p:nvSpPr>
          <p:cNvPr id="35" name="Shape 31"/>
          <p:cNvSpPr/>
          <p:nvPr/>
        </p:nvSpPr>
        <p:spPr>
          <a:xfrm>
            <a:off x="365760" y="1307592"/>
            <a:ext cx="4572000" cy="274320"/>
          </a:xfrm>
          <a:prstGeom prst="roundRect">
            <a:avLst>
              <a:gd name="adj" fmla="val 16667"/>
            </a:avLst>
          </a:prstGeom>
          <a:solidFill>
            <a:srgbClr val="121217"/>
          </a:solidFill>
          <a:ln w="12700">
            <a:solidFill>
              <a:srgbClr val="121217"/>
            </a:solidFill>
            <a:prstDash val="solid"/>
          </a:ln>
        </p:spPr>
      </p:sp>
      <p:sp>
        <p:nvSpPr>
          <p:cNvPr id="36" name="Text 32"/>
          <p:cNvSpPr txBox="1"/>
          <p:nvPr/>
        </p:nvSpPr>
        <p:spPr>
          <a:xfrm>
            <a:off x="365760" y="1307592"/>
            <a:ext cx="4572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AHP pairwise comparison of criteria</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645920"/>
          <a:ext cx="4572000" cy="914400"/>
        </p:xfrm>
        <a:graphic>
          <a:graphicData uri="http://schemas.openxmlformats.org/drawingml/2006/table">
            <a:tbl>
              <a:tblPr/>
              <a:tblGrid>
                <a:gridCol w="1143000"/>
                <a:gridCol w="457200"/>
                <a:gridCol w="457200"/>
                <a:gridCol w="457200"/>
                <a:gridCol w="457200"/>
                <a:gridCol w="457200"/>
                <a:gridCol w="457200"/>
                <a:gridCol w="685800"/>
              </a:tblGrid>
              <a:tr h="274320">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Criteria</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C1</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C2</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C3</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C4</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C5</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C6</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Weight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C1 Technical</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0.311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C2 Innovation</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0.192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C3 India</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0.171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C4 Deployment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0.136</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C5 Why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0.090</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C6 Buildability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1/3</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0.101</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bl>
          </a:graphicData>
        </a:graphic>
      </p:graphicFrame>
      <p:sp>
        <p:nvSpPr>
          <p:cNvPr id="38" name="Text 33"/>
          <p:cNvSpPr txBox="1"/>
          <p:nvPr/>
        </p:nvSpPr>
        <p:spPr>
          <a:xfrm>
            <a:off x="365760" y="3611880"/>
            <a:ext cx="4572000" cy="502920"/>
          </a:xfrm>
          <a:prstGeom prst="rect">
            <a:avLst/>
          </a:prstGeom>
          <a:noFill/>
          <a:ln/>
        </p:spPr>
        <p:txBody>
          <a:bodyPr wrap="square" lIns="508" tIns="508" rIns="508" bIns="508" rtlCol="0" anchor="t"/>
          <a:lstStyle/>
          <a:p>
            <a:pPr algn="l" indent="0" marL="0">
              <a:lnSpc>
                <a:spcPct val="100000"/>
              </a:lnSpc>
              <a:spcAft>
                <a:spcPts val="200"/>
              </a:spcAft>
              <a:buNone/>
            </a:pPr>
            <a:r>
              <a:rPr lang="en-US" sz="750" dirty="0">
                <a:solidFill>
                  <a:srgbClr val="5E5E66"/>
                </a:solidFill>
                <a:latin typeface="Arial" pitchFamily="34" charset="0"/>
                <a:ea typeface="Arial" pitchFamily="34" charset="-122"/>
                <a:cs typeface="Arial" pitchFamily="34" charset="-120"/>
              </a:rPr>
              <a:t>C1 Technical depth on NPU, C2 Innovation, C3 India impact, C4 Deployment &amp; accessibility, C5 Why on-device, C6 Buildability &amp; demo. C1 carries the most weight because Technical Implementation is the first judging criterion and the official tie-breaker.</a:t>
            </a:r>
            <a:endParaRPr lang="en-US" sz="750" dirty="0"/>
          </a:p>
        </p:txBody>
      </p:sp>
      <p:sp>
        <p:nvSpPr>
          <p:cNvPr id="39" name="Shape 34"/>
          <p:cNvSpPr/>
          <p:nvPr/>
        </p:nvSpPr>
        <p:spPr>
          <a:xfrm>
            <a:off x="5166360" y="1234440"/>
            <a:ext cx="3017520" cy="2880360"/>
          </a:xfrm>
          <a:prstGeom prst="roundRect">
            <a:avLst>
              <a:gd name="adj" fmla="val 2540"/>
            </a:avLst>
          </a:prstGeom>
          <a:solidFill>
            <a:srgbClr val="FFFFFF"/>
          </a:solidFill>
          <a:ln w="9525">
            <a:solidFill>
              <a:srgbClr val="E3DCD1"/>
            </a:solidFill>
            <a:prstDash val="solid"/>
          </a:ln>
        </p:spPr>
      </p:sp>
      <p:sp>
        <p:nvSpPr>
          <p:cNvPr id="40" name="Shape 35"/>
          <p:cNvSpPr/>
          <p:nvPr/>
        </p:nvSpPr>
        <p:spPr>
          <a:xfrm>
            <a:off x="5257800" y="1307592"/>
            <a:ext cx="2834640" cy="274320"/>
          </a:xfrm>
          <a:prstGeom prst="roundRect">
            <a:avLst>
              <a:gd name="adj" fmla="val 16667"/>
            </a:avLst>
          </a:prstGeom>
          <a:solidFill>
            <a:srgbClr val="D7002A"/>
          </a:solidFill>
          <a:ln w="12700">
            <a:solidFill>
              <a:srgbClr val="D7002A"/>
            </a:solidFill>
            <a:prstDash val="solid"/>
          </a:ln>
        </p:spPr>
      </p:sp>
      <p:sp>
        <p:nvSpPr>
          <p:cNvPr id="41" name="Text 36"/>
          <p:cNvSpPr txBox="1"/>
          <p:nvPr/>
        </p:nvSpPr>
        <p:spPr>
          <a:xfrm>
            <a:off x="5257800" y="1307592"/>
            <a:ext cx="28346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Top 5, weighted score</a:t>
            </a:r>
            <a:endParaRPr lang="en-US" sz="1000" dirty="0"/>
          </a:p>
        </p:txBody>
      </p:sp>
      <p:graphicFrame>
        <p:nvGraphicFramePr>
          <p:cNvPr id="42" name="Chart 0" descr=""/>
          <p:cNvGraphicFramePr/>
          <p:nvPr/>
        </p:nvGraphicFramePr>
        <p:xfrm>
          <a:off x="5212080" y="1600200"/>
          <a:ext cx="2926080" cy="2468880"/>
        </p:xfrm>
        <a:graphic xmlns:a="http://schemas.openxmlformats.org/drawingml/2006/main">
          <a:graphicData uri="http://schemas.openxmlformats.org/drawingml/2006/chart">
            <c:chart xmlns:c="http://schemas.openxmlformats.org/drawingml/2006/chart" r:id="rId3"/>
          </a:graphicData>
        </a:graphic>
      </p:graphicFrame>
      <p:sp>
        <p:nvSpPr>
          <p:cNvPr id="43" name="Shape 37"/>
          <p:cNvSpPr/>
          <p:nvPr/>
        </p:nvSpPr>
        <p:spPr>
          <a:xfrm>
            <a:off x="8321040" y="1234440"/>
            <a:ext cx="3593592" cy="2880360"/>
          </a:xfrm>
          <a:prstGeom prst="roundRect">
            <a:avLst>
              <a:gd name="adj" fmla="val 2540"/>
            </a:avLst>
          </a:prstGeom>
          <a:solidFill>
            <a:srgbClr val="FFFFFF"/>
          </a:solidFill>
          <a:ln w="9525">
            <a:solidFill>
              <a:srgbClr val="E3DCD1"/>
            </a:solidFill>
            <a:prstDash val="solid"/>
          </a:ln>
        </p:spPr>
      </p:sp>
      <p:sp>
        <p:nvSpPr>
          <p:cNvPr id="44" name="Shape 38"/>
          <p:cNvSpPr/>
          <p:nvPr/>
        </p:nvSpPr>
        <p:spPr>
          <a:xfrm>
            <a:off x="8412480" y="1307592"/>
            <a:ext cx="3410712" cy="274320"/>
          </a:xfrm>
          <a:prstGeom prst="roundRect">
            <a:avLst>
              <a:gd name="adj" fmla="val 16667"/>
            </a:avLst>
          </a:prstGeom>
          <a:solidFill>
            <a:srgbClr val="121217"/>
          </a:solidFill>
          <a:ln w="12700">
            <a:solidFill>
              <a:srgbClr val="121217"/>
            </a:solidFill>
            <a:prstDash val="solid"/>
          </a:ln>
        </p:spPr>
      </p:sp>
      <p:sp>
        <p:nvSpPr>
          <p:cNvPr id="45" name="Text 39"/>
          <p:cNvSpPr txBox="1"/>
          <p:nvPr/>
        </p:nvSpPr>
        <p:spPr>
          <a:xfrm>
            <a:off x="8412480" y="1307592"/>
            <a:ext cx="341071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What makes Sajag different</a:t>
            </a:r>
            <a:endParaRPr lang="en-US" sz="1000" dirty="0"/>
          </a:p>
        </p:txBody>
      </p:sp>
      <p:sp>
        <p:nvSpPr>
          <p:cNvPr id="46" name="Text 40"/>
          <p:cNvSpPr txBox="1"/>
          <p:nvPr/>
        </p:nvSpPr>
        <p:spPr>
          <a:xfrm>
            <a:off x="8412480" y="1645920"/>
            <a:ext cx="3429000" cy="2423160"/>
          </a:xfrm>
          <a:prstGeom prst="rect">
            <a:avLst/>
          </a:prstGeom>
          <a:noFill/>
          <a:ln/>
        </p:spPr>
        <p:txBody>
          <a:bodyPr wrap="square" lIns="508" tIns="508" rIns="508" bIns="508" rtlCol="0" anchor="t"/>
          <a:lstStyle/>
          <a:p>
            <a:pPr marL="127000" indent="-127000">
              <a:spcAft>
                <a:spcPts val="300"/>
              </a:spcAft>
              <a:buSzPct val="100000"/>
              <a:buChar char="■"/>
            </a:pPr>
            <a:r>
              <a:rPr lang="en-US" sz="830" b="1" dirty="0">
                <a:solidFill>
                  <a:srgbClr val="1C1C22"/>
                </a:solidFill>
                <a:latin typeface="Arial" pitchFamily="34" charset="0"/>
                <a:ea typeface="Arial" pitchFamily="34" charset="-122"/>
                <a:cs typeface="Arial" pitchFamily="34" charset="-120"/>
              </a:rPr>
              <a:t>Multimodal: </a:t>
            </a:r>
            <a:pPr indent="0" marL="0">
              <a:spcAft>
                <a:spcPts val="300"/>
              </a:spcAft>
              <a:buNone/>
            </a:pPr>
            <a:r>
              <a:rPr lang="en-US" sz="830" dirty="0">
                <a:solidFill>
                  <a:srgbClr val="1C1C22"/>
                </a:solidFill>
                <a:latin typeface="Arial" pitchFamily="34" charset="0"/>
                <a:ea typeface="Arial" pitchFamily="34" charset="-122"/>
                <a:cs typeface="Arial" pitchFamily="34" charset="-120"/>
              </a:rPr>
              <a:t>call + screen + system fused over time, not one message at a time</a:t>
            </a:r>
            <a:endParaRPr lang="en-US" sz="830" dirty="0"/>
          </a:p>
          <a:p>
            <a:pPr marL="127000" indent="-127000">
              <a:spcAft>
                <a:spcPts val="300"/>
              </a:spcAft>
              <a:buSzPct val="100000"/>
              <a:buChar char="■"/>
            </a:pPr>
            <a:r>
              <a:rPr lang="en-US" sz="830" b="1" dirty="0">
                <a:solidFill>
                  <a:srgbClr val="1C1C22"/>
                </a:solidFill>
                <a:latin typeface="Arial" pitchFamily="34" charset="0"/>
                <a:ea typeface="Arial" pitchFamily="34" charset="-122"/>
                <a:cs typeface="Arial" pitchFamily="34" charset="-120"/>
              </a:rPr>
              <a:t>Indian languages: </a:t>
            </a:r>
            <a:pPr indent="0" marL="0">
              <a:spcAft>
                <a:spcPts val="300"/>
              </a:spcAft>
              <a:buNone/>
            </a:pPr>
            <a:r>
              <a:rPr lang="en-US" sz="830" dirty="0">
                <a:solidFill>
                  <a:srgbClr val="1C1C22"/>
                </a:solidFill>
                <a:latin typeface="Arial" pitchFamily="34" charset="0"/>
                <a:ea typeface="Arial" pitchFamily="34" charset="-122"/>
                <a:cs typeface="Arial" pitchFamily="34" charset="-120"/>
              </a:rPr>
              <a:t>Hindi, English, Hinglish cues in Devanagari and Latin script</a:t>
            </a:r>
            <a:endParaRPr lang="en-US" sz="830" dirty="0"/>
          </a:p>
          <a:p>
            <a:pPr marL="127000" indent="-127000">
              <a:spcAft>
                <a:spcPts val="300"/>
              </a:spcAft>
              <a:buSzPct val="100000"/>
              <a:buChar char="■"/>
            </a:pPr>
            <a:r>
              <a:rPr lang="en-US" sz="830" b="1" dirty="0">
                <a:solidFill>
                  <a:srgbClr val="1C1C22"/>
                </a:solidFill>
                <a:latin typeface="Arial" pitchFamily="34" charset="0"/>
                <a:ea typeface="Arial" pitchFamily="34" charset="-122"/>
                <a:cs typeface="Arial" pitchFamily="34" charset="-120"/>
              </a:rPr>
              <a:t>PC-native: </a:t>
            </a:r>
            <a:pPr indent="0" marL="0">
              <a:spcAft>
                <a:spcPts val="300"/>
              </a:spcAft>
              <a:buNone/>
            </a:pPr>
            <a:r>
              <a:rPr lang="en-US" sz="830" dirty="0">
                <a:solidFill>
                  <a:srgbClr val="1C1C22"/>
                </a:solidFill>
                <a:latin typeface="Arial" pitchFamily="34" charset="0"/>
                <a:ea typeface="Arial" pitchFamily="34" charset="-122"/>
                <a:cs typeface="Arial" pitchFamily="34" charset="-120"/>
              </a:rPr>
              <a:t>works with any call app via audio loopback, no integration needed</a:t>
            </a:r>
            <a:endParaRPr lang="en-US" sz="830" dirty="0"/>
          </a:p>
          <a:p>
            <a:pPr marL="127000" indent="-127000">
              <a:spcAft>
                <a:spcPts val="300"/>
              </a:spcAft>
              <a:buSzPct val="100000"/>
              <a:buChar char="■"/>
            </a:pPr>
            <a:r>
              <a:rPr lang="en-US" sz="830" b="1" dirty="0">
                <a:solidFill>
                  <a:srgbClr val="1C1C22"/>
                </a:solidFill>
                <a:latin typeface="Arial" pitchFamily="34" charset="0"/>
                <a:ea typeface="Arial" pitchFamily="34" charset="-122"/>
                <a:cs typeface="Arial" pitchFamily="34" charset="-120"/>
              </a:rPr>
              <a:t>Private by construction: </a:t>
            </a:r>
            <a:pPr indent="0" marL="0">
              <a:spcAft>
                <a:spcPts val="300"/>
              </a:spcAft>
              <a:buNone/>
            </a:pPr>
            <a:r>
              <a:rPr lang="en-US" sz="830" dirty="0">
                <a:solidFill>
                  <a:srgbClr val="1C1C22"/>
                </a:solidFill>
                <a:latin typeface="Arial" pitchFamily="34" charset="0"/>
                <a:ea typeface="Arial" pitchFamily="34" charset="-122"/>
                <a:cs typeface="Arial" pitchFamily="34" charset="-120"/>
              </a:rPr>
              <a:t>nothing stored, nothing uploaded</a:t>
            </a:r>
            <a:endParaRPr lang="en-US" sz="830" dirty="0"/>
          </a:p>
          <a:p>
            <a:pPr marL="127000" indent="-127000">
              <a:spcAft>
                <a:spcPts val="300"/>
              </a:spcAft>
              <a:buSzPct val="100000"/>
              <a:buChar char="■"/>
            </a:pPr>
            <a:r>
              <a:rPr lang="en-US" sz="830" b="1" dirty="0">
                <a:solidFill>
                  <a:srgbClr val="1C1C22"/>
                </a:solidFill>
                <a:latin typeface="Arial" pitchFamily="34" charset="0"/>
                <a:ea typeface="Arial" pitchFamily="34" charset="-122"/>
                <a:cs typeface="Arial" pitchFamily="34" charset="-120"/>
              </a:rPr>
              <a:t>Explainable: </a:t>
            </a:r>
            <a:pPr indent="0" marL="0">
              <a:spcAft>
                <a:spcPts val="300"/>
              </a:spcAft>
              <a:buNone/>
            </a:pPr>
            <a:r>
              <a:rPr lang="en-US" sz="830" dirty="0">
                <a:solidFill>
                  <a:srgbClr val="1C1C22"/>
                </a:solidFill>
                <a:latin typeface="Arial" pitchFamily="34" charset="0"/>
                <a:ea typeface="Arial" pitchFamily="34" charset="-122"/>
                <a:cs typeface="Arial" pitchFamily="34" charset="-120"/>
              </a:rPr>
              <a:t>every alert cites the phrase and the source</a:t>
            </a:r>
            <a:endParaRPr lang="en-US" sz="830" dirty="0"/>
          </a:p>
          <a:p>
            <a:pPr marL="127000" indent="-127000">
              <a:spcAft>
                <a:spcPts val="300"/>
              </a:spcAft>
              <a:buSzPct val="100000"/>
              <a:buChar char="■"/>
            </a:pPr>
            <a:r>
              <a:rPr lang="en-US" sz="830" b="1" dirty="0">
                <a:solidFill>
                  <a:srgbClr val="1C1C22"/>
                </a:solidFill>
                <a:latin typeface="Arial" pitchFamily="34" charset="0"/>
                <a:ea typeface="Arial" pitchFamily="34" charset="-122"/>
                <a:cs typeface="Arial" pitchFamily="34" charset="-120"/>
              </a:rPr>
              <a:t>Measurable: </a:t>
            </a:r>
            <a:pPr indent="0" marL="0">
              <a:spcAft>
                <a:spcPts val="300"/>
              </a:spcAft>
              <a:buNone/>
            </a:pPr>
            <a:r>
              <a:rPr lang="en-US" sz="830" dirty="0">
                <a:solidFill>
                  <a:srgbClr val="1C1C22"/>
                </a:solidFill>
                <a:latin typeface="Arial" pitchFamily="34" charset="0"/>
                <a:ea typeface="Arial" pitchFamily="34" charset="-122"/>
                <a:cs typeface="Arial" pitchFamily="34" charset="-120"/>
              </a:rPr>
              <a:t>27 tests, reproducible evaluation, on-device bench command</a:t>
            </a:r>
            <a:endParaRPr lang="en-US" sz="830" dirty="0"/>
          </a:p>
          <a:p>
            <a:pPr marL="127000" indent="-127000">
              <a:spcAft>
                <a:spcPts val="300"/>
              </a:spcAft>
              <a:buSzPct val="100000"/>
              <a:buChar char="■"/>
            </a:pPr>
            <a:r>
              <a:rPr lang="en-US" sz="830" b="1" dirty="0">
                <a:solidFill>
                  <a:srgbClr val="1C1C22"/>
                </a:solidFill>
                <a:latin typeface="Arial" pitchFamily="34" charset="0"/>
                <a:ea typeface="Arial" pitchFamily="34" charset="-122"/>
                <a:cs typeface="Arial" pitchFamily="34" charset="-120"/>
              </a:rPr>
              <a:t>Portable: </a:t>
            </a:r>
            <a:pPr indent="0" marL="0">
              <a:spcAft>
                <a:spcPts val="300"/>
              </a:spcAft>
              <a:buNone/>
            </a:pPr>
            <a:r>
              <a:rPr lang="en-US" sz="830" dirty="0">
                <a:solidFill>
                  <a:srgbClr val="1C1C22"/>
                </a:solidFill>
                <a:latin typeface="Arial" pitchFamily="34" charset="0"/>
                <a:ea typeface="Arial" pitchFamily="34" charset="-122"/>
                <a:cs typeface="Arial" pitchFamily="34" charset="-120"/>
              </a:rPr>
              <a:t>the same AI Hub models run on Snapdragon phones</a:t>
            </a:r>
            <a:endParaRPr lang="en-US" sz="830" dirty="0"/>
          </a:p>
        </p:txBody>
      </p:sp>
      <p:sp>
        <p:nvSpPr>
          <p:cNvPr id="47" name="Shape 41"/>
          <p:cNvSpPr/>
          <p:nvPr/>
        </p:nvSpPr>
        <p:spPr>
          <a:xfrm>
            <a:off x="274320" y="4251960"/>
            <a:ext cx="11640312" cy="2258568"/>
          </a:xfrm>
          <a:prstGeom prst="roundRect">
            <a:avLst>
              <a:gd name="adj" fmla="val 3239"/>
            </a:avLst>
          </a:prstGeom>
          <a:solidFill>
            <a:srgbClr val="FFFFFF"/>
          </a:solidFill>
          <a:ln w="9525">
            <a:solidFill>
              <a:srgbClr val="E3DCD1"/>
            </a:solidFill>
            <a:prstDash val="solid"/>
          </a:ln>
        </p:spPr>
      </p:sp>
      <p:sp>
        <p:nvSpPr>
          <p:cNvPr id="48" name="Shape 42"/>
          <p:cNvSpPr/>
          <p:nvPr/>
        </p:nvSpPr>
        <p:spPr>
          <a:xfrm>
            <a:off x="365760" y="4325112"/>
            <a:ext cx="11457432" cy="274320"/>
          </a:xfrm>
          <a:prstGeom prst="roundRect">
            <a:avLst>
              <a:gd name="adj" fmla="val 16667"/>
            </a:avLst>
          </a:prstGeom>
          <a:solidFill>
            <a:srgbClr val="121217"/>
          </a:solidFill>
          <a:ln w="12700">
            <a:solidFill>
              <a:srgbClr val="121217"/>
            </a:solidFill>
            <a:prstDash val="solid"/>
          </a:ln>
        </p:spPr>
      </p:sp>
      <p:sp>
        <p:nvSpPr>
          <p:cNvPr id="49" name="Text 43"/>
          <p:cNvSpPr txBox="1"/>
          <p:nvPr/>
        </p:nvSpPr>
        <p:spPr>
          <a:xfrm>
            <a:off x="365760" y="4325112"/>
            <a:ext cx="1145743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Benchmark against what exists today (public documentation, Sept 2026)</a:t>
            </a:r>
            <a:endParaRPr lang="en-US" sz="10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365760" y="4617720"/>
          <a:ext cx="11457432" cy="914400"/>
        </p:xfrm>
        <a:graphic>
          <a:graphicData uri="http://schemas.openxmlformats.org/drawingml/2006/table">
            <a:tbl>
              <a:tblPr/>
              <a:tblGrid>
                <a:gridCol w="3108960"/>
                <a:gridCol w="1280160"/>
                <a:gridCol w="1463040"/>
                <a:gridCol w="1737360"/>
                <a:gridCol w="1325880"/>
                <a:gridCol w="1280160"/>
                <a:gridCol w="1261872"/>
              </a:tblGrid>
              <a:tr h="228600">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Capability</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Sajag AI</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Edge Scareware blocker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Google on-device scam detection</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Caller-ID / spam apps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Bank SMS &amp; awareness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Sanchar Saathi / 1930</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22860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Acts during the scam, in real time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2860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Understands call audio (Hindi / Hinglish)</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2860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Reads any screen / app, not only the browser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2860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Detects remote-access tools during a call</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2860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Runs fully on-device, no upload</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n/a</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n/a</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2860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Works on Windows PCs (WhatsApp, Teams, Skype, Zoom)</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2860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Explains why, in the user's language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bl>
          </a:graphicData>
        </a:graphic>
      </p:graphicFrame>
      <p:sp>
        <p:nvSpPr>
          <p:cNvPr id="51" name="Text 44"/>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D7002A"/>
          </a:solidFill>
          <a:ln w="6350">
            <a:solidFill>
              <a:srgbClr val="D7002A"/>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Sajag in action: a digital-arrest call, second by second</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Replayed by `python -m sajag demo digital_arrest` (real OCR, real risk engine)</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4663440" cy="5276088"/>
          </a:xfrm>
          <a:prstGeom prst="roundRect">
            <a:avLst>
              <a:gd name="adj" fmla="val 1569"/>
            </a:avLst>
          </a:prstGeom>
          <a:solidFill>
            <a:srgbClr val="FFFFFF"/>
          </a:solidFill>
          <a:ln w="9525">
            <a:solidFill>
              <a:srgbClr val="E3DCD1"/>
            </a:solidFill>
            <a:prstDash val="solid"/>
          </a:ln>
        </p:spPr>
      </p:sp>
      <p:sp>
        <p:nvSpPr>
          <p:cNvPr id="35" name="Shape 31"/>
          <p:cNvSpPr/>
          <p:nvPr/>
        </p:nvSpPr>
        <p:spPr>
          <a:xfrm>
            <a:off x="365760" y="1307592"/>
            <a:ext cx="4480560" cy="274320"/>
          </a:xfrm>
          <a:prstGeom prst="roundRect">
            <a:avLst>
              <a:gd name="adj" fmla="val 16667"/>
            </a:avLst>
          </a:prstGeom>
          <a:solidFill>
            <a:srgbClr val="121217"/>
          </a:solidFill>
          <a:ln w="12700">
            <a:solidFill>
              <a:srgbClr val="121217"/>
            </a:solidFill>
            <a:prstDash val="solid"/>
          </a:ln>
        </p:spPr>
      </p:sp>
      <p:sp>
        <p:nvSpPr>
          <p:cNvPr id="36" name="Text 32"/>
          <p:cNvSpPr txBox="1"/>
          <p:nvPr/>
        </p:nvSpPr>
        <p:spPr>
          <a:xfrm>
            <a:off x="365760" y="1307592"/>
            <a:ext cx="4480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Timeline</a:t>
            </a:r>
            <a:endParaRPr lang="en-US" sz="1000" dirty="0"/>
          </a:p>
        </p:txBody>
      </p:sp>
      <p:sp>
        <p:nvSpPr>
          <p:cNvPr id="37" name="Shape 33"/>
          <p:cNvSpPr/>
          <p:nvPr/>
        </p:nvSpPr>
        <p:spPr>
          <a:xfrm>
            <a:off x="411480" y="1737360"/>
            <a:ext cx="182880" cy="182880"/>
          </a:xfrm>
          <a:prstGeom prst="ellipse">
            <a:avLst/>
          </a:prstGeom>
          <a:solidFill>
            <a:srgbClr val="1E9E57"/>
          </a:solidFill>
          <a:ln w="12700">
            <a:solidFill>
              <a:srgbClr val="1E9E57"/>
            </a:solidFill>
            <a:prstDash val="solid"/>
          </a:ln>
        </p:spPr>
      </p:sp>
      <p:sp>
        <p:nvSpPr>
          <p:cNvPr id="38" name="Shape 34"/>
          <p:cNvSpPr/>
          <p:nvPr/>
        </p:nvSpPr>
        <p:spPr>
          <a:xfrm>
            <a:off x="502920" y="1938528"/>
            <a:ext cx="0" cy="566928"/>
          </a:xfrm>
          <a:prstGeom prst="line">
            <a:avLst/>
          </a:prstGeom>
          <a:noFill/>
          <a:ln w="19050">
            <a:solidFill>
              <a:srgbClr val="E3DCD1"/>
            </a:solidFill>
            <a:prstDash val="solid"/>
          </a:ln>
        </p:spPr>
      </p:sp>
      <p:sp>
        <p:nvSpPr>
          <p:cNvPr id="39" name="Text 35"/>
          <p:cNvSpPr txBox="1"/>
          <p:nvPr/>
        </p:nvSpPr>
        <p:spPr>
          <a:xfrm>
            <a:off x="685800" y="1664208"/>
            <a:ext cx="502920" cy="2743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t=0s</a:t>
            </a:r>
            <a:endParaRPr lang="en-US" sz="850" dirty="0"/>
          </a:p>
        </p:txBody>
      </p:sp>
      <p:sp>
        <p:nvSpPr>
          <p:cNvPr id="40" name="Text 36"/>
          <p:cNvSpPr txBox="1"/>
          <p:nvPr/>
        </p:nvSpPr>
        <p:spPr>
          <a:xfrm>
            <a:off x="1188720" y="1664208"/>
            <a:ext cx="2514600" cy="731520"/>
          </a:xfrm>
          <a:prstGeom prst="rect">
            <a:avLst/>
          </a:prstGeom>
          <a:noFill/>
          <a:ln/>
        </p:spPr>
        <p:txBody>
          <a:bodyPr wrap="square" lIns="508" tIns="508" rIns="508" bIns="508" rtlCol="0" anchor="t"/>
          <a:lstStyle/>
          <a:p>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WhatsApp video call starts. System sentinel marks a live call.</a:t>
            </a:r>
            <a:endParaRPr lang="en-US" sz="830" dirty="0"/>
          </a:p>
        </p:txBody>
      </p:sp>
      <p:sp>
        <p:nvSpPr>
          <p:cNvPr id="41" name="Shape 37"/>
          <p:cNvSpPr/>
          <p:nvPr/>
        </p:nvSpPr>
        <p:spPr>
          <a:xfrm>
            <a:off x="3767328" y="1682496"/>
            <a:ext cx="1078992" cy="274320"/>
          </a:xfrm>
          <a:prstGeom prst="roundRect">
            <a:avLst>
              <a:gd name="adj" fmla="val 16667"/>
            </a:avLst>
          </a:prstGeom>
          <a:solidFill>
            <a:srgbClr val="1E9E57"/>
          </a:solidFill>
          <a:ln w="12700">
            <a:solidFill>
              <a:srgbClr val="1E9E57"/>
            </a:solidFill>
            <a:prstDash val="solid"/>
          </a:ln>
        </p:spPr>
      </p:sp>
      <p:sp>
        <p:nvSpPr>
          <p:cNvPr id="42" name="Text 38"/>
          <p:cNvSpPr txBox="1"/>
          <p:nvPr/>
        </p:nvSpPr>
        <p:spPr>
          <a:xfrm>
            <a:off x="3767328" y="1682496"/>
            <a:ext cx="1078992" cy="274320"/>
          </a:xfrm>
          <a:prstGeom prst="rect">
            <a:avLst/>
          </a:prstGeom>
          <a:noFill/>
          <a:ln/>
        </p:spPr>
        <p:txBody>
          <a:bodyPr wrap="square" lIns="0" tIns="0" rIns="0" bIns="0" rtlCol="0" anchor="ctr"/>
          <a:lstStyle/>
          <a:p>
            <a:pPr algn="ctr" indent="0" marL="0">
              <a:lnSpc>
                <a:spcPct val="100000"/>
              </a:lnSpc>
              <a:spcAft>
                <a:spcPts val="200"/>
              </a:spcAft>
              <a:buNone/>
            </a:pPr>
            <a:r>
              <a:rPr lang="en-US" sz="750" b="1" dirty="0">
                <a:solidFill>
                  <a:srgbClr val="FFFFFF"/>
                </a:solidFill>
                <a:latin typeface="Arial" pitchFamily="34" charset="0"/>
                <a:ea typeface="Arial" pitchFamily="34" charset="-122"/>
                <a:cs typeface="Arial" pitchFamily="34" charset="-120"/>
              </a:rPr>
              <a:t>SAFE</a:t>
            </a:r>
            <a:endParaRPr lang="en-US" sz="750" dirty="0"/>
          </a:p>
        </p:txBody>
      </p:sp>
      <p:sp>
        <p:nvSpPr>
          <p:cNvPr id="43" name="Shape 39"/>
          <p:cNvSpPr/>
          <p:nvPr/>
        </p:nvSpPr>
        <p:spPr>
          <a:xfrm>
            <a:off x="411480" y="2523744"/>
            <a:ext cx="182880" cy="182880"/>
          </a:xfrm>
          <a:prstGeom prst="ellipse">
            <a:avLst/>
          </a:prstGeom>
          <a:solidFill>
            <a:srgbClr val="1E9E57"/>
          </a:solidFill>
          <a:ln w="12700">
            <a:solidFill>
              <a:srgbClr val="1E9E57"/>
            </a:solidFill>
            <a:prstDash val="solid"/>
          </a:ln>
        </p:spPr>
      </p:sp>
      <p:sp>
        <p:nvSpPr>
          <p:cNvPr id="44" name="Shape 40"/>
          <p:cNvSpPr/>
          <p:nvPr/>
        </p:nvSpPr>
        <p:spPr>
          <a:xfrm>
            <a:off x="502920" y="2724912"/>
            <a:ext cx="0" cy="566928"/>
          </a:xfrm>
          <a:prstGeom prst="line">
            <a:avLst/>
          </a:prstGeom>
          <a:noFill/>
          <a:ln w="19050">
            <a:solidFill>
              <a:srgbClr val="E3DCD1"/>
            </a:solidFill>
            <a:prstDash val="solid"/>
          </a:ln>
        </p:spPr>
      </p:sp>
      <p:sp>
        <p:nvSpPr>
          <p:cNvPr id="45" name="Text 41"/>
          <p:cNvSpPr txBox="1"/>
          <p:nvPr/>
        </p:nvSpPr>
        <p:spPr>
          <a:xfrm>
            <a:off x="685800" y="2450592"/>
            <a:ext cx="502920" cy="2743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t=4s</a:t>
            </a:r>
            <a:endParaRPr lang="en-US" sz="850" dirty="0"/>
          </a:p>
        </p:txBody>
      </p:sp>
      <p:sp>
        <p:nvSpPr>
          <p:cNvPr id="46" name="Text 42"/>
          <p:cNvSpPr txBox="1"/>
          <p:nvPr/>
        </p:nvSpPr>
        <p:spPr>
          <a:xfrm>
            <a:off x="1188720" y="2450592"/>
            <a:ext cx="2514600" cy="731520"/>
          </a:xfrm>
          <a:prstGeom prst="rect">
            <a:avLst/>
          </a:prstGeom>
          <a:noFill/>
          <a:ln/>
        </p:spPr>
        <p:txBody>
          <a:bodyPr wrap="square" lIns="508" tIns="508" rIns="508" bIns="508" rtlCol="0" anchor="t"/>
          <a:lstStyle/>
          <a:p>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'Main Mumbai police cyber crime se Inspector bol raha hoon' (Whisper, Hinglish)</a:t>
            </a:r>
            <a:endParaRPr lang="en-US" sz="830" dirty="0"/>
          </a:p>
        </p:txBody>
      </p:sp>
      <p:sp>
        <p:nvSpPr>
          <p:cNvPr id="47" name="Shape 43"/>
          <p:cNvSpPr/>
          <p:nvPr/>
        </p:nvSpPr>
        <p:spPr>
          <a:xfrm>
            <a:off x="3767328" y="2468880"/>
            <a:ext cx="1078992" cy="274320"/>
          </a:xfrm>
          <a:prstGeom prst="roundRect">
            <a:avLst>
              <a:gd name="adj" fmla="val 16667"/>
            </a:avLst>
          </a:prstGeom>
          <a:solidFill>
            <a:srgbClr val="1E9E57"/>
          </a:solidFill>
          <a:ln w="12700">
            <a:solidFill>
              <a:srgbClr val="1E9E57"/>
            </a:solidFill>
            <a:prstDash val="solid"/>
          </a:ln>
        </p:spPr>
      </p:sp>
      <p:sp>
        <p:nvSpPr>
          <p:cNvPr id="48" name="Text 44"/>
          <p:cNvSpPr txBox="1"/>
          <p:nvPr/>
        </p:nvSpPr>
        <p:spPr>
          <a:xfrm>
            <a:off x="3767328" y="2468880"/>
            <a:ext cx="1078992" cy="274320"/>
          </a:xfrm>
          <a:prstGeom prst="rect">
            <a:avLst/>
          </a:prstGeom>
          <a:noFill/>
          <a:ln/>
        </p:spPr>
        <p:txBody>
          <a:bodyPr wrap="square" lIns="0" tIns="0" rIns="0" bIns="0" rtlCol="0" anchor="ctr"/>
          <a:lstStyle/>
          <a:p>
            <a:pPr algn="ctr" indent="0" marL="0">
              <a:lnSpc>
                <a:spcPct val="100000"/>
              </a:lnSpc>
              <a:spcAft>
                <a:spcPts val="200"/>
              </a:spcAft>
              <a:buNone/>
            </a:pPr>
            <a:r>
              <a:rPr lang="en-US" sz="750" b="1" dirty="0">
                <a:solidFill>
                  <a:srgbClr val="FFFFFF"/>
                </a:solidFill>
                <a:latin typeface="Arial" pitchFamily="34" charset="0"/>
                <a:ea typeface="Arial" pitchFamily="34" charset="-122"/>
                <a:cs typeface="Arial" pitchFamily="34" charset="-120"/>
              </a:rPr>
              <a:t>SAFE 13%</a:t>
            </a:r>
            <a:endParaRPr lang="en-US" sz="750" dirty="0"/>
          </a:p>
        </p:txBody>
      </p:sp>
      <p:sp>
        <p:nvSpPr>
          <p:cNvPr id="49" name="Shape 45"/>
          <p:cNvSpPr/>
          <p:nvPr/>
        </p:nvSpPr>
        <p:spPr>
          <a:xfrm>
            <a:off x="411480" y="3310128"/>
            <a:ext cx="182880" cy="182880"/>
          </a:xfrm>
          <a:prstGeom prst="ellipse">
            <a:avLst/>
          </a:prstGeom>
          <a:solidFill>
            <a:srgbClr val="C9A400"/>
          </a:solidFill>
          <a:ln w="12700">
            <a:solidFill>
              <a:srgbClr val="C9A400"/>
            </a:solidFill>
            <a:prstDash val="solid"/>
          </a:ln>
        </p:spPr>
      </p:sp>
      <p:sp>
        <p:nvSpPr>
          <p:cNvPr id="50" name="Shape 46"/>
          <p:cNvSpPr/>
          <p:nvPr/>
        </p:nvSpPr>
        <p:spPr>
          <a:xfrm>
            <a:off x="502920" y="3511296"/>
            <a:ext cx="0" cy="566928"/>
          </a:xfrm>
          <a:prstGeom prst="line">
            <a:avLst/>
          </a:prstGeom>
          <a:noFill/>
          <a:ln w="19050">
            <a:solidFill>
              <a:srgbClr val="E3DCD1"/>
            </a:solidFill>
            <a:prstDash val="solid"/>
          </a:ln>
        </p:spPr>
      </p:sp>
      <p:sp>
        <p:nvSpPr>
          <p:cNvPr id="51" name="Text 47"/>
          <p:cNvSpPr txBox="1"/>
          <p:nvPr/>
        </p:nvSpPr>
        <p:spPr>
          <a:xfrm>
            <a:off x="685800" y="3236976"/>
            <a:ext cx="502920" cy="2743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t=12s</a:t>
            </a:r>
            <a:endParaRPr lang="en-US" sz="850" dirty="0"/>
          </a:p>
        </p:txBody>
      </p:sp>
      <p:sp>
        <p:nvSpPr>
          <p:cNvPr id="52" name="Text 48"/>
          <p:cNvSpPr txBox="1"/>
          <p:nvPr/>
        </p:nvSpPr>
        <p:spPr>
          <a:xfrm>
            <a:off x="1188720" y="3236976"/>
            <a:ext cx="2514600" cy="731520"/>
          </a:xfrm>
          <a:prstGeom prst="rect">
            <a:avLst/>
          </a:prstGeom>
          <a:noFill/>
          <a:ln/>
        </p:spPr>
        <p:txBody>
          <a:bodyPr wrap="square" lIns="508" tIns="508" rIns="508" bIns="508" rtlCol="0" anchor="t"/>
          <a:lstStyle/>
          <a:p>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'Aapke naam se FedEx parcel mein drugs mile hain'</a:t>
            </a:r>
            <a:endParaRPr lang="en-US" sz="830" dirty="0"/>
          </a:p>
        </p:txBody>
      </p:sp>
      <p:sp>
        <p:nvSpPr>
          <p:cNvPr id="53" name="Shape 49"/>
          <p:cNvSpPr/>
          <p:nvPr/>
        </p:nvSpPr>
        <p:spPr>
          <a:xfrm>
            <a:off x="3767328" y="3255264"/>
            <a:ext cx="1078992" cy="274320"/>
          </a:xfrm>
          <a:prstGeom prst="roundRect">
            <a:avLst>
              <a:gd name="adj" fmla="val 16667"/>
            </a:avLst>
          </a:prstGeom>
          <a:solidFill>
            <a:srgbClr val="C9A400"/>
          </a:solidFill>
          <a:ln w="12700">
            <a:solidFill>
              <a:srgbClr val="C9A400"/>
            </a:solidFill>
            <a:prstDash val="solid"/>
          </a:ln>
        </p:spPr>
      </p:sp>
      <p:sp>
        <p:nvSpPr>
          <p:cNvPr id="54" name="Text 50"/>
          <p:cNvSpPr txBox="1"/>
          <p:nvPr/>
        </p:nvSpPr>
        <p:spPr>
          <a:xfrm>
            <a:off x="3767328" y="3255264"/>
            <a:ext cx="1078992" cy="274320"/>
          </a:xfrm>
          <a:prstGeom prst="rect">
            <a:avLst/>
          </a:prstGeom>
          <a:noFill/>
          <a:ln/>
        </p:spPr>
        <p:txBody>
          <a:bodyPr wrap="square" lIns="0" tIns="0" rIns="0" bIns="0" rtlCol="0" anchor="ctr"/>
          <a:lstStyle/>
          <a:p>
            <a:pPr algn="ctr" indent="0" marL="0">
              <a:lnSpc>
                <a:spcPct val="100000"/>
              </a:lnSpc>
              <a:spcAft>
                <a:spcPts val="200"/>
              </a:spcAft>
              <a:buNone/>
            </a:pPr>
            <a:r>
              <a:rPr lang="en-US" sz="750" b="1" dirty="0">
                <a:solidFill>
                  <a:srgbClr val="FFFFFF"/>
                </a:solidFill>
                <a:latin typeface="Arial" pitchFamily="34" charset="0"/>
                <a:ea typeface="Arial" pitchFamily="34" charset="-122"/>
                <a:cs typeface="Arial" pitchFamily="34" charset="-120"/>
              </a:rPr>
              <a:t>CAUTION 46%</a:t>
            </a:r>
            <a:endParaRPr lang="en-US" sz="750" dirty="0"/>
          </a:p>
        </p:txBody>
      </p:sp>
      <p:sp>
        <p:nvSpPr>
          <p:cNvPr id="55" name="Shape 51"/>
          <p:cNvSpPr/>
          <p:nvPr/>
        </p:nvSpPr>
        <p:spPr>
          <a:xfrm>
            <a:off x="411480" y="4096512"/>
            <a:ext cx="182880" cy="182880"/>
          </a:xfrm>
          <a:prstGeom prst="ellipse">
            <a:avLst/>
          </a:prstGeom>
          <a:solidFill>
            <a:srgbClr val="E08A00"/>
          </a:solidFill>
          <a:ln w="12700">
            <a:solidFill>
              <a:srgbClr val="E08A00"/>
            </a:solidFill>
            <a:prstDash val="solid"/>
          </a:ln>
        </p:spPr>
      </p:sp>
      <p:sp>
        <p:nvSpPr>
          <p:cNvPr id="56" name="Shape 52"/>
          <p:cNvSpPr/>
          <p:nvPr/>
        </p:nvSpPr>
        <p:spPr>
          <a:xfrm>
            <a:off x="502920" y="4297680"/>
            <a:ext cx="0" cy="566928"/>
          </a:xfrm>
          <a:prstGeom prst="line">
            <a:avLst/>
          </a:prstGeom>
          <a:noFill/>
          <a:ln w="19050">
            <a:solidFill>
              <a:srgbClr val="E3DCD1"/>
            </a:solidFill>
            <a:prstDash val="solid"/>
          </a:ln>
        </p:spPr>
      </p:sp>
      <p:sp>
        <p:nvSpPr>
          <p:cNvPr id="57" name="Text 53"/>
          <p:cNvSpPr txBox="1"/>
          <p:nvPr/>
        </p:nvSpPr>
        <p:spPr>
          <a:xfrm>
            <a:off x="685800" y="4023360"/>
            <a:ext cx="502920" cy="2743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t=20s</a:t>
            </a:r>
            <a:endParaRPr lang="en-US" sz="850" dirty="0"/>
          </a:p>
        </p:txBody>
      </p:sp>
      <p:sp>
        <p:nvSpPr>
          <p:cNvPr id="58" name="Text 54"/>
          <p:cNvSpPr txBox="1"/>
          <p:nvPr/>
        </p:nvSpPr>
        <p:spPr>
          <a:xfrm>
            <a:off x="1188720" y="4023360"/>
            <a:ext cx="2514600" cy="731520"/>
          </a:xfrm>
          <a:prstGeom prst="rect">
            <a:avLst/>
          </a:prstGeom>
          <a:noFill/>
          <a:ln/>
        </p:spPr>
        <p:txBody>
          <a:bodyPr wrap="square" lIns="508" tIns="508" rIns="508" bIns="508" rtlCol="0" anchor="t"/>
          <a:lstStyle/>
          <a:p>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'Aadhaar used in money laundering, arrest warrant issued'</a:t>
            </a:r>
            <a:endParaRPr lang="en-US" sz="830" dirty="0"/>
          </a:p>
        </p:txBody>
      </p:sp>
      <p:sp>
        <p:nvSpPr>
          <p:cNvPr id="59" name="Shape 55"/>
          <p:cNvSpPr/>
          <p:nvPr/>
        </p:nvSpPr>
        <p:spPr>
          <a:xfrm>
            <a:off x="3767328" y="4041648"/>
            <a:ext cx="1078992" cy="274320"/>
          </a:xfrm>
          <a:prstGeom prst="roundRect">
            <a:avLst>
              <a:gd name="adj" fmla="val 16667"/>
            </a:avLst>
          </a:prstGeom>
          <a:solidFill>
            <a:srgbClr val="E08A00"/>
          </a:solidFill>
          <a:ln w="12700">
            <a:solidFill>
              <a:srgbClr val="E08A00"/>
            </a:solidFill>
            <a:prstDash val="solid"/>
          </a:ln>
        </p:spPr>
      </p:sp>
      <p:sp>
        <p:nvSpPr>
          <p:cNvPr id="60" name="Text 56"/>
          <p:cNvSpPr txBox="1"/>
          <p:nvPr/>
        </p:nvSpPr>
        <p:spPr>
          <a:xfrm>
            <a:off x="3767328" y="4041648"/>
            <a:ext cx="1078992" cy="274320"/>
          </a:xfrm>
          <a:prstGeom prst="rect">
            <a:avLst/>
          </a:prstGeom>
          <a:noFill/>
          <a:ln/>
        </p:spPr>
        <p:txBody>
          <a:bodyPr wrap="square" lIns="0" tIns="0" rIns="0" bIns="0" rtlCol="0" anchor="ctr"/>
          <a:lstStyle/>
          <a:p>
            <a:pPr algn="ctr" indent="0" marL="0">
              <a:lnSpc>
                <a:spcPct val="100000"/>
              </a:lnSpc>
              <a:spcAft>
                <a:spcPts val="200"/>
              </a:spcAft>
              <a:buNone/>
            </a:pPr>
            <a:r>
              <a:rPr lang="en-US" sz="750" b="1" dirty="0">
                <a:solidFill>
                  <a:srgbClr val="FFFFFF"/>
                </a:solidFill>
                <a:latin typeface="Arial" pitchFamily="34" charset="0"/>
                <a:ea typeface="Arial" pitchFamily="34" charset="-122"/>
                <a:cs typeface="Arial" pitchFamily="34" charset="-120"/>
              </a:rPr>
              <a:t>WARNING 61%</a:t>
            </a:r>
            <a:endParaRPr lang="en-US" sz="750" dirty="0"/>
          </a:p>
        </p:txBody>
      </p:sp>
      <p:sp>
        <p:nvSpPr>
          <p:cNvPr id="61" name="Shape 57"/>
          <p:cNvSpPr/>
          <p:nvPr/>
        </p:nvSpPr>
        <p:spPr>
          <a:xfrm>
            <a:off x="411480" y="4882896"/>
            <a:ext cx="182880" cy="182880"/>
          </a:xfrm>
          <a:prstGeom prst="ellipse">
            <a:avLst/>
          </a:prstGeom>
          <a:solidFill>
            <a:srgbClr val="D7002A"/>
          </a:solidFill>
          <a:ln w="12700">
            <a:solidFill>
              <a:srgbClr val="D7002A"/>
            </a:solidFill>
            <a:prstDash val="solid"/>
          </a:ln>
        </p:spPr>
      </p:sp>
      <p:sp>
        <p:nvSpPr>
          <p:cNvPr id="62" name="Shape 58"/>
          <p:cNvSpPr/>
          <p:nvPr/>
        </p:nvSpPr>
        <p:spPr>
          <a:xfrm>
            <a:off x="502920" y="5084064"/>
            <a:ext cx="0" cy="566928"/>
          </a:xfrm>
          <a:prstGeom prst="line">
            <a:avLst/>
          </a:prstGeom>
          <a:noFill/>
          <a:ln w="19050">
            <a:solidFill>
              <a:srgbClr val="E3DCD1"/>
            </a:solidFill>
            <a:prstDash val="solid"/>
          </a:ln>
        </p:spPr>
      </p:sp>
      <p:sp>
        <p:nvSpPr>
          <p:cNvPr id="63" name="Text 59"/>
          <p:cNvSpPr txBox="1"/>
          <p:nvPr/>
        </p:nvSpPr>
        <p:spPr>
          <a:xfrm>
            <a:off x="685800" y="4809744"/>
            <a:ext cx="502920" cy="2743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t=26s</a:t>
            </a:r>
            <a:endParaRPr lang="en-US" sz="850" dirty="0"/>
          </a:p>
        </p:txBody>
      </p:sp>
      <p:sp>
        <p:nvSpPr>
          <p:cNvPr id="64" name="Text 60"/>
          <p:cNvSpPr txBox="1"/>
          <p:nvPr/>
        </p:nvSpPr>
        <p:spPr>
          <a:xfrm>
            <a:off x="1188720" y="4809744"/>
            <a:ext cx="2514600" cy="731520"/>
          </a:xfrm>
          <a:prstGeom prst="rect">
            <a:avLst/>
          </a:prstGeom>
          <a:noFill/>
          <a:ln/>
        </p:spPr>
        <p:txBody>
          <a:bodyPr wrap="square" lIns="508" tIns="508" rIns="508" bIns="508" rtlCol="0" anchor="t"/>
          <a:lstStyle/>
          <a:p>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Fake CBI warrant appears on screen. NPU OCR reads 'digital arrest', 'do not tell anyone'</a:t>
            </a:r>
            <a:endParaRPr lang="en-US" sz="830" dirty="0"/>
          </a:p>
        </p:txBody>
      </p:sp>
      <p:sp>
        <p:nvSpPr>
          <p:cNvPr id="65" name="Shape 61"/>
          <p:cNvSpPr/>
          <p:nvPr/>
        </p:nvSpPr>
        <p:spPr>
          <a:xfrm>
            <a:off x="3767328" y="4828032"/>
            <a:ext cx="1078992" cy="274320"/>
          </a:xfrm>
          <a:prstGeom prst="roundRect">
            <a:avLst>
              <a:gd name="adj" fmla="val 16667"/>
            </a:avLst>
          </a:prstGeom>
          <a:solidFill>
            <a:srgbClr val="D7002A"/>
          </a:solidFill>
          <a:ln w="12700">
            <a:solidFill>
              <a:srgbClr val="D7002A"/>
            </a:solidFill>
            <a:prstDash val="solid"/>
          </a:ln>
        </p:spPr>
      </p:sp>
      <p:sp>
        <p:nvSpPr>
          <p:cNvPr id="66" name="Text 62"/>
          <p:cNvSpPr txBox="1"/>
          <p:nvPr/>
        </p:nvSpPr>
        <p:spPr>
          <a:xfrm>
            <a:off x="3767328" y="4828032"/>
            <a:ext cx="1078992" cy="274320"/>
          </a:xfrm>
          <a:prstGeom prst="rect">
            <a:avLst/>
          </a:prstGeom>
          <a:noFill/>
          <a:ln/>
        </p:spPr>
        <p:txBody>
          <a:bodyPr wrap="square" lIns="0" tIns="0" rIns="0" bIns="0" rtlCol="0" anchor="ctr"/>
          <a:lstStyle/>
          <a:p>
            <a:pPr algn="ctr" indent="0" marL="0">
              <a:lnSpc>
                <a:spcPct val="100000"/>
              </a:lnSpc>
              <a:spcAft>
                <a:spcPts val="200"/>
              </a:spcAft>
              <a:buNone/>
            </a:pPr>
            <a:r>
              <a:rPr lang="en-US" sz="750" b="1" dirty="0">
                <a:solidFill>
                  <a:srgbClr val="FFFFFF"/>
                </a:solidFill>
                <a:latin typeface="Arial" pitchFamily="34" charset="0"/>
                <a:ea typeface="Arial" pitchFamily="34" charset="-122"/>
                <a:cs typeface="Arial" pitchFamily="34" charset="-120"/>
              </a:rPr>
              <a:t>DANGER 96%</a:t>
            </a:r>
            <a:endParaRPr lang="en-US" sz="750" dirty="0"/>
          </a:p>
        </p:txBody>
      </p:sp>
      <p:sp>
        <p:nvSpPr>
          <p:cNvPr id="67" name="Shape 63"/>
          <p:cNvSpPr/>
          <p:nvPr/>
        </p:nvSpPr>
        <p:spPr>
          <a:xfrm>
            <a:off x="411480" y="5669280"/>
            <a:ext cx="182880" cy="182880"/>
          </a:xfrm>
          <a:prstGeom prst="ellipse">
            <a:avLst/>
          </a:prstGeom>
          <a:solidFill>
            <a:srgbClr val="D7002A"/>
          </a:solidFill>
          <a:ln w="12700">
            <a:solidFill>
              <a:srgbClr val="D7002A"/>
            </a:solidFill>
            <a:prstDash val="solid"/>
          </a:ln>
        </p:spPr>
      </p:sp>
      <p:sp>
        <p:nvSpPr>
          <p:cNvPr id="68" name="Text 64"/>
          <p:cNvSpPr txBox="1"/>
          <p:nvPr/>
        </p:nvSpPr>
        <p:spPr>
          <a:xfrm>
            <a:off x="685800" y="5596128"/>
            <a:ext cx="502920" cy="2743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C1C22"/>
                </a:solidFill>
                <a:latin typeface="Arial" pitchFamily="34" charset="0"/>
                <a:ea typeface="Arial" pitchFamily="34" charset="-122"/>
                <a:cs typeface="Arial" pitchFamily="34" charset="-120"/>
              </a:rPr>
              <a:t>t=45s</a:t>
            </a:r>
            <a:endParaRPr lang="en-US" sz="850" dirty="0"/>
          </a:p>
        </p:txBody>
      </p:sp>
      <p:sp>
        <p:nvSpPr>
          <p:cNvPr id="69" name="Text 65"/>
          <p:cNvSpPr txBox="1"/>
          <p:nvPr/>
        </p:nvSpPr>
        <p:spPr>
          <a:xfrm>
            <a:off x="1188720" y="5596128"/>
            <a:ext cx="2514600" cy="731520"/>
          </a:xfrm>
          <a:prstGeom prst="rect">
            <a:avLst/>
          </a:prstGeom>
          <a:noFill/>
          <a:ln/>
        </p:spPr>
        <p:txBody>
          <a:bodyPr wrap="square" lIns="508" tIns="508" rIns="508" bIns="508" rtlCol="0" anchor="t"/>
          <a:lstStyle/>
          <a:p>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'Transfer to RBI safe account'. Sajag has already interrupted, 19 s earlier.</a:t>
            </a:r>
            <a:endParaRPr lang="en-US" sz="830" dirty="0"/>
          </a:p>
        </p:txBody>
      </p:sp>
      <p:sp>
        <p:nvSpPr>
          <p:cNvPr id="70" name="Shape 66"/>
          <p:cNvSpPr/>
          <p:nvPr/>
        </p:nvSpPr>
        <p:spPr>
          <a:xfrm>
            <a:off x="3767328" y="5614416"/>
            <a:ext cx="1078992" cy="274320"/>
          </a:xfrm>
          <a:prstGeom prst="roundRect">
            <a:avLst>
              <a:gd name="adj" fmla="val 16667"/>
            </a:avLst>
          </a:prstGeom>
          <a:solidFill>
            <a:srgbClr val="D7002A"/>
          </a:solidFill>
          <a:ln w="12700">
            <a:solidFill>
              <a:srgbClr val="D7002A"/>
            </a:solidFill>
            <a:prstDash val="solid"/>
          </a:ln>
        </p:spPr>
      </p:sp>
      <p:sp>
        <p:nvSpPr>
          <p:cNvPr id="71" name="Text 67"/>
          <p:cNvSpPr txBox="1"/>
          <p:nvPr/>
        </p:nvSpPr>
        <p:spPr>
          <a:xfrm>
            <a:off x="3767328" y="5614416"/>
            <a:ext cx="1078992" cy="274320"/>
          </a:xfrm>
          <a:prstGeom prst="rect">
            <a:avLst/>
          </a:prstGeom>
          <a:noFill/>
          <a:ln/>
        </p:spPr>
        <p:txBody>
          <a:bodyPr wrap="square" lIns="0" tIns="0" rIns="0" bIns="0" rtlCol="0" anchor="ctr"/>
          <a:lstStyle/>
          <a:p>
            <a:pPr algn="ctr" indent="0" marL="0">
              <a:lnSpc>
                <a:spcPct val="100000"/>
              </a:lnSpc>
              <a:spcAft>
                <a:spcPts val="200"/>
              </a:spcAft>
              <a:buNone/>
            </a:pPr>
            <a:r>
              <a:rPr lang="en-US" sz="750" b="1" dirty="0">
                <a:solidFill>
                  <a:srgbClr val="FFFFFF"/>
                </a:solidFill>
                <a:latin typeface="Arial" pitchFamily="34" charset="0"/>
                <a:ea typeface="Arial" pitchFamily="34" charset="-122"/>
                <a:cs typeface="Arial" pitchFamily="34" charset="-120"/>
              </a:rPr>
              <a:t>DANGER 94%</a:t>
            </a:r>
            <a:endParaRPr lang="en-US" sz="750" dirty="0"/>
          </a:p>
        </p:txBody>
      </p:sp>
      <p:sp>
        <p:nvSpPr>
          <p:cNvPr id="72" name="Shape 68"/>
          <p:cNvSpPr/>
          <p:nvPr/>
        </p:nvSpPr>
        <p:spPr>
          <a:xfrm>
            <a:off x="5074920" y="1234440"/>
            <a:ext cx="3931920" cy="2651760"/>
          </a:xfrm>
          <a:prstGeom prst="roundRect">
            <a:avLst>
              <a:gd name="adj" fmla="val 2759"/>
            </a:avLst>
          </a:prstGeom>
          <a:solidFill>
            <a:srgbClr val="FFFFFF"/>
          </a:solidFill>
          <a:ln w="9525">
            <a:solidFill>
              <a:srgbClr val="E3DCD1"/>
            </a:solidFill>
            <a:prstDash val="solid"/>
          </a:ln>
        </p:spPr>
      </p:sp>
      <p:sp>
        <p:nvSpPr>
          <p:cNvPr id="73" name="Shape 69"/>
          <p:cNvSpPr/>
          <p:nvPr/>
        </p:nvSpPr>
        <p:spPr>
          <a:xfrm>
            <a:off x="5166360" y="1307592"/>
            <a:ext cx="3749040" cy="274320"/>
          </a:xfrm>
          <a:prstGeom prst="roundRect">
            <a:avLst>
              <a:gd name="adj" fmla="val 16667"/>
            </a:avLst>
          </a:prstGeom>
          <a:solidFill>
            <a:srgbClr val="D7002A"/>
          </a:solidFill>
          <a:ln w="12700">
            <a:solidFill>
              <a:srgbClr val="D7002A"/>
            </a:solidFill>
            <a:prstDash val="solid"/>
          </a:ln>
        </p:spPr>
      </p:sp>
      <p:sp>
        <p:nvSpPr>
          <p:cNvPr id="74" name="Text 70"/>
          <p:cNvSpPr txBox="1"/>
          <p:nvPr/>
        </p:nvSpPr>
        <p:spPr>
          <a:xfrm>
            <a:off x="5166360" y="1307592"/>
            <a:ext cx="37490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Risk score through the call</a:t>
            </a:r>
            <a:endParaRPr lang="en-US" sz="1000" dirty="0"/>
          </a:p>
        </p:txBody>
      </p:sp>
      <p:graphicFrame>
        <p:nvGraphicFramePr>
          <p:cNvPr id="75" name="Chart 0" descr=""/>
          <p:cNvGraphicFramePr/>
          <p:nvPr/>
        </p:nvGraphicFramePr>
        <p:xfrm>
          <a:off x="5120640" y="1572768"/>
          <a:ext cx="3840480" cy="2286000"/>
        </p:xfrm>
        <a:graphic xmlns:a="http://schemas.openxmlformats.org/drawingml/2006/main">
          <a:graphicData uri="http://schemas.openxmlformats.org/drawingml/2006/chart">
            <c:chart xmlns:c="http://schemas.openxmlformats.org/drawingml/2006/chart" r:id="rId3"/>
          </a:graphicData>
        </a:graphic>
      </p:graphicFrame>
      <p:sp>
        <p:nvSpPr>
          <p:cNvPr id="76" name="Shape 71"/>
          <p:cNvSpPr/>
          <p:nvPr/>
        </p:nvSpPr>
        <p:spPr>
          <a:xfrm>
            <a:off x="9144000" y="1234440"/>
            <a:ext cx="2770632" cy="2651760"/>
          </a:xfrm>
          <a:prstGeom prst="roundRect">
            <a:avLst>
              <a:gd name="adj" fmla="val 2759"/>
            </a:avLst>
          </a:prstGeom>
          <a:solidFill>
            <a:srgbClr val="FFFFFF"/>
          </a:solidFill>
          <a:ln w="9525">
            <a:solidFill>
              <a:srgbClr val="E3DCD1"/>
            </a:solidFill>
            <a:prstDash val="solid"/>
          </a:ln>
        </p:spPr>
      </p:sp>
      <p:sp>
        <p:nvSpPr>
          <p:cNvPr id="77" name="Shape 72"/>
          <p:cNvSpPr/>
          <p:nvPr/>
        </p:nvSpPr>
        <p:spPr>
          <a:xfrm>
            <a:off x="9235440" y="1307592"/>
            <a:ext cx="2587752" cy="274320"/>
          </a:xfrm>
          <a:prstGeom prst="roundRect">
            <a:avLst>
              <a:gd name="adj" fmla="val 16667"/>
            </a:avLst>
          </a:prstGeom>
          <a:solidFill>
            <a:srgbClr val="D7002A"/>
          </a:solidFill>
          <a:ln w="12700">
            <a:solidFill>
              <a:srgbClr val="D7002A"/>
            </a:solidFill>
            <a:prstDash val="solid"/>
          </a:ln>
        </p:spPr>
      </p:sp>
      <p:sp>
        <p:nvSpPr>
          <p:cNvPr id="78" name="Text 73"/>
          <p:cNvSpPr txBox="1"/>
          <p:nvPr/>
        </p:nvSpPr>
        <p:spPr>
          <a:xfrm>
            <a:off x="9235440" y="1307592"/>
            <a:ext cx="258775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The interrupt (DANGER)</a:t>
            </a:r>
            <a:endParaRPr lang="en-US" sz="1000" dirty="0"/>
          </a:p>
        </p:txBody>
      </p:sp>
      <p:pic>
        <p:nvPicPr>
          <p:cNvPr id="79" name="Image 2" descr="/home/claude/deck/alert_card.png">    </p:cNvPr>
          <p:cNvPicPr>
            <a:picLocks noChangeAspect="1"/>
          </p:cNvPicPr>
          <p:nvPr/>
        </p:nvPicPr>
        <p:blipFill>
          <a:blip r:embed="rId4"/>
          <a:stretch>
            <a:fillRect/>
          </a:stretch>
        </p:blipFill>
        <p:spPr>
          <a:xfrm>
            <a:off x="9235440" y="1645920"/>
            <a:ext cx="2587752" cy="1453896"/>
          </a:xfrm>
          <a:prstGeom prst="rect">
            <a:avLst/>
          </a:prstGeom>
        </p:spPr>
      </p:pic>
      <p:sp>
        <p:nvSpPr>
          <p:cNvPr id="80" name="Text 74"/>
          <p:cNvSpPr txBox="1"/>
          <p:nvPr/>
        </p:nvSpPr>
        <p:spPr>
          <a:xfrm>
            <a:off x="9235440" y="3154680"/>
            <a:ext cx="2587752" cy="685800"/>
          </a:xfrm>
          <a:prstGeom prst="rect">
            <a:avLst/>
          </a:prstGeom>
          <a:noFill/>
          <a:ln/>
        </p:spPr>
        <p:txBody>
          <a:bodyPr wrap="square" lIns="508" tIns="508" rIns="508" bIns="508" rtlCol="0" anchor="t"/>
          <a:lstStyle/>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Full-screen, bilingual, spoken aloud. Lists the reasons and the 1930 helpline.</a:t>
            </a:r>
            <a:endParaRPr lang="en-US" sz="800" dirty="0"/>
          </a:p>
        </p:txBody>
      </p:sp>
      <p:sp>
        <p:nvSpPr>
          <p:cNvPr id="81" name="Shape 75"/>
          <p:cNvSpPr/>
          <p:nvPr/>
        </p:nvSpPr>
        <p:spPr>
          <a:xfrm>
            <a:off x="5074920" y="4023360"/>
            <a:ext cx="6839712" cy="2487168"/>
          </a:xfrm>
          <a:prstGeom prst="roundRect">
            <a:avLst>
              <a:gd name="adj" fmla="val 2941"/>
            </a:avLst>
          </a:prstGeom>
          <a:solidFill>
            <a:srgbClr val="FFFFFF"/>
          </a:solidFill>
          <a:ln w="9525">
            <a:solidFill>
              <a:srgbClr val="E3DCD1"/>
            </a:solidFill>
            <a:prstDash val="solid"/>
          </a:ln>
        </p:spPr>
      </p:sp>
      <p:sp>
        <p:nvSpPr>
          <p:cNvPr id="82" name="Shape 76"/>
          <p:cNvSpPr/>
          <p:nvPr/>
        </p:nvSpPr>
        <p:spPr>
          <a:xfrm>
            <a:off x="5166360" y="4096512"/>
            <a:ext cx="6656832" cy="274320"/>
          </a:xfrm>
          <a:prstGeom prst="roundRect">
            <a:avLst>
              <a:gd name="adj" fmla="val 16667"/>
            </a:avLst>
          </a:prstGeom>
          <a:solidFill>
            <a:srgbClr val="121217"/>
          </a:solidFill>
          <a:ln w="12700">
            <a:solidFill>
              <a:srgbClr val="121217"/>
            </a:solidFill>
            <a:prstDash val="solid"/>
          </a:ln>
        </p:spPr>
      </p:sp>
      <p:sp>
        <p:nvSpPr>
          <p:cNvPr id="83" name="Text 77"/>
          <p:cNvSpPr txBox="1"/>
          <p:nvPr/>
        </p:nvSpPr>
        <p:spPr>
          <a:xfrm>
            <a:off x="5166360" y="4096512"/>
            <a:ext cx="665683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Live dashboard (127.0.0.1, offline)</a:t>
            </a:r>
            <a:endParaRPr lang="en-US" sz="1000" dirty="0"/>
          </a:p>
        </p:txBody>
      </p:sp>
      <p:pic>
        <p:nvPicPr>
          <p:cNvPr id="84" name="Image 3" descr="/home/claude/sajag-ai/docs/img/dashboard_digital_arrest.png">    </p:cNvPr>
          <p:cNvPicPr>
            <a:picLocks noChangeAspect="1"/>
          </p:cNvPicPr>
          <p:nvPr/>
        </p:nvPicPr>
        <p:blipFill>
          <a:blip r:embed="rId5"/>
          <a:stretch>
            <a:fillRect/>
          </a:stretch>
        </p:blipFill>
        <p:spPr>
          <a:xfrm>
            <a:off x="5166360" y="4389120"/>
            <a:ext cx="3566160" cy="2057400"/>
          </a:xfrm>
          <a:prstGeom prst="rect">
            <a:avLst/>
          </a:prstGeom>
        </p:spPr>
      </p:pic>
      <p:sp>
        <p:nvSpPr>
          <p:cNvPr id="85" name="Text 78"/>
          <p:cNvSpPr txBox="1"/>
          <p:nvPr/>
        </p:nvSpPr>
        <p:spPr>
          <a:xfrm>
            <a:off x="8823960" y="4434840"/>
            <a:ext cx="3017520" cy="2011680"/>
          </a:xfrm>
          <a:prstGeom prst="rect">
            <a:avLst/>
          </a:prstGeom>
          <a:noFill/>
          <a:ln/>
        </p:spPr>
        <p:txBody>
          <a:bodyPr wrap="square" lIns="508" tIns="508" rIns="508" bIns="508" rtlCol="0" anchor="t"/>
          <a:lstStyle/>
          <a:p>
            <a:pPr marL="127000" indent="-127000">
              <a:spcAft>
                <a:spcPts val="300"/>
              </a:spcAft>
              <a:buSzPct val="100000"/>
              <a:buChar char="■"/>
            </a:pPr>
            <a:r>
              <a:rPr lang="en-US" sz="830" dirty="0">
                <a:solidFill>
                  <a:srgbClr val="1C1C22"/>
                </a:solidFill>
                <a:latin typeface="Arial" pitchFamily="34" charset="0"/>
                <a:ea typeface="Arial" pitchFamily="34" charset="-122"/>
                <a:cs typeface="Arial" pitchFamily="34" charset="-120"/>
              </a:rPr>
              <a:t>Risk gauge with family, reasons and advice in English and Hindi</a:t>
            </a:r>
            <a:endParaRPr lang="en-US" sz="830" dirty="0"/>
          </a:p>
          <a:p>
            <a:pPr marL="127000" indent="-127000">
              <a:spcAft>
                <a:spcPts val="300"/>
              </a:spcAft>
              <a:buSzPct val="100000"/>
              <a:buChar char="■"/>
            </a:pPr>
            <a:r>
              <a:rPr lang="en-US" sz="830" dirty="0">
                <a:solidFill>
                  <a:srgbClr val="1C1C22"/>
                </a:solidFill>
                <a:latin typeface="Arial" pitchFamily="34" charset="0"/>
                <a:ea typeface="Arial" pitchFamily="34" charset="-122"/>
                <a:cs typeface="Arial" pitchFamily="34" charset="-120"/>
              </a:rPr>
              <a:t>Live feed of what each sentinel saw, with the matched cue highlighted</a:t>
            </a:r>
            <a:endParaRPr lang="en-US" sz="830" dirty="0"/>
          </a:p>
          <a:p>
            <a:pPr marL="127000" indent="-127000">
              <a:spcAft>
                <a:spcPts val="300"/>
              </a:spcAft>
              <a:buSzPct val="100000"/>
              <a:buChar char="■"/>
            </a:pPr>
            <a:r>
              <a:rPr lang="en-US" sz="830" dirty="0">
                <a:solidFill>
                  <a:srgbClr val="1C1C22"/>
                </a:solidFill>
                <a:latin typeface="Arial" pitchFamily="34" charset="0"/>
                <a:ea typeface="Arial" pitchFamily="34" charset="-122"/>
                <a:cs typeface="Arial" pitchFamily="34" charset="-120"/>
              </a:rPr>
              <a:t>Which model ran on which unit (QNN NPU or CPU) and its latency</a:t>
            </a:r>
            <a:endParaRPr lang="en-US" sz="830" dirty="0"/>
          </a:p>
          <a:p>
            <a:pPr marL="127000" indent="-127000">
              <a:spcAft>
                <a:spcPts val="300"/>
              </a:spcAft>
              <a:buSzPct val="100000"/>
              <a:buChar char="■"/>
            </a:pPr>
            <a:r>
              <a:rPr lang="en-US" sz="830" dirty="0">
                <a:solidFill>
                  <a:srgbClr val="1C1C22"/>
                </a:solidFill>
                <a:latin typeface="Arial" pitchFamily="34" charset="0"/>
                <a:ea typeface="Arial" pitchFamily="34" charset="-122"/>
                <a:cs typeface="Arial" pitchFamily="34" charset="-120"/>
              </a:rPr>
              <a:t>One-click replay of 5 scenarios for judges without a Snapdragon PC</a:t>
            </a:r>
            <a:endParaRPr lang="en-US" sz="830" dirty="0"/>
          </a:p>
        </p:txBody>
      </p:sp>
      <p:sp>
        <p:nvSpPr>
          <p:cNvPr id="86" name="Text 79"/>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D7002A"/>
          </a:solidFill>
          <a:ln w="6350">
            <a:solidFill>
              <a:srgbClr val="D7002A"/>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Architecture: three sentinels, one fusion brain, all on the device</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Heterogeneous compute: each stage runs where it is cheapest</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2194560" cy="329184"/>
          </a:xfrm>
          <a:prstGeom prst="roundRect">
            <a:avLst>
              <a:gd name="adj" fmla="val 13889"/>
            </a:avLst>
          </a:prstGeom>
          <a:solidFill>
            <a:srgbClr val="2A2A33"/>
          </a:solidFill>
          <a:ln w="12700">
            <a:solidFill>
              <a:srgbClr val="2A2A33"/>
            </a:solidFill>
            <a:prstDash val="solid"/>
          </a:ln>
        </p:spPr>
      </p:sp>
      <p:sp>
        <p:nvSpPr>
          <p:cNvPr id="35" name="Text 31"/>
          <p:cNvSpPr txBox="1"/>
          <p:nvPr/>
        </p:nvSpPr>
        <p:spPr>
          <a:xfrm>
            <a:off x="274320" y="1234440"/>
            <a:ext cx="2194560" cy="329184"/>
          </a:xfrm>
          <a:prstGeom prst="rect">
            <a:avLst/>
          </a:prstGeom>
          <a:noFill/>
          <a:ln/>
        </p:spPr>
        <p:txBody>
          <a:bodyPr wrap="square" lIns="0" tIns="0" rIns="0" bIns="0" rtlCol="0" anchor="ctr"/>
          <a:lstStyle/>
          <a:p>
            <a:pPr algn="ctr" indent="0" marL="0">
              <a:lnSpc>
                <a:spcPct val="100000"/>
              </a:lnSpc>
              <a:spcAft>
                <a:spcPts val="200"/>
              </a:spcAft>
              <a:buNone/>
            </a:pPr>
            <a:r>
              <a:rPr lang="en-US" sz="1000" b="1" dirty="0">
                <a:solidFill>
                  <a:srgbClr val="FFFFFF"/>
                </a:solidFill>
                <a:latin typeface="Arial" pitchFamily="34" charset="0"/>
                <a:ea typeface="Arial" pitchFamily="34" charset="-122"/>
                <a:cs typeface="Arial" pitchFamily="34" charset="-120"/>
              </a:rPr>
              <a:t>1  Sentinels</a:t>
            </a:r>
            <a:endParaRPr lang="en-US" sz="1000" dirty="0"/>
          </a:p>
        </p:txBody>
      </p:sp>
      <p:sp>
        <p:nvSpPr>
          <p:cNvPr id="36" name="Shape 32"/>
          <p:cNvSpPr/>
          <p:nvPr/>
        </p:nvSpPr>
        <p:spPr>
          <a:xfrm>
            <a:off x="2697480" y="1234440"/>
            <a:ext cx="2194560" cy="329184"/>
          </a:xfrm>
          <a:prstGeom prst="roundRect">
            <a:avLst>
              <a:gd name="adj" fmla="val 13889"/>
            </a:avLst>
          </a:prstGeom>
          <a:solidFill>
            <a:srgbClr val="3253DC"/>
          </a:solidFill>
          <a:ln w="12700">
            <a:solidFill>
              <a:srgbClr val="3253DC"/>
            </a:solidFill>
            <a:prstDash val="solid"/>
          </a:ln>
        </p:spPr>
      </p:sp>
      <p:sp>
        <p:nvSpPr>
          <p:cNvPr id="37" name="Text 33"/>
          <p:cNvSpPr txBox="1"/>
          <p:nvPr/>
        </p:nvSpPr>
        <p:spPr>
          <a:xfrm>
            <a:off x="2697480" y="1234440"/>
            <a:ext cx="2194560" cy="329184"/>
          </a:xfrm>
          <a:prstGeom prst="rect">
            <a:avLst/>
          </a:prstGeom>
          <a:noFill/>
          <a:ln/>
        </p:spPr>
        <p:txBody>
          <a:bodyPr wrap="square" lIns="0" tIns="0" rIns="0" bIns="0" rtlCol="0" anchor="ctr"/>
          <a:lstStyle/>
          <a:p>
            <a:pPr algn="ctr" indent="0" marL="0">
              <a:lnSpc>
                <a:spcPct val="100000"/>
              </a:lnSpc>
              <a:spcAft>
                <a:spcPts val="200"/>
              </a:spcAft>
              <a:buNone/>
            </a:pPr>
            <a:r>
              <a:rPr lang="en-US" sz="1000" b="1" dirty="0">
                <a:solidFill>
                  <a:srgbClr val="FFFFFF"/>
                </a:solidFill>
                <a:latin typeface="Arial" pitchFamily="34" charset="0"/>
                <a:ea typeface="Arial" pitchFamily="34" charset="-122"/>
                <a:cs typeface="Arial" pitchFamily="34" charset="-120"/>
              </a:rPr>
              <a:t>2  Perception (NPU)</a:t>
            </a:r>
            <a:endParaRPr lang="en-US" sz="1000" dirty="0"/>
          </a:p>
        </p:txBody>
      </p:sp>
      <p:sp>
        <p:nvSpPr>
          <p:cNvPr id="38" name="Shape 34"/>
          <p:cNvSpPr/>
          <p:nvPr/>
        </p:nvSpPr>
        <p:spPr>
          <a:xfrm>
            <a:off x="5120640" y="1234440"/>
            <a:ext cx="2194560" cy="329184"/>
          </a:xfrm>
          <a:prstGeom prst="roundRect">
            <a:avLst>
              <a:gd name="adj" fmla="val 13889"/>
            </a:avLst>
          </a:prstGeom>
          <a:solidFill>
            <a:srgbClr val="7B3FA0"/>
          </a:solidFill>
          <a:ln w="12700">
            <a:solidFill>
              <a:srgbClr val="7B3FA0"/>
            </a:solidFill>
            <a:prstDash val="solid"/>
          </a:ln>
        </p:spPr>
      </p:sp>
      <p:sp>
        <p:nvSpPr>
          <p:cNvPr id="39" name="Text 35"/>
          <p:cNvSpPr txBox="1"/>
          <p:nvPr/>
        </p:nvSpPr>
        <p:spPr>
          <a:xfrm>
            <a:off x="5120640" y="1234440"/>
            <a:ext cx="2194560" cy="329184"/>
          </a:xfrm>
          <a:prstGeom prst="rect">
            <a:avLst/>
          </a:prstGeom>
          <a:noFill/>
          <a:ln/>
        </p:spPr>
        <p:txBody>
          <a:bodyPr wrap="square" lIns="0" tIns="0" rIns="0" bIns="0" rtlCol="0" anchor="ctr"/>
          <a:lstStyle/>
          <a:p>
            <a:pPr algn="ctr" indent="0" marL="0">
              <a:lnSpc>
                <a:spcPct val="100000"/>
              </a:lnSpc>
              <a:spcAft>
                <a:spcPts val="200"/>
              </a:spcAft>
              <a:buNone/>
            </a:pPr>
            <a:r>
              <a:rPr lang="en-US" sz="1000" b="1" dirty="0">
                <a:solidFill>
                  <a:srgbClr val="FFFFFF"/>
                </a:solidFill>
                <a:latin typeface="Arial" pitchFamily="34" charset="0"/>
                <a:ea typeface="Arial" pitchFamily="34" charset="-122"/>
                <a:cs typeface="Arial" pitchFamily="34" charset="-120"/>
              </a:rPr>
              <a:t>3  Understanding</a:t>
            </a:r>
            <a:endParaRPr lang="en-US" sz="1000" dirty="0"/>
          </a:p>
        </p:txBody>
      </p:sp>
      <p:sp>
        <p:nvSpPr>
          <p:cNvPr id="40" name="Shape 36"/>
          <p:cNvSpPr/>
          <p:nvPr/>
        </p:nvSpPr>
        <p:spPr>
          <a:xfrm>
            <a:off x="7543800" y="1234440"/>
            <a:ext cx="2194560" cy="329184"/>
          </a:xfrm>
          <a:prstGeom prst="roundRect">
            <a:avLst>
              <a:gd name="adj" fmla="val 13889"/>
            </a:avLst>
          </a:prstGeom>
          <a:solidFill>
            <a:srgbClr val="D7002A"/>
          </a:solidFill>
          <a:ln w="12700">
            <a:solidFill>
              <a:srgbClr val="D7002A"/>
            </a:solidFill>
            <a:prstDash val="solid"/>
          </a:ln>
        </p:spPr>
      </p:sp>
      <p:sp>
        <p:nvSpPr>
          <p:cNvPr id="41" name="Text 37"/>
          <p:cNvSpPr txBox="1"/>
          <p:nvPr/>
        </p:nvSpPr>
        <p:spPr>
          <a:xfrm>
            <a:off x="7543800" y="1234440"/>
            <a:ext cx="2194560" cy="329184"/>
          </a:xfrm>
          <a:prstGeom prst="rect">
            <a:avLst/>
          </a:prstGeom>
          <a:noFill/>
          <a:ln/>
        </p:spPr>
        <p:txBody>
          <a:bodyPr wrap="square" lIns="0" tIns="0" rIns="0" bIns="0" rtlCol="0" anchor="ctr"/>
          <a:lstStyle/>
          <a:p>
            <a:pPr algn="ctr" indent="0" marL="0">
              <a:lnSpc>
                <a:spcPct val="100000"/>
              </a:lnSpc>
              <a:spcAft>
                <a:spcPts val="200"/>
              </a:spcAft>
              <a:buNone/>
            </a:pPr>
            <a:r>
              <a:rPr lang="en-US" sz="1000" b="1" dirty="0">
                <a:solidFill>
                  <a:srgbClr val="FFFFFF"/>
                </a:solidFill>
                <a:latin typeface="Arial" pitchFamily="34" charset="0"/>
                <a:ea typeface="Arial" pitchFamily="34" charset="-122"/>
                <a:cs typeface="Arial" pitchFamily="34" charset="-120"/>
              </a:rPr>
              <a:t>4  Fusion</a:t>
            </a:r>
            <a:endParaRPr lang="en-US" sz="1000" dirty="0"/>
          </a:p>
        </p:txBody>
      </p:sp>
      <p:sp>
        <p:nvSpPr>
          <p:cNvPr id="42" name="Shape 38"/>
          <p:cNvSpPr/>
          <p:nvPr/>
        </p:nvSpPr>
        <p:spPr>
          <a:xfrm>
            <a:off x="9720072" y="1234440"/>
            <a:ext cx="2194560" cy="329184"/>
          </a:xfrm>
          <a:prstGeom prst="roundRect">
            <a:avLst>
              <a:gd name="adj" fmla="val 13889"/>
            </a:avLst>
          </a:prstGeom>
          <a:solidFill>
            <a:srgbClr val="121217"/>
          </a:solidFill>
          <a:ln w="12700">
            <a:solidFill>
              <a:srgbClr val="121217"/>
            </a:solidFill>
            <a:prstDash val="solid"/>
          </a:ln>
        </p:spPr>
      </p:sp>
      <p:sp>
        <p:nvSpPr>
          <p:cNvPr id="43" name="Text 39"/>
          <p:cNvSpPr txBox="1"/>
          <p:nvPr/>
        </p:nvSpPr>
        <p:spPr>
          <a:xfrm>
            <a:off x="9720072" y="1234440"/>
            <a:ext cx="2194560" cy="329184"/>
          </a:xfrm>
          <a:prstGeom prst="rect">
            <a:avLst/>
          </a:prstGeom>
          <a:noFill/>
          <a:ln/>
        </p:spPr>
        <p:txBody>
          <a:bodyPr wrap="square" lIns="0" tIns="0" rIns="0" bIns="0" rtlCol="0" anchor="ctr"/>
          <a:lstStyle/>
          <a:p>
            <a:pPr algn="ctr" indent="0" marL="0">
              <a:lnSpc>
                <a:spcPct val="100000"/>
              </a:lnSpc>
              <a:spcAft>
                <a:spcPts val="200"/>
              </a:spcAft>
              <a:buNone/>
            </a:pPr>
            <a:r>
              <a:rPr lang="en-US" sz="1000" b="1" dirty="0">
                <a:solidFill>
                  <a:srgbClr val="FFFFFF"/>
                </a:solidFill>
                <a:latin typeface="Arial" pitchFamily="34" charset="0"/>
                <a:ea typeface="Arial" pitchFamily="34" charset="-122"/>
                <a:cs typeface="Arial" pitchFamily="34" charset="-120"/>
              </a:rPr>
              <a:t>5  Action</a:t>
            </a:r>
            <a:endParaRPr lang="en-US" sz="1000" dirty="0"/>
          </a:p>
        </p:txBody>
      </p:sp>
      <p:sp>
        <p:nvSpPr>
          <p:cNvPr id="44" name="Shape 40"/>
          <p:cNvSpPr/>
          <p:nvPr/>
        </p:nvSpPr>
        <p:spPr>
          <a:xfrm>
            <a:off x="274320" y="1691640"/>
            <a:ext cx="2194560" cy="960120"/>
          </a:xfrm>
          <a:prstGeom prst="roundRect">
            <a:avLst>
              <a:gd name="adj" fmla="val 6667"/>
            </a:avLst>
          </a:prstGeom>
          <a:solidFill>
            <a:srgbClr val="FFFFFF"/>
          </a:solidFill>
          <a:ln w="15875">
            <a:solidFill>
              <a:srgbClr val="2A2A33"/>
            </a:solidFill>
            <a:prstDash val="solid"/>
          </a:ln>
        </p:spPr>
      </p:sp>
      <p:sp>
        <p:nvSpPr>
          <p:cNvPr id="45" name="Shape 41"/>
          <p:cNvSpPr/>
          <p:nvPr/>
        </p:nvSpPr>
        <p:spPr>
          <a:xfrm>
            <a:off x="347472" y="1783080"/>
            <a:ext cx="365760" cy="365760"/>
          </a:xfrm>
          <a:prstGeom prst="ellipse">
            <a:avLst/>
          </a:prstGeom>
          <a:solidFill>
            <a:srgbClr val="2A2A33"/>
          </a:solidFill>
          <a:ln w="12700">
            <a:solidFill>
              <a:srgbClr val="2A2A33"/>
            </a:solidFill>
            <a:prstDash val="solid"/>
          </a:ln>
        </p:spPr>
      </p:sp>
      <p:pic>
        <p:nvPicPr>
          <p:cNvPr id="46" name="Image 2" descr="preencoded.png">    </p:cNvPr>
          <p:cNvPicPr>
            <a:picLocks noChangeAspect="1"/>
          </p:cNvPicPr>
          <p:nvPr/>
        </p:nvPicPr>
        <p:blipFill>
          <a:blip r:embed="rId3"/>
          <a:stretch>
            <a:fillRect/>
          </a:stretch>
        </p:blipFill>
        <p:spPr>
          <a:xfrm>
            <a:off x="427939" y="1863547"/>
            <a:ext cx="204826" cy="204826"/>
          </a:xfrm>
          <a:prstGeom prst="rect">
            <a:avLst/>
          </a:prstGeom>
        </p:spPr>
      </p:pic>
      <p:sp>
        <p:nvSpPr>
          <p:cNvPr id="47" name="Text 42"/>
          <p:cNvSpPr txBox="1"/>
          <p:nvPr/>
        </p:nvSpPr>
        <p:spPr>
          <a:xfrm>
            <a:off x="749808" y="172821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Call audio</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WASAPI loopback + mic, 16 kHz, RAM only, any call app</a:t>
            </a:r>
            <a:endParaRPr lang="en-US" sz="780" dirty="0"/>
          </a:p>
        </p:txBody>
      </p:sp>
      <p:sp>
        <p:nvSpPr>
          <p:cNvPr id="48" name="Shape 43"/>
          <p:cNvSpPr/>
          <p:nvPr/>
        </p:nvSpPr>
        <p:spPr>
          <a:xfrm>
            <a:off x="274320" y="2788920"/>
            <a:ext cx="2194560" cy="960120"/>
          </a:xfrm>
          <a:prstGeom prst="roundRect">
            <a:avLst>
              <a:gd name="adj" fmla="val 6667"/>
            </a:avLst>
          </a:prstGeom>
          <a:solidFill>
            <a:srgbClr val="FFFFFF"/>
          </a:solidFill>
          <a:ln w="15875">
            <a:solidFill>
              <a:srgbClr val="2A2A33"/>
            </a:solidFill>
            <a:prstDash val="solid"/>
          </a:ln>
        </p:spPr>
      </p:sp>
      <p:sp>
        <p:nvSpPr>
          <p:cNvPr id="49" name="Shape 44"/>
          <p:cNvSpPr/>
          <p:nvPr/>
        </p:nvSpPr>
        <p:spPr>
          <a:xfrm>
            <a:off x="347472" y="2880360"/>
            <a:ext cx="365760" cy="365760"/>
          </a:xfrm>
          <a:prstGeom prst="ellipse">
            <a:avLst/>
          </a:prstGeom>
          <a:solidFill>
            <a:srgbClr val="2A2A33"/>
          </a:solidFill>
          <a:ln w="12700">
            <a:solidFill>
              <a:srgbClr val="2A2A33"/>
            </a:solidFill>
            <a:prstDash val="solid"/>
          </a:ln>
        </p:spPr>
      </p:sp>
      <p:pic>
        <p:nvPicPr>
          <p:cNvPr id="50" name="Image 3" descr="preencoded.png">    </p:cNvPr>
          <p:cNvPicPr>
            <a:picLocks noChangeAspect="1"/>
          </p:cNvPicPr>
          <p:nvPr/>
        </p:nvPicPr>
        <p:blipFill>
          <a:blip r:embed="rId4"/>
          <a:stretch>
            <a:fillRect/>
          </a:stretch>
        </p:blipFill>
        <p:spPr>
          <a:xfrm>
            <a:off x="427939" y="2960827"/>
            <a:ext cx="204826" cy="204826"/>
          </a:xfrm>
          <a:prstGeom prst="rect">
            <a:avLst/>
          </a:prstGeom>
        </p:spPr>
      </p:pic>
      <p:sp>
        <p:nvSpPr>
          <p:cNvPr id="51" name="Text 45"/>
          <p:cNvSpPr txBox="1"/>
          <p:nvPr/>
        </p:nvSpPr>
        <p:spPr>
          <a:xfrm>
            <a:off x="749808" y="282549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Screen</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mss capture every 2 s, dHash change gate skips static screens</a:t>
            </a:r>
            <a:endParaRPr lang="en-US" sz="780" dirty="0"/>
          </a:p>
        </p:txBody>
      </p:sp>
      <p:sp>
        <p:nvSpPr>
          <p:cNvPr id="52" name="Shape 46"/>
          <p:cNvSpPr/>
          <p:nvPr/>
        </p:nvSpPr>
        <p:spPr>
          <a:xfrm>
            <a:off x="274320" y="3886200"/>
            <a:ext cx="2194560" cy="960120"/>
          </a:xfrm>
          <a:prstGeom prst="roundRect">
            <a:avLst>
              <a:gd name="adj" fmla="val 6667"/>
            </a:avLst>
          </a:prstGeom>
          <a:solidFill>
            <a:srgbClr val="FFFFFF"/>
          </a:solidFill>
          <a:ln w="15875">
            <a:solidFill>
              <a:srgbClr val="2A2A33"/>
            </a:solidFill>
            <a:prstDash val="solid"/>
          </a:ln>
        </p:spPr>
      </p:sp>
      <p:sp>
        <p:nvSpPr>
          <p:cNvPr id="53" name="Shape 47"/>
          <p:cNvSpPr/>
          <p:nvPr/>
        </p:nvSpPr>
        <p:spPr>
          <a:xfrm>
            <a:off x="347472" y="3977640"/>
            <a:ext cx="365760" cy="365760"/>
          </a:xfrm>
          <a:prstGeom prst="ellipse">
            <a:avLst/>
          </a:prstGeom>
          <a:solidFill>
            <a:srgbClr val="2A2A33"/>
          </a:solidFill>
          <a:ln w="12700">
            <a:solidFill>
              <a:srgbClr val="2A2A33"/>
            </a:solidFill>
            <a:prstDash val="solid"/>
          </a:ln>
        </p:spPr>
      </p:sp>
      <p:pic>
        <p:nvPicPr>
          <p:cNvPr id="54" name="Image 4" descr="preencoded.png">    </p:cNvPr>
          <p:cNvPicPr>
            <a:picLocks noChangeAspect="1"/>
          </p:cNvPicPr>
          <p:nvPr/>
        </p:nvPicPr>
        <p:blipFill>
          <a:blip r:embed="rId5"/>
          <a:stretch>
            <a:fillRect/>
          </a:stretch>
        </p:blipFill>
        <p:spPr>
          <a:xfrm>
            <a:off x="427939" y="4058107"/>
            <a:ext cx="204826" cy="204826"/>
          </a:xfrm>
          <a:prstGeom prst="rect">
            <a:avLst/>
          </a:prstGeom>
        </p:spPr>
      </p:pic>
      <p:sp>
        <p:nvSpPr>
          <p:cNvPr id="55" name="Text 48"/>
          <p:cNvSpPr txBox="1"/>
          <p:nvPr/>
        </p:nvSpPr>
        <p:spPr>
          <a:xfrm>
            <a:off x="749808" y="392277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System</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14 remote-access tools, 9 call apps, payment screens</a:t>
            </a:r>
            <a:endParaRPr lang="en-US" sz="780" dirty="0"/>
          </a:p>
        </p:txBody>
      </p:sp>
      <p:sp>
        <p:nvSpPr>
          <p:cNvPr id="56" name="Shape 49"/>
          <p:cNvSpPr/>
          <p:nvPr/>
        </p:nvSpPr>
        <p:spPr>
          <a:xfrm>
            <a:off x="2697480" y="1691640"/>
            <a:ext cx="2194560" cy="960120"/>
          </a:xfrm>
          <a:prstGeom prst="roundRect">
            <a:avLst>
              <a:gd name="adj" fmla="val 6667"/>
            </a:avLst>
          </a:prstGeom>
          <a:solidFill>
            <a:srgbClr val="FFFFFF"/>
          </a:solidFill>
          <a:ln w="15875">
            <a:solidFill>
              <a:srgbClr val="3253DC"/>
            </a:solidFill>
            <a:prstDash val="solid"/>
          </a:ln>
        </p:spPr>
      </p:sp>
      <p:sp>
        <p:nvSpPr>
          <p:cNvPr id="57" name="Shape 50"/>
          <p:cNvSpPr/>
          <p:nvPr/>
        </p:nvSpPr>
        <p:spPr>
          <a:xfrm>
            <a:off x="2770632" y="1783080"/>
            <a:ext cx="365760" cy="365760"/>
          </a:xfrm>
          <a:prstGeom prst="ellipse">
            <a:avLst/>
          </a:prstGeom>
          <a:solidFill>
            <a:srgbClr val="3253DC"/>
          </a:solidFill>
          <a:ln w="12700">
            <a:solidFill>
              <a:srgbClr val="3253DC"/>
            </a:solidFill>
            <a:prstDash val="solid"/>
          </a:ln>
        </p:spPr>
      </p:sp>
      <p:pic>
        <p:nvPicPr>
          <p:cNvPr id="58" name="Image 5" descr="preencoded.png">    </p:cNvPr>
          <p:cNvPicPr>
            <a:picLocks noChangeAspect="1"/>
          </p:cNvPicPr>
          <p:nvPr/>
        </p:nvPicPr>
        <p:blipFill>
          <a:blip r:embed="rId6"/>
          <a:stretch>
            <a:fillRect/>
          </a:stretch>
        </p:blipFill>
        <p:spPr>
          <a:xfrm>
            <a:off x="2851099" y="1863547"/>
            <a:ext cx="204826" cy="204826"/>
          </a:xfrm>
          <a:prstGeom prst="rect">
            <a:avLst/>
          </a:prstGeom>
        </p:spPr>
      </p:pic>
      <p:sp>
        <p:nvSpPr>
          <p:cNvPr id="59" name="Text 51"/>
          <p:cNvSpPr txBox="1"/>
          <p:nvPr/>
        </p:nvSpPr>
        <p:spPr>
          <a:xfrm>
            <a:off x="3172968" y="172821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Silero-VAD + Whisper-Small</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AI Hub, precompiled QNN; forced &lt;|hi|&gt; prompt keeps Hinglish</a:t>
            </a:r>
            <a:endParaRPr lang="en-US" sz="780" dirty="0"/>
          </a:p>
        </p:txBody>
      </p:sp>
      <p:sp>
        <p:nvSpPr>
          <p:cNvPr id="60" name="Shape 52"/>
          <p:cNvSpPr/>
          <p:nvPr/>
        </p:nvSpPr>
        <p:spPr>
          <a:xfrm>
            <a:off x="2697480" y="2788920"/>
            <a:ext cx="2194560" cy="960120"/>
          </a:xfrm>
          <a:prstGeom prst="roundRect">
            <a:avLst>
              <a:gd name="adj" fmla="val 6667"/>
            </a:avLst>
          </a:prstGeom>
          <a:solidFill>
            <a:srgbClr val="FFFFFF"/>
          </a:solidFill>
          <a:ln w="15875">
            <a:solidFill>
              <a:srgbClr val="3253DC"/>
            </a:solidFill>
            <a:prstDash val="solid"/>
          </a:ln>
        </p:spPr>
      </p:sp>
      <p:sp>
        <p:nvSpPr>
          <p:cNvPr id="61" name="Shape 53"/>
          <p:cNvSpPr/>
          <p:nvPr/>
        </p:nvSpPr>
        <p:spPr>
          <a:xfrm>
            <a:off x="2770632" y="2880360"/>
            <a:ext cx="365760" cy="365760"/>
          </a:xfrm>
          <a:prstGeom prst="ellipse">
            <a:avLst/>
          </a:prstGeom>
          <a:solidFill>
            <a:srgbClr val="3253DC"/>
          </a:solidFill>
          <a:ln w="12700">
            <a:solidFill>
              <a:srgbClr val="3253DC"/>
            </a:solidFill>
            <a:prstDash val="solid"/>
          </a:ln>
        </p:spPr>
      </p:sp>
      <p:pic>
        <p:nvPicPr>
          <p:cNvPr id="62" name="Image 6" descr="preencoded.png">    </p:cNvPr>
          <p:cNvPicPr>
            <a:picLocks noChangeAspect="1"/>
          </p:cNvPicPr>
          <p:nvPr/>
        </p:nvPicPr>
        <p:blipFill>
          <a:blip r:embed="rId7"/>
          <a:stretch>
            <a:fillRect/>
          </a:stretch>
        </p:blipFill>
        <p:spPr>
          <a:xfrm>
            <a:off x="2851099" y="2960827"/>
            <a:ext cx="204826" cy="204826"/>
          </a:xfrm>
          <a:prstGeom prst="rect">
            <a:avLst/>
          </a:prstGeom>
        </p:spPr>
      </p:pic>
      <p:sp>
        <p:nvSpPr>
          <p:cNvPr id="63" name="Text 54"/>
          <p:cNvSpPr txBox="1"/>
          <p:nvPr/>
        </p:nvSpPr>
        <p:spPr>
          <a:xfrm>
            <a:off x="3172968" y="282549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PP-OCRv4 det + rec</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static-shape graphs, fp16 on HTP, padding adapter</a:t>
            </a:r>
            <a:endParaRPr lang="en-US" sz="780" dirty="0"/>
          </a:p>
        </p:txBody>
      </p:sp>
      <p:sp>
        <p:nvSpPr>
          <p:cNvPr id="64" name="Shape 55"/>
          <p:cNvSpPr/>
          <p:nvPr/>
        </p:nvSpPr>
        <p:spPr>
          <a:xfrm>
            <a:off x="2697480" y="3886200"/>
            <a:ext cx="2194560" cy="960120"/>
          </a:xfrm>
          <a:prstGeom prst="roundRect">
            <a:avLst>
              <a:gd name="adj" fmla="val 6667"/>
            </a:avLst>
          </a:prstGeom>
          <a:solidFill>
            <a:srgbClr val="FFFFFF"/>
          </a:solidFill>
          <a:ln w="15875">
            <a:solidFill>
              <a:srgbClr val="3253DC"/>
            </a:solidFill>
            <a:prstDash val="solid"/>
          </a:ln>
        </p:spPr>
      </p:sp>
      <p:sp>
        <p:nvSpPr>
          <p:cNvPr id="65" name="Shape 56"/>
          <p:cNvSpPr/>
          <p:nvPr/>
        </p:nvSpPr>
        <p:spPr>
          <a:xfrm>
            <a:off x="2770632" y="3977640"/>
            <a:ext cx="365760" cy="365760"/>
          </a:xfrm>
          <a:prstGeom prst="ellipse">
            <a:avLst/>
          </a:prstGeom>
          <a:solidFill>
            <a:srgbClr val="3253DC"/>
          </a:solidFill>
          <a:ln w="12700">
            <a:solidFill>
              <a:srgbClr val="3253DC"/>
            </a:solidFill>
            <a:prstDash val="solid"/>
          </a:ln>
        </p:spPr>
      </p:sp>
      <p:pic>
        <p:nvPicPr>
          <p:cNvPr id="66" name="Image 7" descr="preencoded.png">    </p:cNvPr>
          <p:cNvPicPr>
            <a:picLocks noChangeAspect="1"/>
          </p:cNvPicPr>
          <p:nvPr/>
        </p:nvPicPr>
        <p:blipFill>
          <a:blip r:embed="rId8"/>
          <a:stretch>
            <a:fillRect/>
          </a:stretch>
        </p:blipFill>
        <p:spPr>
          <a:xfrm>
            <a:off x="2851099" y="4058107"/>
            <a:ext cx="204826" cy="204826"/>
          </a:xfrm>
          <a:prstGeom prst="rect">
            <a:avLst/>
          </a:prstGeom>
        </p:spPr>
      </p:pic>
      <p:sp>
        <p:nvSpPr>
          <p:cNvPr id="67" name="Text 57"/>
          <p:cNvSpPr txBox="1"/>
          <p:nvPr/>
        </p:nvSpPr>
        <p:spPr>
          <a:xfrm>
            <a:off x="3172968" y="392277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Rules</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process + window matching (CPU, microseconds)</a:t>
            </a:r>
            <a:endParaRPr lang="en-US" sz="780" dirty="0"/>
          </a:p>
        </p:txBody>
      </p:sp>
      <p:sp>
        <p:nvSpPr>
          <p:cNvPr id="68" name="Shape 58"/>
          <p:cNvSpPr/>
          <p:nvPr/>
        </p:nvSpPr>
        <p:spPr>
          <a:xfrm>
            <a:off x="5120640" y="1691640"/>
            <a:ext cx="2194560" cy="1463040"/>
          </a:xfrm>
          <a:prstGeom prst="roundRect">
            <a:avLst>
              <a:gd name="adj" fmla="val 4375"/>
            </a:avLst>
          </a:prstGeom>
          <a:solidFill>
            <a:srgbClr val="FFFFFF"/>
          </a:solidFill>
          <a:ln w="15875">
            <a:solidFill>
              <a:srgbClr val="7B3FA0"/>
            </a:solidFill>
            <a:prstDash val="solid"/>
          </a:ln>
        </p:spPr>
      </p:sp>
      <p:sp>
        <p:nvSpPr>
          <p:cNvPr id="69" name="Shape 59"/>
          <p:cNvSpPr/>
          <p:nvPr/>
        </p:nvSpPr>
        <p:spPr>
          <a:xfrm>
            <a:off x="5193792" y="1783080"/>
            <a:ext cx="365760" cy="365760"/>
          </a:xfrm>
          <a:prstGeom prst="ellipse">
            <a:avLst/>
          </a:prstGeom>
          <a:solidFill>
            <a:srgbClr val="7B3FA0"/>
          </a:solidFill>
          <a:ln w="12700">
            <a:solidFill>
              <a:srgbClr val="7B3FA0"/>
            </a:solidFill>
            <a:prstDash val="solid"/>
          </a:ln>
        </p:spPr>
      </p:sp>
      <p:pic>
        <p:nvPicPr>
          <p:cNvPr id="70" name="Image 8" descr="preencoded.png">    </p:cNvPr>
          <p:cNvPicPr>
            <a:picLocks noChangeAspect="1"/>
          </p:cNvPicPr>
          <p:nvPr/>
        </p:nvPicPr>
        <p:blipFill>
          <a:blip r:embed="rId9"/>
          <a:stretch>
            <a:fillRect/>
          </a:stretch>
        </p:blipFill>
        <p:spPr>
          <a:xfrm>
            <a:off x="5274259" y="1863547"/>
            <a:ext cx="204826" cy="204826"/>
          </a:xfrm>
          <a:prstGeom prst="rect">
            <a:avLst/>
          </a:prstGeom>
        </p:spPr>
      </p:pic>
      <p:sp>
        <p:nvSpPr>
          <p:cNvPr id="71" name="Text 60"/>
          <p:cNvSpPr txBox="1"/>
          <p:nvPr/>
        </p:nvSpPr>
        <p:spPr>
          <a:xfrm>
            <a:off x="5596128" y="1728216"/>
            <a:ext cx="1682496" cy="140817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Multilingual pattern engine</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300+ cues x 10 tactics in English, Devanagari, Hinglish; longest-phrase evidence; awareness damping</a:t>
            </a:r>
            <a:endParaRPr lang="en-US" sz="780" dirty="0"/>
          </a:p>
        </p:txBody>
      </p:sp>
      <p:sp>
        <p:nvSpPr>
          <p:cNvPr id="72" name="Shape 61"/>
          <p:cNvSpPr/>
          <p:nvPr/>
        </p:nvSpPr>
        <p:spPr>
          <a:xfrm>
            <a:off x="5120640" y="3291840"/>
            <a:ext cx="2194560" cy="1554480"/>
          </a:xfrm>
          <a:prstGeom prst="roundRect">
            <a:avLst>
              <a:gd name="adj" fmla="val 4118"/>
            </a:avLst>
          </a:prstGeom>
          <a:solidFill>
            <a:srgbClr val="FFFFFF"/>
          </a:solidFill>
          <a:ln w="15875">
            <a:solidFill>
              <a:srgbClr val="7B3FA0"/>
            </a:solidFill>
            <a:prstDash val="solid"/>
          </a:ln>
        </p:spPr>
      </p:sp>
      <p:sp>
        <p:nvSpPr>
          <p:cNvPr id="73" name="Shape 62"/>
          <p:cNvSpPr/>
          <p:nvPr/>
        </p:nvSpPr>
        <p:spPr>
          <a:xfrm>
            <a:off x="5193792" y="3383280"/>
            <a:ext cx="365760" cy="365760"/>
          </a:xfrm>
          <a:prstGeom prst="ellipse">
            <a:avLst/>
          </a:prstGeom>
          <a:solidFill>
            <a:srgbClr val="7B3FA0"/>
          </a:solidFill>
          <a:ln w="12700">
            <a:solidFill>
              <a:srgbClr val="7B3FA0"/>
            </a:solidFill>
            <a:prstDash val="solid"/>
          </a:ln>
        </p:spPr>
      </p:sp>
      <p:pic>
        <p:nvPicPr>
          <p:cNvPr id="74" name="Image 9" descr="preencoded.png">    </p:cNvPr>
          <p:cNvPicPr>
            <a:picLocks noChangeAspect="1"/>
          </p:cNvPicPr>
          <p:nvPr/>
        </p:nvPicPr>
        <p:blipFill>
          <a:blip r:embed="rId10"/>
          <a:stretch>
            <a:fillRect/>
          </a:stretch>
        </p:blipFill>
        <p:spPr>
          <a:xfrm>
            <a:off x="5274259" y="3463747"/>
            <a:ext cx="204826" cy="204826"/>
          </a:xfrm>
          <a:prstGeom prst="rect">
            <a:avLst/>
          </a:prstGeom>
        </p:spPr>
      </p:pic>
      <p:sp>
        <p:nvSpPr>
          <p:cNvPr id="75" name="Text 63"/>
          <p:cNvSpPr txBox="1"/>
          <p:nvPr/>
        </p:nvSpPr>
        <p:spPr>
          <a:xfrm>
            <a:off x="5596128" y="3328416"/>
            <a:ext cx="1682496" cy="149961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ONNX intent classifier</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16,384 hashed char n-grams -&gt; Gemm -&gt; Softmax over 8 classes; static shape, NPU-ready, 0.5 MB</a:t>
            </a:r>
            <a:endParaRPr lang="en-US" sz="780" dirty="0"/>
          </a:p>
        </p:txBody>
      </p:sp>
      <p:sp>
        <p:nvSpPr>
          <p:cNvPr id="76" name="Shape 64"/>
          <p:cNvSpPr/>
          <p:nvPr/>
        </p:nvSpPr>
        <p:spPr>
          <a:xfrm>
            <a:off x="7543800" y="1691640"/>
            <a:ext cx="2039112" cy="3154680"/>
          </a:xfrm>
          <a:prstGeom prst="roundRect">
            <a:avLst>
              <a:gd name="adj" fmla="val 3139"/>
            </a:avLst>
          </a:prstGeom>
          <a:solidFill>
            <a:srgbClr val="FFFFFF"/>
          </a:solidFill>
          <a:ln w="15875">
            <a:solidFill>
              <a:srgbClr val="D7002A"/>
            </a:solidFill>
            <a:prstDash val="solid"/>
          </a:ln>
        </p:spPr>
      </p:sp>
      <p:sp>
        <p:nvSpPr>
          <p:cNvPr id="77" name="Shape 65"/>
          <p:cNvSpPr/>
          <p:nvPr/>
        </p:nvSpPr>
        <p:spPr>
          <a:xfrm>
            <a:off x="7616952" y="1783080"/>
            <a:ext cx="365760" cy="365760"/>
          </a:xfrm>
          <a:prstGeom prst="ellipse">
            <a:avLst/>
          </a:prstGeom>
          <a:solidFill>
            <a:srgbClr val="D7002A"/>
          </a:solidFill>
          <a:ln w="12700">
            <a:solidFill>
              <a:srgbClr val="D7002A"/>
            </a:solidFill>
            <a:prstDash val="solid"/>
          </a:ln>
        </p:spPr>
      </p:sp>
      <p:pic>
        <p:nvPicPr>
          <p:cNvPr id="78" name="Image 10" descr="preencoded.png">    </p:cNvPr>
          <p:cNvPicPr>
            <a:picLocks noChangeAspect="1"/>
          </p:cNvPicPr>
          <p:nvPr/>
        </p:nvPicPr>
        <p:blipFill>
          <a:blip r:embed="rId11"/>
          <a:stretch>
            <a:fillRect/>
          </a:stretch>
        </p:blipFill>
        <p:spPr>
          <a:xfrm>
            <a:off x="7697419" y="1863547"/>
            <a:ext cx="204826" cy="204826"/>
          </a:xfrm>
          <a:prstGeom prst="rect">
            <a:avLst/>
          </a:prstGeom>
        </p:spPr>
      </p:pic>
      <p:sp>
        <p:nvSpPr>
          <p:cNvPr id="79" name="Text 66"/>
          <p:cNvSpPr txBox="1"/>
          <p:nvPr/>
        </p:nvSpPr>
        <p:spPr>
          <a:xfrm>
            <a:off x="8019288" y="1728216"/>
            <a:ext cx="1527048" cy="309981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Temporal cross-modal fusion</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Decaying tactic memory (4 min half-life, 15 min window). Noisy-OR over tactics. Escalation rules: remote access + OTP, secrecy + authority + money, pay-to-receive. Levels SAFE / CAUTION / WARNING / DANGER with hysteresis.</a:t>
            </a:r>
            <a:endParaRPr lang="en-US" sz="780" dirty="0"/>
          </a:p>
        </p:txBody>
      </p:sp>
      <p:sp>
        <p:nvSpPr>
          <p:cNvPr id="80" name="Shape 67"/>
          <p:cNvSpPr/>
          <p:nvPr/>
        </p:nvSpPr>
        <p:spPr>
          <a:xfrm>
            <a:off x="9720072" y="1691640"/>
            <a:ext cx="2194560" cy="960120"/>
          </a:xfrm>
          <a:prstGeom prst="roundRect">
            <a:avLst>
              <a:gd name="adj" fmla="val 6667"/>
            </a:avLst>
          </a:prstGeom>
          <a:solidFill>
            <a:srgbClr val="FFFFFF"/>
          </a:solidFill>
          <a:ln w="15875">
            <a:solidFill>
              <a:srgbClr val="121217"/>
            </a:solidFill>
            <a:prstDash val="solid"/>
          </a:ln>
        </p:spPr>
      </p:sp>
      <p:sp>
        <p:nvSpPr>
          <p:cNvPr id="81" name="Shape 68"/>
          <p:cNvSpPr/>
          <p:nvPr/>
        </p:nvSpPr>
        <p:spPr>
          <a:xfrm>
            <a:off x="9793224" y="1783080"/>
            <a:ext cx="365760" cy="365760"/>
          </a:xfrm>
          <a:prstGeom prst="ellipse">
            <a:avLst/>
          </a:prstGeom>
          <a:solidFill>
            <a:srgbClr val="121217"/>
          </a:solidFill>
          <a:ln w="12700">
            <a:solidFill>
              <a:srgbClr val="121217"/>
            </a:solidFill>
            <a:prstDash val="solid"/>
          </a:ln>
        </p:spPr>
      </p:sp>
      <p:pic>
        <p:nvPicPr>
          <p:cNvPr id="82" name="Image 11" descr="preencoded.png">    </p:cNvPr>
          <p:cNvPicPr>
            <a:picLocks noChangeAspect="1"/>
          </p:cNvPicPr>
          <p:nvPr/>
        </p:nvPicPr>
        <p:blipFill>
          <a:blip r:embed="rId12"/>
          <a:stretch>
            <a:fillRect/>
          </a:stretch>
        </p:blipFill>
        <p:spPr>
          <a:xfrm>
            <a:off x="9873691" y="1863547"/>
            <a:ext cx="204826" cy="204826"/>
          </a:xfrm>
          <a:prstGeom prst="rect">
            <a:avLst/>
          </a:prstGeom>
        </p:spPr>
      </p:pic>
      <p:sp>
        <p:nvSpPr>
          <p:cNvPr id="83" name="Text 69"/>
          <p:cNvSpPr txBox="1"/>
          <p:nvPr/>
        </p:nvSpPr>
        <p:spPr>
          <a:xfrm>
            <a:off x="10195560" y="172821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Explain</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bilingual reasons; optional Llama-3.2-3B via Genie on NPU</a:t>
            </a:r>
            <a:endParaRPr lang="en-US" sz="780" dirty="0"/>
          </a:p>
        </p:txBody>
      </p:sp>
      <p:sp>
        <p:nvSpPr>
          <p:cNvPr id="84" name="Shape 70"/>
          <p:cNvSpPr/>
          <p:nvPr/>
        </p:nvSpPr>
        <p:spPr>
          <a:xfrm>
            <a:off x="9720072" y="2788920"/>
            <a:ext cx="2194560" cy="960120"/>
          </a:xfrm>
          <a:prstGeom prst="roundRect">
            <a:avLst>
              <a:gd name="adj" fmla="val 6667"/>
            </a:avLst>
          </a:prstGeom>
          <a:solidFill>
            <a:srgbClr val="FFFFFF"/>
          </a:solidFill>
          <a:ln w="15875">
            <a:solidFill>
              <a:srgbClr val="121217"/>
            </a:solidFill>
            <a:prstDash val="solid"/>
          </a:ln>
        </p:spPr>
      </p:sp>
      <p:sp>
        <p:nvSpPr>
          <p:cNvPr id="85" name="Shape 71"/>
          <p:cNvSpPr/>
          <p:nvPr/>
        </p:nvSpPr>
        <p:spPr>
          <a:xfrm>
            <a:off x="9793224" y="2880360"/>
            <a:ext cx="365760" cy="365760"/>
          </a:xfrm>
          <a:prstGeom prst="ellipse">
            <a:avLst/>
          </a:prstGeom>
          <a:solidFill>
            <a:srgbClr val="121217"/>
          </a:solidFill>
          <a:ln w="12700">
            <a:solidFill>
              <a:srgbClr val="121217"/>
            </a:solidFill>
            <a:prstDash val="solid"/>
          </a:ln>
        </p:spPr>
      </p:sp>
      <p:pic>
        <p:nvPicPr>
          <p:cNvPr id="86" name="Image 12" descr="preencoded.png">    </p:cNvPr>
          <p:cNvPicPr>
            <a:picLocks noChangeAspect="1"/>
          </p:cNvPicPr>
          <p:nvPr/>
        </p:nvPicPr>
        <p:blipFill>
          <a:blip r:embed="rId13"/>
          <a:stretch>
            <a:fillRect/>
          </a:stretch>
        </p:blipFill>
        <p:spPr>
          <a:xfrm>
            <a:off x="9873691" y="2960827"/>
            <a:ext cx="204826" cy="204826"/>
          </a:xfrm>
          <a:prstGeom prst="rect">
            <a:avLst/>
          </a:prstGeom>
        </p:spPr>
      </p:pic>
      <p:sp>
        <p:nvSpPr>
          <p:cNvPr id="87" name="Text 72"/>
          <p:cNvSpPr txBox="1"/>
          <p:nvPr/>
        </p:nvSpPr>
        <p:spPr>
          <a:xfrm>
            <a:off x="10195560" y="282549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Interrupt</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full-screen card, voice, toast at WARNING / DANGER</a:t>
            </a:r>
            <a:endParaRPr lang="en-US" sz="780" dirty="0"/>
          </a:p>
        </p:txBody>
      </p:sp>
      <p:sp>
        <p:nvSpPr>
          <p:cNvPr id="88" name="Shape 73"/>
          <p:cNvSpPr/>
          <p:nvPr/>
        </p:nvSpPr>
        <p:spPr>
          <a:xfrm>
            <a:off x="9720072" y="3886200"/>
            <a:ext cx="2194560" cy="960120"/>
          </a:xfrm>
          <a:prstGeom prst="roundRect">
            <a:avLst>
              <a:gd name="adj" fmla="val 6667"/>
            </a:avLst>
          </a:prstGeom>
          <a:solidFill>
            <a:srgbClr val="FFFFFF"/>
          </a:solidFill>
          <a:ln w="15875">
            <a:solidFill>
              <a:srgbClr val="121217"/>
            </a:solidFill>
            <a:prstDash val="solid"/>
          </a:ln>
        </p:spPr>
      </p:sp>
      <p:sp>
        <p:nvSpPr>
          <p:cNvPr id="89" name="Shape 74"/>
          <p:cNvSpPr/>
          <p:nvPr/>
        </p:nvSpPr>
        <p:spPr>
          <a:xfrm>
            <a:off x="9793224" y="3977640"/>
            <a:ext cx="365760" cy="365760"/>
          </a:xfrm>
          <a:prstGeom prst="ellipse">
            <a:avLst/>
          </a:prstGeom>
          <a:solidFill>
            <a:srgbClr val="121217"/>
          </a:solidFill>
          <a:ln w="12700">
            <a:solidFill>
              <a:srgbClr val="121217"/>
            </a:solidFill>
            <a:prstDash val="solid"/>
          </a:ln>
        </p:spPr>
      </p:sp>
      <p:pic>
        <p:nvPicPr>
          <p:cNvPr id="90" name="Image 13" descr="preencoded.png">    </p:cNvPr>
          <p:cNvPicPr>
            <a:picLocks noChangeAspect="1"/>
          </p:cNvPicPr>
          <p:nvPr/>
        </p:nvPicPr>
        <p:blipFill>
          <a:blip r:embed="rId14"/>
          <a:stretch>
            <a:fillRect/>
          </a:stretch>
        </p:blipFill>
        <p:spPr>
          <a:xfrm>
            <a:off x="9873691" y="4058107"/>
            <a:ext cx="204826" cy="204826"/>
          </a:xfrm>
          <a:prstGeom prst="rect">
            <a:avLst/>
          </a:prstGeom>
        </p:spPr>
      </p:pic>
      <p:sp>
        <p:nvSpPr>
          <p:cNvPr id="91" name="Text 75"/>
          <p:cNvSpPr txBox="1"/>
          <p:nvPr/>
        </p:nvSpPr>
        <p:spPr>
          <a:xfrm>
            <a:off x="10195560" y="3922776"/>
            <a:ext cx="1682496" cy="905256"/>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Dashboard</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FastAPI + WebSocket on 127.0.0.1, no external assets</a:t>
            </a:r>
            <a:endParaRPr lang="en-US" sz="780" dirty="0"/>
          </a:p>
        </p:txBody>
      </p:sp>
      <p:sp>
        <p:nvSpPr>
          <p:cNvPr id="92" name="Shape 76"/>
          <p:cNvSpPr/>
          <p:nvPr/>
        </p:nvSpPr>
        <p:spPr>
          <a:xfrm>
            <a:off x="2487168" y="2148840"/>
            <a:ext cx="182880" cy="0"/>
          </a:xfrm>
          <a:prstGeom prst="line">
            <a:avLst/>
          </a:prstGeom>
          <a:noFill/>
          <a:ln w="15875">
            <a:solidFill>
              <a:srgbClr val="5E5E66"/>
            </a:solidFill>
            <a:prstDash val="solid"/>
            <a:tailEnd type="triangle"/>
          </a:ln>
        </p:spPr>
      </p:sp>
      <p:sp>
        <p:nvSpPr>
          <p:cNvPr id="93" name="Shape 77"/>
          <p:cNvSpPr/>
          <p:nvPr/>
        </p:nvSpPr>
        <p:spPr>
          <a:xfrm>
            <a:off x="4910328" y="2148840"/>
            <a:ext cx="182880" cy="0"/>
          </a:xfrm>
          <a:prstGeom prst="line">
            <a:avLst/>
          </a:prstGeom>
          <a:noFill/>
          <a:ln w="15875">
            <a:solidFill>
              <a:srgbClr val="5E5E66"/>
            </a:solidFill>
            <a:prstDash val="solid"/>
            <a:tailEnd type="triangle"/>
          </a:ln>
        </p:spPr>
      </p:sp>
      <p:sp>
        <p:nvSpPr>
          <p:cNvPr id="94" name="Shape 78"/>
          <p:cNvSpPr/>
          <p:nvPr/>
        </p:nvSpPr>
        <p:spPr>
          <a:xfrm>
            <a:off x="9601200" y="2148840"/>
            <a:ext cx="109728" cy="0"/>
          </a:xfrm>
          <a:prstGeom prst="line">
            <a:avLst/>
          </a:prstGeom>
          <a:noFill/>
          <a:ln w="15875">
            <a:solidFill>
              <a:srgbClr val="5E5E66"/>
            </a:solidFill>
            <a:prstDash val="solid"/>
            <a:tailEnd type="triangle"/>
          </a:ln>
        </p:spPr>
      </p:sp>
      <p:sp>
        <p:nvSpPr>
          <p:cNvPr id="95" name="Shape 79"/>
          <p:cNvSpPr/>
          <p:nvPr/>
        </p:nvSpPr>
        <p:spPr>
          <a:xfrm>
            <a:off x="2487168" y="3246120"/>
            <a:ext cx="182880" cy="0"/>
          </a:xfrm>
          <a:prstGeom prst="line">
            <a:avLst/>
          </a:prstGeom>
          <a:noFill/>
          <a:ln w="15875">
            <a:solidFill>
              <a:srgbClr val="5E5E66"/>
            </a:solidFill>
            <a:prstDash val="solid"/>
            <a:tailEnd type="triangle"/>
          </a:ln>
        </p:spPr>
      </p:sp>
      <p:sp>
        <p:nvSpPr>
          <p:cNvPr id="96" name="Shape 80"/>
          <p:cNvSpPr/>
          <p:nvPr/>
        </p:nvSpPr>
        <p:spPr>
          <a:xfrm>
            <a:off x="4910328" y="3246120"/>
            <a:ext cx="182880" cy="0"/>
          </a:xfrm>
          <a:prstGeom prst="line">
            <a:avLst/>
          </a:prstGeom>
          <a:noFill/>
          <a:ln w="15875">
            <a:solidFill>
              <a:srgbClr val="5E5E66"/>
            </a:solidFill>
            <a:prstDash val="solid"/>
            <a:tailEnd type="triangle"/>
          </a:ln>
        </p:spPr>
      </p:sp>
      <p:sp>
        <p:nvSpPr>
          <p:cNvPr id="97" name="Shape 81"/>
          <p:cNvSpPr/>
          <p:nvPr/>
        </p:nvSpPr>
        <p:spPr>
          <a:xfrm>
            <a:off x="9601200" y="3246120"/>
            <a:ext cx="109728" cy="0"/>
          </a:xfrm>
          <a:prstGeom prst="line">
            <a:avLst/>
          </a:prstGeom>
          <a:noFill/>
          <a:ln w="15875">
            <a:solidFill>
              <a:srgbClr val="5E5E66"/>
            </a:solidFill>
            <a:prstDash val="solid"/>
            <a:tailEnd type="triangle"/>
          </a:ln>
        </p:spPr>
      </p:sp>
      <p:sp>
        <p:nvSpPr>
          <p:cNvPr id="98" name="Shape 82"/>
          <p:cNvSpPr/>
          <p:nvPr/>
        </p:nvSpPr>
        <p:spPr>
          <a:xfrm>
            <a:off x="2487168" y="4343400"/>
            <a:ext cx="182880" cy="0"/>
          </a:xfrm>
          <a:prstGeom prst="line">
            <a:avLst/>
          </a:prstGeom>
          <a:noFill/>
          <a:ln w="15875">
            <a:solidFill>
              <a:srgbClr val="5E5E66"/>
            </a:solidFill>
            <a:prstDash val="solid"/>
            <a:tailEnd type="triangle"/>
          </a:ln>
        </p:spPr>
      </p:sp>
      <p:sp>
        <p:nvSpPr>
          <p:cNvPr id="99" name="Shape 83"/>
          <p:cNvSpPr/>
          <p:nvPr/>
        </p:nvSpPr>
        <p:spPr>
          <a:xfrm>
            <a:off x="4910328" y="4343400"/>
            <a:ext cx="182880" cy="0"/>
          </a:xfrm>
          <a:prstGeom prst="line">
            <a:avLst/>
          </a:prstGeom>
          <a:noFill/>
          <a:ln w="15875">
            <a:solidFill>
              <a:srgbClr val="5E5E66"/>
            </a:solidFill>
            <a:prstDash val="solid"/>
            <a:tailEnd type="triangle"/>
          </a:ln>
        </p:spPr>
      </p:sp>
      <p:sp>
        <p:nvSpPr>
          <p:cNvPr id="100" name="Shape 84"/>
          <p:cNvSpPr/>
          <p:nvPr/>
        </p:nvSpPr>
        <p:spPr>
          <a:xfrm>
            <a:off x="9601200" y="4343400"/>
            <a:ext cx="109728" cy="0"/>
          </a:xfrm>
          <a:prstGeom prst="line">
            <a:avLst/>
          </a:prstGeom>
          <a:noFill/>
          <a:ln w="15875">
            <a:solidFill>
              <a:srgbClr val="5E5E66"/>
            </a:solidFill>
            <a:prstDash val="solid"/>
            <a:tailEnd type="triangle"/>
          </a:ln>
        </p:spPr>
      </p:sp>
      <p:sp>
        <p:nvSpPr>
          <p:cNvPr id="101" name="Shape 85"/>
          <p:cNvSpPr/>
          <p:nvPr/>
        </p:nvSpPr>
        <p:spPr>
          <a:xfrm>
            <a:off x="7333488" y="2377440"/>
            <a:ext cx="182880" cy="0"/>
          </a:xfrm>
          <a:prstGeom prst="line">
            <a:avLst/>
          </a:prstGeom>
          <a:noFill/>
          <a:ln w="15875">
            <a:solidFill>
              <a:srgbClr val="5E5E66"/>
            </a:solidFill>
            <a:prstDash val="solid"/>
            <a:tailEnd type="triangle"/>
          </a:ln>
        </p:spPr>
      </p:sp>
      <p:sp>
        <p:nvSpPr>
          <p:cNvPr id="102" name="Shape 86"/>
          <p:cNvSpPr/>
          <p:nvPr/>
        </p:nvSpPr>
        <p:spPr>
          <a:xfrm>
            <a:off x="7333488" y="4023360"/>
            <a:ext cx="182880" cy="0"/>
          </a:xfrm>
          <a:prstGeom prst="line">
            <a:avLst/>
          </a:prstGeom>
          <a:noFill/>
          <a:ln w="15875">
            <a:solidFill>
              <a:srgbClr val="5E5E66"/>
            </a:solidFill>
            <a:prstDash val="solid"/>
            <a:tailEnd type="triangle"/>
          </a:ln>
        </p:spPr>
      </p:sp>
      <p:sp>
        <p:nvSpPr>
          <p:cNvPr id="103" name="Shape 87"/>
          <p:cNvSpPr/>
          <p:nvPr/>
        </p:nvSpPr>
        <p:spPr>
          <a:xfrm>
            <a:off x="274320" y="4983480"/>
            <a:ext cx="7040880" cy="1527048"/>
          </a:xfrm>
          <a:prstGeom prst="roundRect">
            <a:avLst>
              <a:gd name="adj" fmla="val 4790"/>
            </a:avLst>
          </a:prstGeom>
          <a:solidFill>
            <a:srgbClr val="FFFFFF"/>
          </a:solidFill>
          <a:ln w="9525">
            <a:solidFill>
              <a:srgbClr val="E3DCD1"/>
            </a:solidFill>
            <a:prstDash val="solid"/>
          </a:ln>
        </p:spPr>
      </p:sp>
      <p:sp>
        <p:nvSpPr>
          <p:cNvPr id="104" name="Shape 88"/>
          <p:cNvSpPr/>
          <p:nvPr/>
        </p:nvSpPr>
        <p:spPr>
          <a:xfrm>
            <a:off x="365760" y="5056632"/>
            <a:ext cx="6858000" cy="274320"/>
          </a:xfrm>
          <a:prstGeom prst="roundRect">
            <a:avLst>
              <a:gd name="adj" fmla="val 16667"/>
            </a:avLst>
          </a:prstGeom>
          <a:solidFill>
            <a:srgbClr val="121217"/>
          </a:solidFill>
          <a:ln w="12700">
            <a:solidFill>
              <a:srgbClr val="121217"/>
            </a:solidFill>
            <a:prstDash val="solid"/>
          </a:ln>
        </p:spPr>
      </p:sp>
      <p:sp>
        <p:nvSpPr>
          <p:cNvPr id="105" name="Text 89"/>
          <p:cNvSpPr txBox="1"/>
          <p:nvPr/>
        </p:nvSpPr>
        <p:spPr>
          <a:xfrm>
            <a:off x="365760" y="5056632"/>
            <a:ext cx="6858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Heterogeneous compute map</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5330952"/>
          <a:ext cx="6858000" cy="914400"/>
        </p:xfrm>
        <a:graphic>
          <a:graphicData uri="http://schemas.openxmlformats.org/drawingml/2006/table">
            <a:tbl>
              <a:tblPr/>
              <a:tblGrid>
                <a:gridCol w="1920240"/>
                <a:gridCol w="1005840"/>
                <a:gridCol w="1463040"/>
                <a:gridCol w="2468880"/>
              </a:tblGrid>
              <a:tr h="182880">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Stage</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780" b="1" dirty="0">
                          <a:solidFill>
                            <a:srgbClr val="FFFFFF"/>
                          </a:solidFill>
                          <a:latin typeface="Arial" pitchFamily="34" charset="0"/>
                          <a:ea typeface="Arial" pitchFamily="34" charset="-122"/>
                          <a:cs typeface="Arial" pitchFamily="34" charset="-120"/>
                        </a:rPr>
                        <a:t>Unit</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780" b="1" dirty="0">
                          <a:solidFill>
                            <a:srgbClr val="FFFFFF"/>
                          </a:solidFill>
                          <a:latin typeface="Arial" pitchFamily="34" charset="0"/>
                          <a:ea typeface="Arial" pitchFamily="34" charset="-122"/>
                          <a:cs typeface="Arial" pitchFamily="34" charset="-120"/>
                        </a:rPr>
                        <a:t>HTP power mode</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780" b="1" dirty="0">
                          <a:solidFill>
                            <a:srgbClr val="FFFFFF"/>
                          </a:solidFill>
                          <a:latin typeface="Arial" pitchFamily="34" charset="0"/>
                          <a:ea typeface="Arial" pitchFamily="34" charset="-122"/>
                          <a:cs typeface="Arial" pitchFamily="34" charset="-120"/>
                        </a:rPr>
                        <a:t>Runs when</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182880">
                <a:tc>
                  <a:txBody>
                    <a:bodyPr/>
                    <a:lstStyle/>
                    <a:p>
                      <a:pPr algn="l" indent="0" marL="0">
                        <a:buNone/>
                      </a:pPr>
                      <a:r>
                        <a:rPr lang="en-US" sz="730" dirty="0">
                          <a:solidFill>
                            <a:srgbClr val="1C1C22"/>
                          </a:solidFill>
                          <a:latin typeface="Arial" pitchFamily="34" charset="0"/>
                          <a:ea typeface="Arial" pitchFamily="34" charset="-122"/>
                          <a:cs typeface="Arial" pitchFamily="34" charset="-120"/>
                        </a:rPr>
                        <a:t>Silero-VAD</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NPU</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low_power_saver</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call active, every 32 ms</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182880">
                <a:tc>
                  <a:txBody>
                    <a:bodyPr/>
                    <a:lstStyle/>
                    <a:p>
                      <a:pPr algn="l" indent="0" marL="0">
                        <a:buNone/>
                      </a:pPr>
                      <a:r>
                        <a:rPr lang="en-US" sz="730" dirty="0">
                          <a:solidFill>
                            <a:srgbClr val="1C1C22"/>
                          </a:solidFill>
                          <a:latin typeface="Arial" pitchFamily="34" charset="0"/>
                          <a:ea typeface="Arial" pitchFamily="34" charset="-122"/>
                          <a:cs typeface="Arial" pitchFamily="34" charset="-120"/>
                        </a:rPr>
                        <a:t>PP-OCRv4 det + rec</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NPU</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high_performance</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screen changed</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182880">
                <a:tc>
                  <a:txBody>
                    <a:bodyPr/>
                    <a:lstStyle/>
                    <a:p>
                      <a:pPr algn="l" indent="0" marL="0">
                        <a:buNone/>
                      </a:pPr>
                      <a:r>
                        <a:rPr lang="en-US" sz="730" dirty="0">
                          <a:solidFill>
                            <a:srgbClr val="1C1C22"/>
                          </a:solidFill>
                          <a:latin typeface="Arial" pitchFamily="34" charset="0"/>
                          <a:ea typeface="Arial" pitchFamily="34" charset="-122"/>
                          <a:cs typeface="Arial" pitchFamily="34" charset="-120"/>
                        </a:rPr>
                        <a:t>Whisper-Small enc + dec</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NPU</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burst</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VAD speech segment</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182880">
                <a:tc>
                  <a:txBody>
                    <a:bodyPr/>
                    <a:lstStyle/>
                    <a:p>
                      <a:pPr algn="l" indent="0" marL="0">
                        <a:buNone/>
                      </a:pPr>
                      <a:r>
                        <a:rPr lang="en-US" sz="730" dirty="0">
                          <a:solidFill>
                            <a:srgbClr val="1C1C22"/>
                          </a:solidFill>
                          <a:latin typeface="Arial" pitchFamily="34" charset="0"/>
                          <a:ea typeface="Arial" pitchFamily="34" charset="-122"/>
                          <a:cs typeface="Arial" pitchFamily="34" charset="-120"/>
                        </a:rPr>
                        <a:t>Intent classifier</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NPU / CPU</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power_saver</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each segment</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182880">
                <a:tc>
                  <a:txBody>
                    <a:bodyPr/>
                    <a:lstStyle/>
                    <a:p>
                      <a:pPr algn="l" indent="0" marL="0">
                        <a:buNone/>
                      </a:pPr>
                      <a:r>
                        <a:rPr lang="en-US" sz="730" dirty="0">
                          <a:solidFill>
                            <a:srgbClr val="1C1C22"/>
                          </a:solidFill>
                          <a:latin typeface="Arial" pitchFamily="34" charset="0"/>
                          <a:ea typeface="Arial" pitchFamily="34" charset="-122"/>
                          <a:cs typeface="Arial" pitchFamily="34" charset="-120"/>
                        </a:rPr>
                        <a:t>Capture, rules, fusion</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CPU</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30" dirty="0">
                          <a:solidFill>
                            <a:srgbClr val="1C1C22"/>
                          </a:solidFill>
                          <a:latin typeface="Arial" pitchFamily="34" charset="0"/>
                          <a:ea typeface="Arial" pitchFamily="34" charset="-122"/>
                          <a:cs typeface="Arial" pitchFamily="34" charset="-120"/>
                        </a:rPr>
                        <a:t>always (microseconds)</a:t>
                      </a:r>
                      <a:endParaRPr lang="en-US" sz="7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bl>
          </a:graphicData>
        </a:graphic>
      </p:graphicFrame>
      <p:sp>
        <p:nvSpPr>
          <p:cNvPr id="107" name="Shape 90"/>
          <p:cNvSpPr/>
          <p:nvPr/>
        </p:nvSpPr>
        <p:spPr>
          <a:xfrm>
            <a:off x="7452360" y="4983480"/>
            <a:ext cx="4462272" cy="1527048"/>
          </a:xfrm>
          <a:prstGeom prst="roundRect">
            <a:avLst>
              <a:gd name="adj" fmla="val 4790"/>
            </a:avLst>
          </a:prstGeom>
          <a:solidFill>
            <a:srgbClr val="FFFFFF"/>
          </a:solidFill>
          <a:ln w="9525">
            <a:solidFill>
              <a:srgbClr val="E3DCD1"/>
            </a:solidFill>
            <a:prstDash val="solid"/>
          </a:ln>
        </p:spPr>
      </p:sp>
      <p:sp>
        <p:nvSpPr>
          <p:cNvPr id="108" name="Shape 91"/>
          <p:cNvSpPr/>
          <p:nvPr/>
        </p:nvSpPr>
        <p:spPr>
          <a:xfrm>
            <a:off x="7543800" y="5056632"/>
            <a:ext cx="4279392" cy="274320"/>
          </a:xfrm>
          <a:prstGeom prst="roundRect">
            <a:avLst>
              <a:gd name="adj" fmla="val 16667"/>
            </a:avLst>
          </a:prstGeom>
          <a:solidFill>
            <a:srgbClr val="121217"/>
          </a:solidFill>
          <a:ln w="12700">
            <a:solidFill>
              <a:srgbClr val="121217"/>
            </a:solidFill>
            <a:prstDash val="solid"/>
          </a:ln>
        </p:spPr>
      </p:sp>
      <p:sp>
        <p:nvSpPr>
          <p:cNvPr id="109" name="Text 92"/>
          <p:cNvSpPr txBox="1"/>
          <p:nvPr/>
        </p:nvSpPr>
        <p:spPr>
          <a:xfrm>
            <a:off x="7543800" y="5056632"/>
            <a:ext cx="42793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Built with</a:t>
            </a:r>
            <a:endParaRPr lang="en-US" sz="1000" dirty="0"/>
          </a:p>
        </p:txBody>
      </p:sp>
      <p:pic>
        <p:nvPicPr>
          <p:cNvPr id="110" name="Image 14" descr="preencoded.png">    </p:cNvPr>
          <p:cNvPicPr>
            <a:picLocks noChangeAspect="1"/>
          </p:cNvPicPr>
          <p:nvPr/>
        </p:nvPicPr>
        <p:blipFill>
          <a:blip r:embed="rId15"/>
          <a:stretch>
            <a:fillRect/>
          </a:stretch>
        </p:blipFill>
        <p:spPr>
          <a:xfrm>
            <a:off x="7635240" y="5394960"/>
            <a:ext cx="384048" cy="384048"/>
          </a:xfrm>
          <a:prstGeom prst="rect">
            <a:avLst/>
          </a:prstGeom>
        </p:spPr>
      </p:pic>
      <p:pic>
        <p:nvPicPr>
          <p:cNvPr id="111" name="Image 15" descr="preencoded.png">    </p:cNvPr>
          <p:cNvPicPr>
            <a:picLocks noChangeAspect="1"/>
          </p:cNvPicPr>
          <p:nvPr/>
        </p:nvPicPr>
        <p:blipFill>
          <a:blip r:embed="rId16"/>
          <a:stretch>
            <a:fillRect/>
          </a:stretch>
        </p:blipFill>
        <p:spPr>
          <a:xfrm>
            <a:off x="8165592" y="5394960"/>
            <a:ext cx="384048" cy="384048"/>
          </a:xfrm>
          <a:prstGeom prst="rect">
            <a:avLst/>
          </a:prstGeom>
        </p:spPr>
      </p:pic>
      <p:pic>
        <p:nvPicPr>
          <p:cNvPr id="112" name="Image 16" descr="preencoded.png">    </p:cNvPr>
          <p:cNvPicPr>
            <a:picLocks noChangeAspect="1"/>
          </p:cNvPicPr>
          <p:nvPr/>
        </p:nvPicPr>
        <p:blipFill>
          <a:blip r:embed="rId17"/>
          <a:stretch>
            <a:fillRect/>
          </a:stretch>
        </p:blipFill>
        <p:spPr>
          <a:xfrm>
            <a:off x="8695944" y="5394960"/>
            <a:ext cx="384048" cy="384048"/>
          </a:xfrm>
          <a:prstGeom prst="rect">
            <a:avLst/>
          </a:prstGeom>
        </p:spPr>
      </p:pic>
      <p:pic>
        <p:nvPicPr>
          <p:cNvPr id="113" name="Image 17" descr="preencoded.png">    </p:cNvPr>
          <p:cNvPicPr>
            <a:picLocks noChangeAspect="1"/>
          </p:cNvPicPr>
          <p:nvPr/>
        </p:nvPicPr>
        <p:blipFill>
          <a:blip r:embed="rId18"/>
          <a:stretch>
            <a:fillRect/>
          </a:stretch>
        </p:blipFill>
        <p:spPr>
          <a:xfrm>
            <a:off x="9226296" y="5394960"/>
            <a:ext cx="384048" cy="384048"/>
          </a:xfrm>
          <a:prstGeom prst="rect">
            <a:avLst/>
          </a:prstGeom>
        </p:spPr>
      </p:pic>
      <p:pic>
        <p:nvPicPr>
          <p:cNvPr id="114" name="Image 18" descr="preencoded.png">    </p:cNvPr>
          <p:cNvPicPr>
            <a:picLocks noChangeAspect="1"/>
          </p:cNvPicPr>
          <p:nvPr/>
        </p:nvPicPr>
        <p:blipFill>
          <a:blip r:embed="rId19"/>
          <a:stretch>
            <a:fillRect/>
          </a:stretch>
        </p:blipFill>
        <p:spPr>
          <a:xfrm>
            <a:off x="9756648" y="5394960"/>
            <a:ext cx="384048" cy="384048"/>
          </a:xfrm>
          <a:prstGeom prst="rect">
            <a:avLst/>
          </a:prstGeom>
        </p:spPr>
      </p:pic>
      <p:pic>
        <p:nvPicPr>
          <p:cNvPr id="115" name="Image 19" descr="preencoded.png">    </p:cNvPr>
          <p:cNvPicPr>
            <a:picLocks noChangeAspect="1"/>
          </p:cNvPicPr>
          <p:nvPr/>
        </p:nvPicPr>
        <p:blipFill>
          <a:blip r:embed="rId20"/>
          <a:stretch>
            <a:fillRect/>
          </a:stretch>
        </p:blipFill>
        <p:spPr>
          <a:xfrm>
            <a:off x="10287000" y="5394960"/>
            <a:ext cx="384048" cy="384048"/>
          </a:xfrm>
          <a:prstGeom prst="rect">
            <a:avLst/>
          </a:prstGeom>
        </p:spPr>
      </p:pic>
      <p:pic>
        <p:nvPicPr>
          <p:cNvPr id="116" name="Image 20" descr="preencoded.png">    </p:cNvPr>
          <p:cNvPicPr>
            <a:picLocks noChangeAspect="1"/>
          </p:cNvPicPr>
          <p:nvPr/>
        </p:nvPicPr>
        <p:blipFill>
          <a:blip r:embed="rId21"/>
          <a:stretch>
            <a:fillRect/>
          </a:stretch>
        </p:blipFill>
        <p:spPr>
          <a:xfrm>
            <a:off x="10817352" y="5394960"/>
            <a:ext cx="384048" cy="384048"/>
          </a:xfrm>
          <a:prstGeom prst="rect">
            <a:avLst/>
          </a:prstGeom>
        </p:spPr>
      </p:pic>
      <p:pic>
        <p:nvPicPr>
          <p:cNvPr id="117" name="Image 21" descr="preencoded.png">    </p:cNvPr>
          <p:cNvPicPr>
            <a:picLocks noChangeAspect="1"/>
          </p:cNvPicPr>
          <p:nvPr/>
        </p:nvPicPr>
        <p:blipFill>
          <a:blip r:embed="rId22"/>
          <a:stretch>
            <a:fillRect/>
          </a:stretch>
        </p:blipFill>
        <p:spPr>
          <a:xfrm>
            <a:off x="11347704" y="5394960"/>
            <a:ext cx="384048" cy="384048"/>
          </a:xfrm>
          <a:prstGeom prst="rect">
            <a:avLst/>
          </a:prstGeom>
        </p:spPr>
      </p:pic>
      <p:sp>
        <p:nvSpPr>
          <p:cNvPr id="118" name="Text 93"/>
          <p:cNvSpPr txBox="1"/>
          <p:nvPr/>
        </p:nvSpPr>
        <p:spPr>
          <a:xfrm>
            <a:off x="7543800" y="5870448"/>
            <a:ext cx="4297680" cy="566928"/>
          </a:xfrm>
          <a:prstGeom prst="rect">
            <a:avLst/>
          </a:prstGeom>
          <a:noFill/>
          <a:ln/>
        </p:spPr>
        <p:txBody>
          <a:bodyPr wrap="square" lIns="508" tIns="508" rIns="508" bIns="508" rtlCol="0" anchor="t"/>
          <a:lstStyle/>
          <a:p>
            <a:pPr algn="ctr" indent="0" marL="0">
              <a:lnSpc>
                <a:spcPct val="100000"/>
              </a:lnSpc>
              <a:spcAft>
                <a:spcPts val="200"/>
              </a:spcAft>
              <a:buNone/>
            </a:pPr>
            <a:r>
              <a:rPr lang="en-US" sz="750" dirty="0">
                <a:solidFill>
                  <a:srgbClr val="5E5E66"/>
                </a:solidFill>
                <a:latin typeface="Arial" pitchFamily="34" charset="0"/>
                <a:ea typeface="Arial" pitchFamily="34" charset="-122"/>
                <a:cs typeface="Arial" pitchFamily="34" charset="-120"/>
              </a:rPr>
              <a:t>Qualcomm AI Hub  |  ONNX Runtime QNN EP  |  Python  |  PaddleOCR  |  Llama 3.2  |  FastAPI  |  GitHub  |  Windows on Arm</a:t>
            </a:r>
            <a:endParaRPr lang="en-US" sz="750" dirty="0"/>
          </a:p>
        </p:txBody>
      </p:sp>
      <p:sp>
        <p:nvSpPr>
          <p:cNvPr id="119" name="Text 94"/>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D7002A"/>
          </a:solidFill>
          <a:ln w="6350">
            <a:solidFill>
              <a:srgbClr val="D7002A"/>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Technical implementation: engineered for the Hexagon NPU</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Published Qualcomm AI Hub profiles on Snapdragon X Elite / X2 Elite CRD</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5669280" cy="2788920"/>
          </a:xfrm>
          <a:prstGeom prst="roundRect">
            <a:avLst>
              <a:gd name="adj" fmla="val 2623"/>
            </a:avLst>
          </a:prstGeom>
          <a:solidFill>
            <a:srgbClr val="FFFFFF"/>
          </a:solidFill>
          <a:ln w="9525">
            <a:solidFill>
              <a:srgbClr val="E3DCD1"/>
            </a:solidFill>
            <a:prstDash val="solid"/>
          </a:ln>
        </p:spPr>
      </p:sp>
      <p:sp>
        <p:nvSpPr>
          <p:cNvPr id="35" name="Shape 31"/>
          <p:cNvSpPr/>
          <p:nvPr/>
        </p:nvSpPr>
        <p:spPr>
          <a:xfrm>
            <a:off x="365760" y="1307592"/>
            <a:ext cx="5486400" cy="274320"/>
          </a:xfrm>
          <a:prstGeom prst="roundRect">
            <a:avLst>
              <a:gd name="adj" fmla="val 16667"/>
            </a:avLst>
          </a:prstGeom>
          <a:solidFill>
            <a:srgbClr val="3253DC"/>
          </a:solidFill>
          <a:ln w="12700">
            <a:solidFill>
              <a:srgbClr val="3253DC"/>
            </a:solidFill>
            <a:prstDash val="solid"/>
          </a:ln>
        </p:spPr>
      </p:sp>
      <p:sp>
        <p:nvSpPr>
          <p:cNvPr id="36" name="Text 32"/>
          <p:cNvSpPr txBox="1"/>
          <p:nvPr/>
        </p:nvSpPr>
        <p:spPr>
          <a:xfrm>
            <a:off x="365760" y="1307592"/>
            <a:ext cx="5486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AI Hub latency per inference (ms, lower is better)</a:t>
            </a:r>
            <a:endParaRPr lang="en-US" sz="1000" dirty="0"/>
          </a:p>
        </p:txBody>
      </p:sp>
      <p:graphicFrame>
        <p:nvGraphicFramePr>
          <p:cNvPr id="37" name="Chart 0" descr=""/>
          <p:cNvGraphicFramePr/>
          <p:nvPr/>
        </p:nvGraphicFramePr>
        <p:xfrm>
          <a:off x="365760" y="1600200"/>
          <a:ext cx="5486400" cy="2377440"/>
        </p:xfrm>
        <a:graphic xmlns:a="http://schemas.openxmlformats.org/drawingml/2006/main">
          <a:graphicData uri="http://schemas.openxmlformats.org/drawingml/2006/chart">
            <c:chart xmlns:c="http://schemas.openxmlformats.org/drawingml/2006/chart" r:id="rId3"/>
          </a:graphicData>
        </a:graphic>
      </p:graphicFrame>
      <p:sp>
        <p:nvSpPr>
          <p:cNvPr id="38" name="Shape 33"/>
          <p:cNvSpPr/>
          <p:nvPr/>
        </p:nvSpPr>
        <p:spPr>
          <a:xfrm>
            <a:off x="6080760" y="1234440"/>
            <a:ext cx="5833872" cy="2788920"/>
          </a:xfrm>
          <a:prstGeom prst="roundRect">
            <a:avLst>
              <a:gd name="adj" fmla="val 2623"/>
            </a:avLst>
          </a:prstGeom>
          <a:solidFill>
            <a:srgbClr val="FFFFFF"/>
          </a:solidFill>
          <a:ln w="9525">
            <a:solidFill>
              <a:srgbClr val="E3DCD1"/>
            </a:solidFill>
            <a:prstDash val="solid"/>
          </a:ln>
        </p:spPr>
      </p:sp>
      <p:sp>
        <p:nvSpPr>
          <p:cNvPr id="39" name="Shape 34"/>
          <p:cNvSpPr/>
          <p:nvPr/>
        </p:nvSpPr>
        <p:spPr>
          <a:xfrm>
            <a:off x="6172200" y="1307592"/>
            <a:ext cx="5650992" cy="274320"/>
          </a:xfrm>
          <a:prstGeom prst="roundRect">
            <a:avLst>
              <a:gd name="adj" fmla="val 16667"/>
            </a:avLst>
          </a:prstGeom>
          <a:solidFill>
            <a:srgbClr val="121217"/>
          </a:solidFill>
          <a:ln w="12700">
            <a:solidFill>
              <a:srgbClr val="121217"/>
            </a:solidFill>
            <a:prstDash val="solid"/>
          </a:ln>
        </p:spPr>
      </p:sp>
      <p:sp>
        <p:nvSpPr>
          <p:cNvPr id="40" name="Text 35"/>
          <p:cNvSpPr txBox="1"/>
          <p:nvPr/>
        </p:nvSpPr>
        <p:spPr>
          <a:xfrm>
            <a:off x="6172200" y="1307592"/>
            <a:ext cx="56509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Model stack</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172200" y="1627632"/>
          <a:ext cx="5650992" cy="914400"/>
        </p:xfrm>
        <a:graphic>
          <a:graphicData uri="http://schemas.openxmlformats.org/drawingml/2006/table">
            <a:tbl>
              <a:tblPr/>
              <a:tblGrid>
                <a:gridCol w="1005840"/>
                <a:gridCol w="1691640"/>
                <a:gridCol w="868680"/>
                <a:gridCol w="2084832"/>
              </a:tblGrid>
              <a:tr h="310896">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Role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Model</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Source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NPU evidence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310896">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Voice gate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Silero-VAD (w8a16)</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AI Hub</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51/51 layers NPU, 0.068 ms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Speech to text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Whisper-Small (multilingual)</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AI Hub</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1582 + 2277 layers, 100% NPU</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10896">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Speech (X2)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Whisper-Large-v3-Turbo</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AI Hub</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enc 251 ms, dec 4.9 ms/tok</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Screen text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PP-OCRv4 det + rec</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PaddleOCR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static shapes, fp16 on HTP</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10896">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Scam intent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Sajag classifier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trained here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Gemm + Softmax, static</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Explanation</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Llama-3.2-3B (w4a16)</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AI Hub</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11.3 tok/s X Elite, 42.5 on X2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bl>
          </a:graphicData>
        </a:graphic>
      </p:graphicFrame>
      <p:sp>
        <p:nvSpPr>
          <p:cNvPr id="42" name="Shape 36"/>
          <p:cNvSpPr/>
          <p:nvPr/>
        </p:nvSpPr>
        <p:spPr>
          <a:xfrm>
            <a:off x="274320" y="4160520"/>
            <a:ext cx="7315200" cy="2350008"/>
          </a:xfrm>
          <a:prstGeom prst="roundRect">
            <a:avLst>
              <a:gd name="adj" fmla="val 3113"/>
            </a:avLst>
          </a:prstGeom>
          <a:solidFill>
            <a:srgbClr val="FFFFFF"/>
          </a:solidFill>
          <a:ln w="9525">
            <a:solidFill>
              <a:srgbClr val="E3DCD1"/>
            </a:solidFill>
            <a:prstDash val="solid"/>
          </a:ln>
        </p:spPr>
      </p:sp>
      <p:sp>
        <p:nvSpPr>
          <p:cNvPr id="43" name="Shape 37"/>
          <p:cNvSpPr/>
          <p:nvPr/>
        </p:nvSpPr>
        <p:spPr>
          <a:xfrm>
            <a:off x="365760" y="4233672"/>
            <a:ext cx="7132320" cy="274320"/>
          </a:xfrm>
          <a:prstGeom prst="roundRect">
            <a:avLst>
              <a:gd name="adj" fmla="val 16667"/>
            </a:avLst>
          </a:prstGeom>
          <a:solidFill>
            <a:srgbClr val="D7002A"/>
          </a:solidFill>
          <a:ln w="12700">
            <a:solidFill>
              <a:srgbClr val="D7002A"/>
            </a:solidFill>
            <a:prstDash val="solid"/>
          </a:ln>
        </p:spPr>
      </p:sp>
      <p:sp>
        <p:nvSpPr>
          <p:cNvPr id="44" name="Text 38"/>
          <p:cNvSpPr txBox="1"/>
          <p:nvPr/>
        </p:nvSpPr>
        <p:spPr>
          <a:xfrm>
            <a:off x="365760" y="4233672"/>
            <a:ext cx="7132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Six NPU techniques implemented in sajag/npu.py and vision/ocr.py</a:t>
            </a:r>
            <a:endParaRPr lang="en-US" sz="1000" dirty="0"/>
          </a:p>
        </p:txBody>
      </p:sp>
      <p:sp>
        <p:nvSpPr>
          <p:cNvPr id="45" name="Shape 39"/>
          <p:cNvSpPr/>
          <p:nvPr/>
        </p:nvSpPr>
        <p:spPr>
          <a:xfrm>
            <a:off x="384048" y="4553712"/>
            <a:ext cx="402336" cy="402336"/>
          </a:xfrm>
          <a:prstGeom prst="ellipse">
            <a:avLst/>
          </a:prstGeom>
          <a:solidFill>
            <a:srgbClr val="D7002A"/>
          </a:solidFill>
          <a:ln w="12700">
            <a:solidFill>
              <a:srgbClr val="D7002A"/>
            </a:solidFill>
            <a:prstDash val="solid"/>
          </a:ln>
        </p:spPr>
      </p:sp>
      <p:pic>
        <p:nvPicPr>
          <p:cNvPr id="46" name="Image 2" descr="preencoded.png">    </p:cNvPr>
          <p:cNvPicPr>
            <a:picLocks noChangeAspect="1"/>
          </p:cNvPicPr>
          <p:nvPr/>
        </p:nvPicPr>
        <p:blipFill>
          <a:blip r:embed="rId4"/>
          <a:stretch>
            <a:fillRect/>
          </a:stretch>
        </p:blipFill>
        <p:spPr>
          <a:xfrm>
            <a:off x="472562" y="4642226"/>
            <a:ext cx="225308" cy="225308"/>
          </a:xfrm>
          <a:prstGeom prst="rect">
            <a:avLst/>
          </a:prstGeom>
        </p:spPr>
      </p:pic>
      <p:sp>
        <p:nvSpPr>
          <p:cNvPr id="47" name="Text 40"/>
          <p:cNvSpPr txBox="1"/>
          <p:nvPr/>
        </p:nvSpPr>
        <p:spPr>
          <a:xfrm>
            <a:off x="859536" y="4507992"/>
            <a:ext cx="3063240" cy="640080"/>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Static-shape adapter</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pads variable OCR inputs into the compiled [1,3,736,1280] canvas, crops outputs, CPU only for oversize lines</a:t>
            </a:r>
            <a:endParaRPr lang="en-US" sz="780" dirty="0"/>
          </a:p>
        </p:txBody>
      </p:sp>
      <p:sp>
        <p:nvSpPr>
          <p:cNvPr id="48" name="Shape 41"/>
          <p:cNvSpPr/>
          <p:nvPr/>
        </p:nvSpPr>
        <p:spPr>
          <a:xfrm>
            <a:off x="3995928" y="4553712"/>
            <a:ext cx="402336" cy="402336"/>
          </a:xfrm>
          <a:prstGeom prst="ellipse">
            <a:avLst/>
          </a:prstGeom>
          <a:solidFill>
            <a:srgbClr val="3253DC"/>
          </a:solidFill>
          <a:ln w="12700">
            <a:solidFill>
              <a:srgbClr val="3253DC"/>
            </a:solidFill>
            <a:prstDash val="solid"/>
          </a:ln>
        </p:spPr>
      </p:sp>
      <p:pic>
        <p:nvPicPr>
          <p:cNvPr id="49" name="Image 3" descr="preencoded.png">    </p:cNvPr>
          <p:cNvPicPr>
            <a:picLocks noChangeAspect="1"/>
          </p:cNvPicPr>
          <p:nvPr/>
        </p:nvPicPr>
        <p:blipFill>
          <a:blip r:embed="rId5"/>
          <a:stretch>
            <a:fillRect/>
          </a:stretch>
        </p:blipFill>
        <p:spPr>
          <a:xfrm>
            <a:off x="4084442" y="4642226"/>
            <a:ext cx="225308" cy="225308"/>
          </a:xfrm>
          <a:prstGeom prst="rect">
            <a:avLst/>
          </a:prstGeom>
        </p:spPr>
      </p:pic>
      <p:sp>
        <p:nvSpPr>
          <p:cNvPr id="50" name="Text 42"/>
          <p:cNvSpPr txBox="1"/>
          <p:nvPr/>
        </p:nvSpPr>
        <p:spPr>
          <a:xfrm>
            <a:off x="4471416" y="4507992"/>
            <a:ext cx="3063240" cy="640080"/>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Per-workload power modes</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low_power_saver for sentinels, burst only while a call is live</a:t>
            </a:r>
            <a:endParaRPr lang="en-US" sz="780" dirty="0"/>
          </a:p>
        </p:txBody>
      </p:sp>
      <p:sp>
        <p:nvSpPr>
          <p:cNvPr id="51" name="Shape 43"/>
          <p:cNvSpPr/>
          <p:nvPr/>
        </p:nvSpPr>
        <p:spPr>
          <a:xfrm>
            <a:off x="384048" y="5193792"/>
            <a:ext cx="402336" cy="402336"/>
          </a:xfrm>
          <a:prstGeom prst="ellipse">
            <a:avLst/>
          </a:prstGeom>
          <a:solidFill>
            <a:srgbClr val="D7002A"/>
          </a:solidFill>
          <a:ln w="12700">
            <a:solidFill>
              <a:srgbClr val="D7002A"/>
            </a:solidFill>
            <a:prstDash val="solid"/>
          </a:ln>
        </p:spPr>
      </p:sp>
      <p:pic>
        <p:nvPicPr>
          <p:cNvPr id="52" name="Image 4" descr="preencoded.png">    </p:cNvPr>
          <p:cNvPicPr>
            <a:picLocks noChangeAspect="1"/>
          </p:cNvPicPr>
          <p:nvPr/>
        </p:nvPicPr>
        <p:blipFill>
          <a:blip r:embed="rId6"/>
          <a:stretch>
            <a:fillRect/>
          </a:stretch>
        </p:blipFill>
        <p:spPr>
          <a:xfrm>
            <a:off x="472562" y="5282306"/>
            <a:ext cx="225308" cy="225308"/>
          </a:xfrm>
          <a:prstGeom prst="rect">
            <a:avLst/>
          </a:prstGeom>
        </p:spPr>
      </p:pic>
      <p:sp>
        <p:nvSpPr>
          <p:cNvPr id="53" name="Text 44"/>
          <p:cNvSpPr txBox="1"/>
          <p:nvPr/>
        </p:nvSpPr>
        <p:spPr>
          <a:xfrm>
            <a:off x="859536" y="5148072"/>
            <a:ext cx="3063240" cy="640080"/>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EP context caching</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HTP graph compiled once, context binary reloaded on every launch</a:t>
            </a:r>
            <a:endParaRPr lang="en-US" sz="780" dirty="0"/>
          </a:p>
        </p:txBody>
      </p:sp>
      <p:sp>
        <p:nvSpPr>
          <p:cNvPr id="54" name="Shape 45"/>
          <p:cNvSpPr/>
          <p:nvPr/>
        </p:nvSpPr>
        <p:spPr>
          <a:xfrm>
            <a:off x="3995928" y="5193792"/>
            <a:ext cx="402336" cy="402336"/>
          </a:xfrm>
          <a:prstGeom prst="ellipse">
            <a:avLst/>
          </a:prstGeom>
          <a:solidFill>
            <a:srgbClr val="3253DC"/>
          </a:solidFill>
          <a:ln w="12700">
            <a:solidFill>
              <a:srgbClr val="3253DC"/>
            </a:solidFill>
            <a:prstDash val="solid"/>
          </a:ln>
        </p:spPr>
      </p:sp>
      <p:pic>
        <p:nvPicPr>
          <p:cNvPr id="55" name="Image 5" descr="preencoded.png">    </p:cNvPr>
          <p:cNvPicPr>
            <a:picLocks noChangeAspect="1"/>
          </p:cNvPicPr>
          <p:nvPr/>
        </p:nvPicPr>
        <p:blipFill>
          <a:blip r:embed="rId7"/>
          <a:stretch>
            <a:fillRect/>
          </a:stretch>
        </p:blipFill>
        <p:spPr>
          <a:xfrm>
            <a:off x="4084442" y="5282306"/>
            <a:ext cx="225308" cy="225308"/>
          </a:xfrm>
          <a:prstGeom prst="rect">
            <a:avLst/>
          </a:prstGeom>
        </p:spPr>
      </p:pic>
      <p:sp>
        <p:nvSpPr>
          <p:cNvPr id="56" name="Text 46"/>
          <p:cNvSpPr txBox="1"/>
          <p:nvPr/>
        </p:nvSpPr>
        <p:spPr>
          <a:xfrm>
            <a:off x="4471416" y="5148072"/>
            <a:ext cx="3063240" cy="640080"/>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Strict NPU mode</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SAJAG_NPU_STRICT=1 disables silent CPU fallback during development</a:t>
            </a:r>
            <a:endParaRPr lang="en-US" sz="780" dirty="0"/>
          </a:p>
        </p:txBody>
      </p:sp>
      <p:sp>
        <p:nvSpPr>
          <p:cNvPr id="57" name="Shape 47"/>
          <p:cNvSpPr/>
          <p:nvPr/>
        </p:nvSpPr>
        <p:spPr>
          <a:xfrm>
            <a:off x="384048" y="5833872"/>
            <a:ext cx="402336" cy="402336"/>
          </a:xfrm>
          <a:prstGeom prst="ellipse">
            <a:avLst/>
          </a:prstGeom>
          <a:solidFill>
            <a:srgbClr val="D7002A"/>
          </a:solidFill>
          <a:ln w="12700">
            <a:solidFill>
              <a:srgbClr val="D7002A"/>
            </a:solidFill>
            <a:prstDash val="solid"/>
          </a:ln>
        </p:spPr>
      </p:sp>
      <p:pic>
        <p:nvPicPr>
          <p:cNvPr id="58" name="Image 6" descr="preencoded.png">    </p:cNvPr>
          <p:cNvPicPr>
            <a:picLocks noChangeAspect="1"/>
          </p:cNvPicPr>
          <p:nvPr/>
        </p:nvPicPr>
        <p:blipFill>
          <a:blip r:embed="rId8"/>
          <a:stretch>
            <a:fillRect/>
          </a:stretch>
        </p:blipFill>
        <p:spPr>
          <a:xfrm>
            <a:off x="472562" y="5922386"/>
            <a:ext cx="225308" cy="225308"/>
          </a:xfrm>
          <a:prstGeom prst="rect">
            <a:avLst/>
          </a:prstGeom>
        </p:spPr>
      </p:pic>
      <p:sp>
        <p:nvSpPr>
          <p:cNvPr id="59" name="Text 48"/>
          <p:cNvSpPr txBox="1"/>
          <p:nvPr/>
        </p:nvSpPr>
        <p:spPr>
          <a:xfrm>
            <a:off x="859536" y="5788152"/>
            <a:ext cx="3063240" cy="640080"/>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Compute gating</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dHash screen gate + call gate + VAD gate keep the NPU idle most of the time</a:t>
            </a:r>
            <a:endParaRPr lang="en-US" sz="780" dirty="0"/>
          </a:p>
        </p:txBody>
      </p:sp>
      <p:sp>
        <p:nvSpPr>
          <p:cNvPr id="60" name="Shape 49"/>
          <p:cNvSpPr/>
          <p:nvPr/>
        </p:nvSpPr>
        <p:spPr>
          <a:xfrm>
            <a:off x="3995928" y="5833872"/>
            <a:ext cx="402336" cy="402336"/>
          </a:xfrm>
          <a:prstGeom prst="ellipse">
            <a:avLst/>
          </a:prstGeom>
          <a:solidFill>
            <a:srgbClr val="3253DC"/>
          </a:solidFill>
          <a:ln w="12700">
            <a:solidFill>
              <a:srgbClr val="3253DC"/>
            </a:solidFill>
            <a:prstDash val="solid"/>
          </a:ln>
        </p:spPr>
      </p:sp>
      <p:pic>
        <p:nvPicPr>
          <p:cNvPr id="61" name="Image 7" descr="preencoded.png">    </p:cNvPr>
          <p:cNvPicPr>
            <a:picLocks noChangeAspect="1"/>
          </p:cNvPicPr>
          <p:nvPr/>
        </p:nvPicPr>
        <p:blipFill>
          <a:blip r:embed="rId9"/>
          <a:stretch>
            <a:fillRect/>
          </a:stretch>
        </p:blipFill>
        <p:spPr>
          <a:xfrm>
            <a:off x="4084442" y="5922386"/>
            <a:ext cx="225308" cy="225308"/>
          </a:xfrm>
          <a:prstGeom prst="rect">
            <a:avLst/>
          </a:prstGeom>
        </p:spPr>
      </p:pic>
      <p:sp>
        <p:nvSpPr>
          <p:cNvPr id="62" name="Text 50"/>
          <p:cNvSpPr txBox="1"/>
          <p:nvPr/>
        </p:nvSpPr>
        <p:spPr>
          <a:xfrm>
            <a:off x="4471416" y="5788152"/>
            <a:ext cx="3063240" cy="640080"/>
          </a:xfrm>
          <a:prstGeom prst="rect">
            <a:avLst/>
          </a:prstGeom>
          <a:noFill/>
          <a:ln/>
        </p:spPr>
        <p:txBody>
          <a:bodyPr wrap="square" lIns="508" tIns="508" rIns="508" bIns="508" rtlCol="0" anchor="t"/>
          <a:lstStyle/>
          <a:p>
            <a:pPr algn="l" indent="0" marL="0">
              <a:lnSpc>
                <a:spcPct val="100000"/>
              </a:lnSpc>
              <a:spcAft>
                <a:spcPts val="200"/>
              </a:spcAft>
              <a:buNone/>
            </a:pPr>
            <a:r>
              <a:rPr lang="en-US" sz="780" b="1" dirty="0">
                <a:solidFill>
                  <a:srgbClr val="1C1C22"/>
                </a:solidFill>
                <a:latin typeface="Arial" pitchFamily="34" charset="0"/>
                <a:ea typeface="Arial" pitchFamily="34" charset="-122"/>
                <a:cs typeface="Arial" pitchFamily="34" charset="-120"/>
              </a:rPr>
              <a:t>Torch-free Whisper</a:t>
            </a:r>
            <a:endParaRPr lang="en-US" sz="780" dirty="0"/>
          </a:p>
          <a:p>
            <a:pPr algn="l" indent="0" marL="0">
              <a:lnSpc>
                <a:spcPct val="100000"/>
              </a:lnSpc>
              <a:spcAft>
                <a:spcPts val="200"/>
              </a:spcAft>
              <a:buNone/>
            </a:pPr>
            <a:r>
              <a:rPr lang="en-US" sz="780" dirty="0">
                <a:solidFill>
                  <a:srgbClr val="5E5E66"/>
                </a:solidFill>
                <a:latin typeface="Arial" pitchFamily="34" charset="0"/>
                <a:ea typeface="Arial" pitchFamily="34" charset="-122"/>
                <a:cs typeface="Arial" pitchFamily="34" charset="-120"/>
              </a:rPr>
              <a:t>AI Hub decode loop ported to NumPy with a 200-slot static KV cache</a:t>
            </a:r>
            <a:endParaRPr lang="en-US" sz="780" dirty="0"/>
          </a:p>
        </p:txBody>
      </p:sp>
      <p:sp>
        <p:nvSpPr>
          <p:cNvPr id="63" name="Shape 51"/>
          <p:cNvSpPr/>
          <p:nvPr/>
        </p:nvSpPr>
        <p:spPr>
          <a:xfrm>
            <a:off x="7726680" y="4160520"/>
            <a:ext cx="4187952" cy="2350008"/>
          </a:xfrm>
          <a:prstGeom prst="roundRect">
            <a:avLst>
              <a:gd name="adj" fmla="val 3113"/>
            </a:avLst>
          </a:prstGeom>
          <a:solidFill>
            <a:srgbClr val="FFFFFF"/>
          </a:solidFill>
          <a:ln w="9525">
            <a:solidFill>
              <a:srgbClr val="E3DCD1"/>
            </a:solidFill>
            <a:prstDash val="solid"/>
          </a:ln>
        </p:spPr>
      </p:sp>
      <p:sp>
        <p:nvSpPr>
          <p:cNvPr id="64" name="Shape 52"/>
          <p:cNvSpPr/>
          <p:nvPr/>
        </p:nvSpPr>
        <p:spPr>
          <a:xfrm>
            <a:off x="7818120" y="4233672"/>
            <a:ext cx="4005072" cy="274320"/>
          </a:xfrm>
          <a:prstGeom prst="roundRect">
            <a:avLst>
              <a:gd name="adj" fmla="val 16667"/>
            </a:avLst>
          </a:prstGeom>
          <a:solidFill>
            <a:srgbClr val="121217"/>
          </a:solidFill>
          <a:ln w="12700">
            <a:solidFill>
              <a:srgbClr val="121217"/>
            </a:solidFill>
            <a:prstDash val="solid"/>
          </a:ln>
        </p:spPr>
      </p:sp>
      <p:sp>
        <p:nvSpPr>
          <p:cNvPr id="65" name="Text 53"/>
          <p:cNvSpPr txBox="1"/>
          <p:nvPr/>
        </p:nvSpPr>
        <p:spPr>
          <a:xfrm>
            <a:off x="7818120" y="4233672"/>
            <a:ext cx="40050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From code: one factory, any device</a:t>
            </a:r>
            <a:endParaRPr lang="en-US" sz="1000" dirty="0"/>
          </a:p>
        </p:txBody>
      </p:sp>
      <p:sp>
        <p:nvSpPr>
          <p:cNvPr id="66" name="Text 54"/>
          <p:cNvSpPr txBox="1"/>
          <p:nvPr/>
        </p:nvSpPr>
        <p:spPr>
          <a:xfrm>
            <a:off x="7818120" y="4526280"/>
            <a:ext cx="4023360" cy="1417320"/>
          </a:xfrm>
          <a:prstGeom prst="rect">
            <a:avLst/>
          </a:prstGeom>
          <a:noFill/>
          <a:ln/>
        </p:spPr>
        <p:txBody>
          <a:bodyPr wrap="square" lIns="508" tIns="508" rIns="508" bIns="508" rtlCol="0" anchor="t"/>
          <a:lstStyle/>
          <a:p>
            <a:pPr algn="l" indent="0" marL="0">
              <a:lnSpc>
                <a:spcPct val="100000"/>
              </a:lnSpc>
              <a:spcAft>
                <a:spcPts val="200"/>
              </a:spcAft>
              <a:buNone/>
            </a:pPr>
            <a:r>
              <a:rPr lang="en-US" sz="750" dirty="0">
                <a:solidFill>
                  <a:srgbClr val="1F3A93"/>
                </a:solidFill>
                <a:latin typeface="Arial" pitchFamily="34" charset="0"/>
                <a:ea typeface="Arial" pitchFamily="34" charset="-122"/>
                <a:cs typeface="Arial" pitchFamily="34" charset="-120"/>
              </a:rPr>
              <a:t>providers = [("QNNExecutionProvider", {</a:t>
            </a:r>
            <a:endParaRPr lang="en-US" sz="750" dirty="0"/>
          </a:p>
          <a:p>
            <a:pPr algn="l" indent="0" marL="0">
              <a:lnSpc>
                <a:spcPct val="100000"/>
              </a:lnSpc>
              <a:spcAft>
                <a:spcPts val="200"/>
              </a:spcAft>
              <a:buNone/>
            </a:pPr>
            <a:r>
              <a:rPr lang="en-US" sz="750" dirty="0">
                <a:solidFill>
                  <a:srgbClr val="1F3A93"/>
                </a:solidFill>
                <a:latin typeface="Arial" pitchFamily="34" charset="0"/>
                <a:ea typeface="Arial" pitchFamily="34" charset="-122"/>
                <a:cs typeface="Arial" pitchFamily="34" charset="-120"/>
              </a:rPr>
              <a:t>   "backend_path": "QnnHtp.dll",</a:t>
            </a:r>
            <a:endParaRPr lang="en-US" sz="750" dirty="0"/>
          </a:p>
          <a:p>
            <a:pPr algn="l" indent="0" marL="0">
              <a:lnSpc>
                <a:spcPct val="100000"/>
              </a:lnSpc>
              <a:spcAft>
                <a:spcPts val="200"/>
              </a:spcAft>
              <a:buNone/>
            </a:pPr>
            <a:r>
              <a:rPr lang="en-US" sz="750" dirty="0">
                <a:solidFill>
                  <a:srgbClr val="1F3A93"/>
                </a:solidFill>
                <a:latin typeface="Arial" pitchFamily="34" charset="0"/>
                <a:ea typeface="Arial" pitchFamily="34" charset="-122"/>
                <a:cs typeface="Arial" pitchFamily="34" charset="-120"/>
              </a:rPr>
              <a:t>   "htp_performance_mode": POWER[workload],</a:t>
            </a:r>
            <a:endParaRPr lang="en-US" sz="750" dirty="0"/>
          </a:p>
          <a:p>
            <a:pPr algn="l" indent="0" marL="0">
              <a:lnSpc>
                <a:spcPct val="100000"/>
              </a:lnSpc>
              <a:spcAft>
                <a:spcPts val="200"/>
              </a:spcAft>
              <a:buNone/>
            </a:pPr>
            <a:r>
              <a:rPr lang="en-US" sz="750" dirty="0">
                <a:solidFill>
                  <a:srgbClr val="1F3A93"/>
                </a:solidFill>
                <a:latin typeface="Arial" pitchFamily="34" charset="0"/>
                <a:ea typeface="Arial" pitchFamily="34" charset="-122"/>
                <a:cs typeface="Arial" pitchFamily="34" charset="-120"/>
              </a:rPr>
              <a:t>   "htp_graph_finalization_optimization_mode": "3",</a:t>
            </a:r>
            <a:endParaRPr lang="en-US" sz="750" dirty="0"/>
          </a:p>
          <a:p>
            <a:pPr algn="l" indent="0" marL="0">
              <a:lnSpc>
                <a:spcPct val="100000"/>
              </a:lnSpc>
              <a:spcAft>
                <a:spcPts val="200"/>
              </a:spcAft>
              <a:buNone/>
            </a:pPr>
            <a:r>
              <a:rPr lang="en-US" sz="750" dirty="0">
                <a:solidFill>
                  <a:srgbClr val="1F3A93"/>
                </a:solidFill>
                <a:latin typeface="Arial" pitchFamily="34" charset="0"/>
                <a:ea typeface="Arial" pitchFamily="34" charset="-122"/>
                <a:cs typeface="Arial" pitchFamily="34" charset="-120"/>
              </a:rPr>
              <a:t>   "enable_htp_fp16_precision": "1"}),</a:t>
            </a:r>
            <a:endParaRPr lang="en-US" sz="750" dirty="0"/>
          </a:p>
          <a:p>
            <a:pPr algn="l" indent="0" marL="0">
              <a:lnSpc>
                <a:spcPct val="100000"/>
              </a:lnSpc>
              <a:spcAft>
                <a:spcPts val="200"/>
              </a:spcAft>
              <a:buNone/>
            </a:pPr>
            <a:r>
              <a:rPr lang="en-US" sz="750" dirty="0">
                <a:solidFill>
                  <a:srgbClr val="1F3A93"/>
                </a:solidFill>
                <a:latin typeface="Arial" pitchFamily="34" charset="0"/>
                <a:ea typeface="Arial" pitchFamily="34" charset="-122"/>
                <a:cs typeface="Arial" pitchFamily="34" charset="-120"/>
              </a:rPr>
              <a:t> "CPUExecutionProvider"]</a:t>
            </a:r>
            <a:endParaRPr lang="en-US" sz="750" dirty="0"/>
          </a:p>
          <a:p>
            <a:pPr algn="l" indent="0" marL="0">
              <a:lnSpc>
                <a:spcPct val="100000"/>
              </a:lnSpc>
              <a:spcAft>
                <a:spcPts val="200"/>
              </a:spcAft>
              <a:buNone/>
            </a:pPr>
            <a:r>
              <a:rPr lang="en-US" sz="750" dirty="0">
                <a:solidFill>
                  <a:srgbClr val="1F3A93"/>
                </a:solidFill>
                <a:latin typeface="Arial" pitchFamily="34" charset="0"/>
                <a:ea typeface="Arial" pitchFamily="34" charset="-122"/>
                <a:cs typeface="Arial" pitchFamily="34" charset="-120"/>
              </a:rPr>
              <a:t>so.add_session_config_entry("ep.context_enable", "1")</a:t>
            </a:r>
            <a:endParaRPr lang="en-US" sz="750" dirty="0"/>
          </a:p>
        </p:txBody>
      </p:sp>
      <p:sp>
        <p:nvSpPr>
          <p:cNvPr id="67" name="Text 55"/>
          <p:cNvSpPr txBox="1"/>
          <p:nvPr/>
        </p:nvSpPr>
        <p:spPr>
          <a:xfrm>
            <a:off x="7818120" y="5943600"/>
            <a:ext cx="4023360" cy="502920"/>
          </a:xfrm>
          <a:prstGeom prst="rect">
            <a:avLst/>
          </a:prstGeom>
          <a:noFill/>
          <a:ln/>
        </p:spPr>
        <p:txBody>
          <a:bodyPr wrap="square" lIns="508" tIns="508" rIns="508" bIns="508" rtlCol="0" anchor="t"/>
          <a:lstStyle/>
          <a:p>
            <a:pPr algn="l" indent="0" marL="0">
              <a:lnSpc>
                <a:spcPct val="100000"/>
              </a:lnSpc>
              <a:spcAft>
                <a:spcPts val="200"/>
              </a:spcAft>
              <a:buNone/>
            </a:pPr>
            <a:r>
              <a:rPr lang="en-US" sz="780" i="1" dirty="0">
                <a:solidFill>
                  <a:srgbClr val="5E5E66"/>
                </a:solidFill>
                <a:latin typeface="Arial" pitchFamily="34" charset="0"/>
                <a:ea typeface="Arial" pitchFamily="34" charset="-122"/>
                <a:cs typeface="Arial" pitchFamily="34" charset="-120"/>
              </a:rPr>
              <a:t>Same code runs on the NPU on Snapdragon and on the CPU anywhere else, so judges can run the demo on any laptop.</a:t>
            </a:r>
            <a:endParaRPr lang="en-US" sz="780" dirty="0"/>
          </a:p>
        </p:txBody>
      </p:sp>
      <p:sp>
        <p:nvSpPr>
          <p:cNvPr id="68" name="Text 56"/>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D7002A"/>
          </a:solidFill>
          <a:ln w="6350">
            <a:solidFill>
              <a:srgbClr val="D7002A"/>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The risk engine: from a sentence to a verdict you can trust</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Deterministic, explainable, tunable. The LLM never decides the verdict.</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3840480" cy="5276088"/>
          </a:xfrm>
          <a:prstGeom prst="roundRect">
            <a:avLst>
              <a:gd name="adj" fmla="val 1905"/>
            </a:avLst>
          </a:prstGeom>
          <a:solidFill>
            <a:srgbClr val="FFFFFF"/>
          </a:solidFill>
          <a:ln w="9525">
            <a:solidFill>
              <a:srgbClr val="E3DCD1"/>
            </a:solidFill>
            <a:prstDash val="solid"/>
          </a:ln>
        </p:spPr>
      </p:sp>
      <p:sp>
        <p:nvSpPr>
          <p:cNvPr id="35" name="Shape 31"/>
          <p:cNvSpPr/>
          <p:nvPr/>
        </p:nvSpPr>
        <p:spPr>
          <a:xfrm>
            <a:off x="365760" y="1307592"/>
            <a:ext cx="3657600" cy="274320"/>
          </a:xfrm>
          <a:prstGeom prst="roundRect">
            <a:avLst>
              <a:gd name="adj" fmla="val 16667"/>
            </a:avLst>
          </a:prstGeom>
          <a:solidFill>
            <a:srgbClr val="121217"/>
          </a:solidFill>
          <a:ln w="12700">
            <a:solidFill>
              <a:srgbClr val="121217"/>
            </a:solidFill>
            <a:prstDash val="solid"/>
          </a:ln>
        </p:spPr>
      </p:sp>
      <p:sp>
        <p:nvSpPr>
          <p:cNvPr id="36" name="Text 32"/>
          <p:cNvSpPr txBox="1"/>
          <p:nvPr/>
        </p:nvSpPr>
        <p:spPr>
          <a:xfrm>
            <a:off x="365760" y="1307592"/>
            <a:ext cx="3657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10 tactics, weighted</a:t>
            </a:r>
            <a:endParaRPr lang="en-US" sz="1000" dirty="0"/>
          </a:p>
        </p:txBody>
      </p:sp>
      <p:graphicFrame>
        <p:nvGraphicFramePr>
          <p:cNvPr id="37" name="Chart 0" descr=""/>
          <p:cNvGraphicFramePr/>
          <p:nvPr/>
        </p:nvGraphicFramePr>
        <p:xfrm>
          <a:off x="320040" y="1572768"/>
          <a:ext cx="2057400" cy="4846320"/>
        </p:xfrm>
        <a:graphic xmlns:a="http://schemas.openxmlformats.org/drawingml/2006/main">
          <a:graphicData uri="http://schemas.openxmlformats.org/drawingml/2006/chart">
            <c:chart xmlns:c="http://schemas.openxmlformats.org/drawingml/2006/chart" r:id="rId3"/>
          </a:graphicData>
        </a:graphic>
      </p:graphicFrame>
      <p:sp>
        <p:nvSpPr>
          <p:cNvPr id="38" name="Text 33"/>
          <p:cNvSpPr txBox="1"/>
          <p:nvPr/>
        </p:nvSpPr>
        <p:spPr>
          <a:xfrm>
            <a:off x="2377440" y="1700784"/>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OTP, PIN, CVV, card number</a:t>
            </a:r>
            <a:endParaRPr lang="en-US" sz="730" dirty="0"/>
          </a:p>
        </p:txBody>
      </p:sp>
      <p:sp>
        <p:nvSpPr>
          <p:cNvPr id="39" name="Text 34"/>
          <p:cNvSpPr txBox="1"/>
          <p:nvPr/>
        </p:nvSpPr>
        <p:spPr>
          <a:xfrm>
            <a:off x="2377440" y="2162556"/>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AnyDesk, TeamViewer, screen share</a:t>
            </a:r>
            <a:endParaRPr lang="en-US" sz="730" dirty="0"/>
          </a:p>
        </p:txBody>
      </p:sp>
      <p:sp>
        <p:nvSpPr>
          <p:cNvPr id="40" name="Text 35"/>
          <p:cNvSpPr txBox="1"/>
          <p:nvPr/>
        </p:nvSpPr>
        <p:spPr>
          <a:xfrm>
            <a:off x="2377440" y="2624328"/>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don't tell anyone, stay on call</a:t>
            </a:r>
            <a:endParaRPr lang="en-US" sz="730" dirty="0"/>
          </a:p>
        </p:txBody>
      </p:sp>
      <p:sp>
        <p:nvSpPr>
          <p:cNvPr id="41" name="Text 36"/>
          <p:cNvSpPr txBox="1"/>
          <p:nvPr/>
        </p:nvSpPr>
        <p:spPr>
          <a:xfrm>
            <a:off x="2377440" y="3086100"/>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safe account, UPI, RTGS, fees</a:t>
            </a:r>
            <a:endParaRPr lang="en-US" sz="730" dirty="0"/>
          </a:p>
        </p:txBody>
      </p:sp>
      <p:sp>
        <p:nvSpPr>
          <p:cNvPr id="42" name="Text 37"/>
          <p:cNvSpPr txBox="1"/>
          <p:nvPr/>
        </p:nvSpPr>
        <p:spPr>
          <a:xfrm>
            <a:off x="2377440" y="3547872"/>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virus detected, PC blocked</a:t>
            </a:r>
            <a:endParaRPr lang="en-US" sz="730" dirty="0"/>
          </a:p>
        </p:txBody>
      </p:sp>
      <p:sp>
        <p:nvSpPr>
          <p:cNvPr id="43" name="Text 38"/>
          <p:cNvSpPr txBox="1"/>
          <p:nvPr/>
        </p:nvSpPr>
        <p:spPr>
          <a:xfrm>
            <a:off x="2377440" y="4009644"/>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arrest warrant, account blocked</a:t>
            </a:r>
            <a:endParaRPr lang="en-US" sz="730" dirty="0"/>
          </a:p>
        </p:txBody>
      </p:sp>
      <p:sp>
        <p:nvSpPr>
          <p:cNvPr id="44" name="Text 39"/>
          <p:cNvSpPr txBox="1"/>
          <p:nvPr/>
        </p:nvSpPr>
        <p:spPr>
          <a:xfrm>
            <a:off x="2377440" y="4471416"/>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your Aadhaar / parcel misused</a:t>
            </a:r>
            <a:endParaRPr lang="en-US" sz="730" dirty="0"/>
          </a:p>
        </p:txBody>
      </p:sp>
      <p:sp>
        <p:nvSpPr>
          <p:cNvPr id="45" name="Text 40"/>
          <p:cNvSpPr txBox="1"/>
          <p:nvPr/>
        </p:nvSpPr>
        <p:spPr>
          <a:xfrm>
            <a:off x="2377440" y="4933188"/>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CBI, police, RBI, TRAI, Microsoft</a:t>
            </a:r>
            <a:endParaRPr lang="en-US" sz="730" dirty="0"/>
          </a:p>
        </p:txBody>
      </p:sp>
      <p:sp>
        <p:nvSpPr>
          <p:cNvPr id="46" name="Text 41"/>
          <p:cNvSpPr txBox="1"/>
          <p:nvPr/>
        </p:nvSpPr>
        <p:spPr>
          <a:xfrm>
            <a:off x="2377440" y="5394960"/>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lottery, refund, guaranteed return</a:t>
            </a:r>
            <a:endParaRPr lang="en-US" sz="730" dirty="0"/>
          </a:p>
        </p:txBody>
      </p:sp>
      <p:sp>
        <p:nvSpPr>
          <p:cNvPr id="47" name="Text 42"/>
          <p:cNvSpPr txBox="1"/>
          <p:nvPr/>
        </p:nvSpPr>
        <p:spPr>
          <a:xfrm>
            <a:off x="2377440" y="5856732"/>
            <a:ext cx="1691640" cy="411480"/>
          </a:xfrm>
          <a:prstGeom prst="rect">
            <a:avLst/>
          </a:prstGeom>
          <a:noFill/>
          <a:ln/>
        </p:spPr>
        <p:txBody>
          <a:bodyPr wrap="square" lIns="508" tIns="508" rIns="508" bIns="508" rtlCol="0" anchor="ctr"/>
          <a:lstStyle/>
          <a:p>
            <a:pPr algn="l" indent="0" marL="0">
              <a:lnSpc>
                <a:spcPct val="100000"/>
              </a:lnSpc>
              <a:spcAft>
                <a:spcPts val="200"/>
              </a:spcAft>
              <a:buNone/>
            </a:pPr>
            <a:r>
              <a:rPr lang="en-US" sz="730" dirty="0">
                <a:solidFill>
                  <a:srgbClr val="5E5E66"/>
                </a:solidFill>
                <a:latin typeface="Arial" pitchFamily="34" charset="0"/>
                <a:ea typeface="Arial" pitchFamily="34" charset="-122"/>
                <a:cs typeface="Arial" pitchFamily="34" charset="-120"/>
              </a:rPr>
              <a:t>within 2 hours, turant, abhi</a:t>
            </a:r>
            <a:endParaRPr lang="en-US" sz="730" dirty="0"/>
          </a:p>
        </p:txBody>
      </p:sp>
      <p:sp>
        <p:nvSpPr>
          <p:cNvPr id="48" name="Shape 43"/>
          <p:cNvSpPr/>
          <p:nvPr/>
        </p:nvSpPr>
        <p:spPr>
          <a:xfrm>
            <a:off x="4251960" y="1234440"/>
            <a:ext cx="3840480" cy="2103120"/>
          </a:xfrm>
          <a:prstGeom prst="roundRect">
            <a:avLst>
              <a:gd name="adj" fmla="val 3478"/>
            </a:avLst>
          </a:prstGeom>
          <a:solidFill>
            <a:srgbClr val="FFFFFF"/>
          </a:solidFill>
          <a:ln w="9525">
            <a:solidFill>
              <a:srgbClr val="E3DCD1"/>
            </a:solidFill>
            <a:prstDash val="solid"/>
          </a:ln>
        </p:spPr>
      </p:sp>
      <p:sp>
        <p:nvSpPr>
          <p:cNvPr id="49" name="Shape 44"/>
          <p:cNvSpPr/>
          <p:nvPr/>
        </p:nvSpPr>
        <p:spPr>
          <a:xfrm>
            <a:off x="4343400" y="1307592"/>
            <a:ext cx="3657600" cy="274320"/>
          </a:xfrm>
          <a:prstGeom prst="roundRect">
            <a:avLst>
              <a:gd name="adj" fmla="val 16667"/>
            </a:avLst>
          </a:prstGeom>
          <a:solidFill>
            <a:srgbClr val="7B3FA0"/>
          </a:solidFill>
          <a:ln w="12700">
            <a:solidFill>
              <a:srgbClr val="7B3FA0"/>
            </a:solidFill>
            <a:prstDash val="solid"/>
          </a:ln>
        </p:spPr>
      </p:sp>
      <p:sp>
        <p:nvSpPr>
          <p:cNvPr id="50" name="Text 45"/>
          <p:cNvSpPr txBox="1"/>
          <p:nvPr/>
        </p:nvSpPr>
        <p:spPr>
          <a:xfrm>
            <a:off x="4343400" y="1307592"/>
            <a:ext cx="3657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Per sentence (segment score)</a:t>
            </a:r>
            <a:endParaRPr lang="en-US" sz="1000" dirty="0"/>
          </a:p>
        </p:txBody>
      </p:sp>
      <p:sp>
        <p:nvSpPr>
          <p:cNvPr id="51" name="Text 46"/>
          <p:cNvSpPr txBox="1"/>
          <p:nvPr/>
        </p:nvSpPr>
        <p:spPr>
          <a:xfrm>
            <a:off x="4343400" y="1645920"/>
            <a:ext cx="3657600" cy="2103120"/>
          </a:xfrm>
          <a:prstGeom prst="rect">
            <a:avLst/>
          </a:prstGeom>
          <a:noFill/>
          <a:ln/>
        </p:spPr>
        <p:txBody>
          <a:bodyPr wrap="square" lIns="508" tIns="508" rIns="508" bIns="508" rtlCol="0" anchor="t"/>
          <a:lstStyle/>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Normalise: NFKC, case, punctuation, ASR / OCR confusions ('any desk' to 'anydesk')</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Match 300+ cues; Latin on word boundaries, Devanagari as substrings; keep the longest phrase</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pattern = 1 - PRODUCT(1 - w_tactic)</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segment = 1 - (1 - pattern)(1 - 0.6 x p_scam)</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Awareness damping x0.35 for 'police never ask...', bank SMS footers</a:t>
            </a:r>
            <a:endParaRPr lang="en-US" sz="800" dirty="0"/>
          </a:p>
        </p:txBody>
      </p:sp>
      <p:sp>
        <p:nvSpPr>
          <p:cNvPr id="52" name="Shape 47"/>
          <p:cNvSpPr/>
          <p:nvPr/>
        </p:nvSpPr>
        <p:spPr>
          <a:xfrm>
            <a:off x="8229600" y="1234440"/>
            <a:ext cx="3685032" cy="2103120"/>
          </a:xfrm>
          <a:prstGeom prst="roundRect">
            <a:avLst>
              <a:gd name="adj" fmla="val 3478"/>
            </a:avLst>
          </a:prstGeom>
          <a:solidFill>
            <a:srgbClr val="FFFFFF"/>
          </a:solidFill>
          <a:ln w="9525">
            <a:solidFill>
              <a:srgbClr val="E3DCD1"/>
            </a:solidFill>
            <a:prstDash val="solid"/>
          </a:ln>
        </p:spPr>
      </p:sp>
      <p:sp>
        <p:nvSpPr>
          <p:cNvPr id="53" name="Shape 48"/>
          <p:cNvSpPr/>
          <p:nvPr/>
        </p:nvSpPr>
        <p:spPr>
          <a:xfrm>
            <a:off x="8321040" y="1307592"/>
            <a:ext cx="3502152" cy="274320"/>
          </a:xfrm>
          <a:prstGeom prst="roundRect">
            <a:avLst>
              <a:gd name="adj" fmla="val 16667"/>
            </a:avLst>
          </a:prstGeom>
          <a:solidFill>
            <a:srgbClr val="D7002A"/>
          </a:solidFill>
          <a:ln w="12700">
            <a:solidFill>
              <a:srgbClr val="D7002A"/>
            </a:solidFill>
            <a:prstDash val="solid"/>
          </a:ln>
        </p:spPr>
      </p:sp>
      <p:sp>
        <p:nvSpPr>
          <p:cNvPr id="54" name="Text 49"/>
          <p:cNvSpPr txBox="1"/>
          <p:nvPr/>
        </p:nvSpPr>
        <p:spPr>
          <a:xfrm>
            <a:off x="8321040" y="1307592"/>
            <a:ext cx="350215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Across the conversation (fusion)</a:t>
            </a:r>
            <a:endParaRPr lang="en-US" sz="1000" dirty="0"/>
          </a:p>
        </p:txBody>
      </p:sp>
      <p:sp>
        <p:nvSpPr>
          <p:cNvPr id="55" name="Text 50"/>
          <p:cNvSpPr txBox="1"/>
          <p:nvPr/>
        </p:nvSpPr>
        <p:spPr>
          <a:xfrm>
            <a:off x="8321040" y="1645920"/>
            <a:ext cx="3520440" cy="2103120"/>
          </a:xfrm>
          <a:prstGeom prst="rect">
            <a:avLst/>
          </a:prstGeom>
          <a:noFill/>
          <a:ln/>
        </p:spPr>
        <p:txBody>
          <a:bodyPr wrap="square" lIns="508" tIns="508" rIns="508" bIns="508" rtlCol="0" anchor="t"/>
          <a:lstStyle/>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Evidence decays with a 4-minute half-life</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Evidence weight scaled by classifier confidence; OTP, remote-access and secrecy asks keep 60% during a live call</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Noisy-OR over the strongest evidence per tactic</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+0.08 when 2+ modalities agree during a call</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Alert fires once per upward level change</a:t>
            </a:r>
            <a:endParaRPr lang="en-US" sz="800" dirty="0"/>
          </a:p>
        </p:txBody>
      </p:sp>
      <p:sp>
        <p:nvSpPr>
          <p:cNvPr id="56" name="Shape 51"/>
          <p:cNvSpPr/>
          <p:nvPr/>
        </p:nvSpPr>
        <p:spPr>
          <a:xfrm>
            <a:off x="4251960" y="3474720"/>
            <a:ext cx="7662672" cy="3035808"/>
          </a:xfrm>
          <a:prstGeom prst="roundRect">
            <a:avLst>
              <a:gd name="adj" fmla="val 2410"/>
            </a:avLst>
          </a:prstGeom>
          <a:solidFill>
            <a:srgbClr val="FFFFFF"/>
          </a:solidFill>
          <a:ln w="9525">
            <a:solidFill>
              <a:srgbClr val="E3DCD1"/>
            </a:solidFill>
            <a:prstDash val="solid"/>
          </a:ln>
        </p:spPr>
      </p:sp>
      <p:sp>
        <p:nvSpPr>
          <p:cNvPr id="57" name="Shape 52"/>
          <p:cNvSpPr/>
          <p:nvPr/>
        </p:nvSpPr>
        <p:spPr>
          <a:xfrm>
            <a:off x="4343400" y="3547872"/>
            <a:ext cx="7479792" cy="274320"/>
          </a:xfrm>
          <a:prstGeom prst="roundRect">
            <a:avLst>
              <a:gd name="adj" fmla="val 16667"/>
            </a:avLst>
          </a:prstGeom>
          <a:solidFill>
            <a:srgbClr val="121217"/>
          </a:solidFill>
          <a:ln w="12700">
            <a:solidFill>
              <a:srgbClr val="121217"/>
            </a:solidFill>
            <a:prstDash val="solid"/>
          </a:ln>
        </p:spPr>
      </p:sp>
      <p:sp>
        <p:nvSpPr>
          <p:cNvPr id="58" name="Text 53"/>
          <p:cNvSpPr txBox="1"/>
          <p:nvPr/>
        </p:nvSpPr>
        <p:spPr>
          <a:xfrm>
            <a:off x="4343400" y="3547872"/>
            <a:ext cx="74797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Escalation rules encode what investigators describe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343400" y="3858768"/>
          <a:ext cx="7479792" cy="914400"/>
        </p:xfrm>
        <a:graphic>
          <a:graphicData uri="http://schemas.openxmlformats.org/drawingml/2006/table">
            <a:tbl>
              <a:tblPr/>
              <a:tblGrid>
                <a:gridCol w="1600200"/>
                <a:gridCol w="3200400"/>
                <a:gridCol w="1097280"/>
                <a:gridCol w="1581912"/>
              </a:tblGrid>
              <a:tr h="274320">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Signature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Condition (decayed evidence)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Floor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Catches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Remote control + money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remote_access &gt;= 0.20 and (payment or credential) &gt;= 0.15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0.85 DANGER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tech support, KYC with AnyDesk</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Digital arrest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secrecy &gt;= 0.12, payment &gt;= 0.12, authority &gt;= 0.08</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0.90 DANGER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fake CBI / police / customs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Advance fee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lure &gt;= 0.08 and payment &gt;= 0.12</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0.68 WARNING</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lottery, task job, IPO, refund</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74320">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Cross-modal agreement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call live, 2+ sources, score &gt;= 0.5</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+0.08</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screen confirms what the call says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bl>
          </a:graphicData>
        </a:graphic>
      </p:graphicFrame>
      <p:sp>
        <p:nvSpPr>
          <p:cNvPr id="60" name="Shape 54"/>
          <p:cNvSpPr/>
          <p:nvPr/>
        </p:nvSpPr>
        <p:spPr>
          <a:xfrm>
            <a:off x="4343400" y="5349240"/>
            <a:ext cx="7479792" cy="658368"/>
          </a:xfrm>
          <a:prstGeom prst="roundRect">
            <a:avLst>
              <a:gd name="adj" fmla="val 8333"/>
            </a:avLst>
          </a:prstGeom>
          <a:solidFill>
            <a:srgbClr val="FDECEF"/>
          </a:solidFill>
          <a:ln w="9525">
            <a:solidFill>
              <a:srgbClr val="D7002A"/>
            </a:solidFill>
            <a:prstDash val="solid"/>
          </a:ln>
        </p:spPr>
      </p:sp>
      <p:sp>
        <p:nvSpPr>
          <p:cNvPr id="61" name="Text 55"/>
          <p:cNvSpPr txBox="1"/>
          <p:nvPr/>
        </p:nvSpPr>
        <p:spPr>
          <a:xfrm>
            <a:off x="4434840" y="5367528"/>
            <a:ext cx="7315200" cy="621792"/>
          </a:xfrm>
          <a:prstGeom prst="rect">
            <a:avLst/>
          </a:prstGeom>
          <a:noFill/>
          <a:ln/>
        </p:spPr>
        <p:txBody>
          <a:bodyPr wrap="square" lIns="508" tIns="508" rIns="508" bIns="508" rtlCol="0" anchor="ctr"/>
          <a:lstStyle/>
          <a:p>
            <a:pPr algn="l" indent="0" marL="0">
              <a:lnSpc>
                <a:spcPct val="100000"/>
              </a:lnSpc>
              <a:spcAft>
                <a:spcPts val="200"/>
              </a:spcAft>
              <a:buNone/>
            </a:pPr>
            <a:r>
              <a:rPr lang="en-US" sz="830" b="1" dirty="0">
                <a:solidFill>
                  <a:srgbClr val="D7002A"/>
                </a:solidFill>
                <a:latin typeface="Arial" pitchFamily="34" charset="0"/>
                <a:ea typeface="Arial" pitchFamily="34" charset="-122"/>
                <a:cs typeface="Arial" pitchFamily="34" charset="-120"/>
              </a:rPr>
              <a:t>Worked example: </a:t>
            </a:r>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'main CBI se bol raha hoon' (authority) + 'kisi ko mat batana' (secrecy) + 'RBI safe account mein transfer karo' (payment) = digital-arrest signature, floor 0.90, DANGER. Any one of those lines alone stays below WARNING.</a:t>
            </a:r>
            <a:endParaRPr lang="en-US" sz="830" dirty="0"/>
          </a:p>
        </p:txBody>
      </p:sp>
      <p:sp>
        <p:nvSpPr>
          <p:cNvPr id="62" name="Text 56"/>
          <p:cNvSpPr txBox="1"/>
          <p:nvPr/>
        </p:nvSpPr>
        <p:spPr>
          <a:xfrm>
            <a:off x="4343400" y="6080760"/>
            <a:ext cx="7479792" cy="365760"/>
          </a:xfrm>
          <a:prstGeom prst="rect">
            <a:avLst/>
          </a:prstGeom>
          <a:noFill/>
          <a:ln/>
        </p:spPr>
        <p:txBody>
          <a:bodyPr wrap="square" lIns="508" tIns="508" rIns="508" bIns="508" rtlCol="0" anchor="t"/>
          <a:lstStyle/>
          <a:p>
            <a:pPr algn="l" indent="0" marL="0">
              <a:lnSpc>
                <a:spcPct val="100000"/>
              </a:lnSpc>
              <a:spcAft>
                <a:spcPts val="200"/>
              </a:spcAft>
              <a:buNone/>
            </a:pPr>
            <a:r>
              <a:rPr lang="en-US" sz="800" i="1" dirty="0">
                <a:solidFill>
                  <a:srgbClr val="5E5E66"/>
                </a:solidFill>
                <a:latin typeface="Arial" pitchFamily="34" charset="0"/>
                <a:ea typeface="Arial" pitchFamily="34" charset="-122"/>
                <a:cs typeface="Arial" pitchFamily="34" charset="-120"/>
              </a:rPr>
              <a:t>Thresholds tuned on synthetic calls: false alarms fell from 22% to 0.5% while detection rose from 65.5% to 91% (see Results).</a:t>
            </a:r>
            <a:endParaRPr lang="en-US" sz="800" dirty="0"/>
          </a:p>
        </p:txBody>
      </p:sp>
      <p:sp>
        <p:nvSpPr>
          <p:cNvPr id="63" name="Text 57"/>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D7002A"/>
          </a:solidFill>
          <a:ln w="6350">
            <a:solidFill>
              <a:srgbClr val="D7002A"/>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Results: catches scams early, stays quiet on normal calls</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Reproducible with `python scripts/evaluate.py` and `python -m pytest`</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2240280" cy="822960"/>
          </a:xfrm>
          <a:prstGeom prst="roundRect">
            <a:avLst>
              <a:gd name="adj" fmla="val 8889"/>
            </a:avLst>
          </a:prstGeom>
          <a:solidFill>
            <a:srgbClr val="FFFFFF"/>
          </a:solidFill>
          <a:ln w="15875">
            <a:solidFill>
              <a:srgbClr val="D7002A"/>
            </a:solidFill>
            <a:prstDash val="solid"/>
          </a:ln>
        </p:spPr>
      </p:sp>
      <p:pic>
        <p:nvPicPr>
          <p:cNvPr id="35" name="Image 2" descr="preencoded.png">    </p:cNvPr>
          <p:cNvPicPr>
            <a:picLocks noChangeAspect="1"/>
          </p:cNvPicPr>
          <p:nvPr/>
        </p:nvPicPr>
        <p:blipFill>
          <a:blip r:embed="rId3"/>
          <a:stretch>
            <a:fillRect/>
          </a:stretch>
        </p:blipFill>
        <p:spPr>
          <a:xfrm>
            <a:off x="384048" y="1453896"/>
            <a:ext cx="384048" cy="384048"/>
          </a:xfrm>
          <a:prstGeom prst="rect">
            <a:avLst/>
          </a:prstGeom>
        </p:spPr>
      </p:pic>
      <p:sp>
        <p:nvSpPr>
          <p:cNvPr id="36" name="Text 31"/>
          <p:cNvSpPr txBox="1"/>
          <p:nvPr/>
        </p:nvSpPr>
        <p:spPr>
          <a:xfrm>
            <a:off x="841248" y="1271016"/>
            <a:ext cx="1618488" cy="749808"/>
          </a:xfrm>
          <a:prstGeom prst="rect">
            <a:avLst/>
          </a:prstGeom>
          <a:noFill/>
          <a:ln/>
        </p:spPr>
        <p:txBody>
          <a:bodyPr wrap="square" lIns="0" tIns="0" rIns="0" bIns="0" rtlCol="0" anchor="ctr"/>
          <a:lstStyle/>
          <a:p>
            <a:pPr indent="0" marL="0">
              <a:buNone/>
            </a:pPr>
            <a:r>
              <a:rPr lang="en-US" sz="1800" b="1" dirty="0">
                <a:solidFill>
                  <a:srgbClr val="D7002A"/>
                </a:solidFill>
                <a:latin typeface="Arial" pitchFamily="34" charset="0"/>
                <a:ea typeface="Arial" pitchFamily="34" charset="-122"/>
                <a:cs typeface="Arial" pitchFamily="34" charset="-120"/>
              </a:rPr>
              <a:t>91%</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of 200 synthetic scam calls reach WARNING</a:t>
            </a:r>
            <a:endParaRPr lang="en-US" sz="1800" dirty="0"/>
          </a:p>
        </p:txBody>
      </p:sp>
      <p:sp>
        <p:nvSpPr>
          <p:cNvPr id="37" name="Shape 32"/>
          <p:cNvSpPr/>
          <p:nvPr/>
        </p:nvSpPr>
        <p:spPr>
          <a:xfrm>
            <a:off x="2606040" y="1234440"/>
            <a:ext cx="2240280" cy="822960"/>
          </a:xfrm>
          <a:prstGeom prst="roundRect">
            <a:avLst>
              <a:gd name="adj" fmla="val 8889"/>
            </a:avLst>
          </a:prstGeom>
          <a:solidFill>
            <a:srgbClr val="FFFFFF"/>
          </a:solidFill>
          <a:ln w="15875">
            <a:solidFill>
              <a:srgbClr val="1E9E57"/>
            </a:solidFill>
            <a:prstDash val="solid"/>
          </a:ln>
        </p:spPr>
      </p:sp>
      <p:pic>
        <p:nvPicPr>
          <p:cNvPr id="38" name="Image 3" descr="preencoded.png">    </p:cNvPr>
          <p:cNvPicPr>
            <a:picLocks noChangeAspect="1"/>
          </p:cNvPicPr>
          <p:nvPr/>
        </p:nvPicPr>
        <p:blipFill>
          <a:blip r:embed="rId4"/>
          <a:stretch>
            <a:fillRect/>
          </a:stretch>
        </p:blipFill>
        <p:spPr>
          <a:xfrm>
            <a:off x="2715768" y="1453896"/>
            <a:ext cx="384048" cy="384048"/>
          </a:xfrm>
          <a:prstGeom prst="rect">
            <a:avLst/>
          </a:prstGeom>
        </p:spPr>
      </p:pic>
      <p:sp>
        <p:nvSpPr>
          <p:cNvPr id="39" name="Text 33"/>
          <p:cNvSpPr txBox="1"/>
          <p:nvPr/>
        </p:nvSpPr>
        <p:spPr>
          <a:xfrm>
            <a:off x="3172968" y="1271016"/>
            <a:ext cx="1618488" cy="749808"/>
          </a:xfrm>
          <a:prstGeom prst="rect">
            <a:avLst/>
          </a:prstGeom>
          <a:noFill/>
          <a:ln/>
        </p:spPr>
        <p:txBody>
          <a:bodyPr wrap="square" lIns="0" tIns="0" rIns="0" bIns="0" rtlCol="0" anchor="ctr"/>
          <a:lstStyle/>
          <a:p>
            <a:pPr indent="0" marL="0">
              <a:buNone/>
            </a:pPr>
            <a:r>
              <a:rPr lang="en-US" sz="1800" b="1" dirty="0">
                <a:solidFill>
                  <a:srgbClr val="1E9E57"/>
                </a:solidFill>
                <a:latin typeface="Arial" pitchFamily="34" charset="0"/>
                <a:ea typeface="Arial" pitchFamily="34" charset="-122"/>
                <a:cs typeface="Arial" pitchFamily="34" charset="-120"/>
              </a:rPr>
              <a:t>0.5%</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false alarms on 200 benign calls with hard negatives</a:t>
            </a:r>
            <a:endParaRPr lang="en-US" sz="1800" dirty="0"/>
          </a:p>
        </p:txBody>
      </p:sp>
      <p:sp>
        <p:nvSpPr>
          <p:cNvPr id="40" name="Shape 34"/>
          <p:cNvSpPr/>
          <p:nvPr/>
        </p:nvSpPr>
        <p:spPr>
          <a:xfrm>
            <a:off x="4937760" y="1234440"/>
            <a:ext cx="2240280" cy="822960"/>
          </a:xfrm>
          <a:prstGeom prst="roundRect">
            <a:avLst>
              <a:gd name="adj" fmla="val 8889"/>
            </a:avLst>
          </a:prstGeom>
          <a:solidFill>
            <a:srgbClr val="FFFFFF"/>
          </a:solidFill>
          <a:ln w="15875">
            <a:solidFill>
              <a:srgbClr val="3253DC"/>
            </a:solidFill>
            <a:prstDash val="solid"/>
          </a:ln>
        </p:spPr>
      </p:sp>
      <p:pic>
        <p:nvPicPr>
          <p:cNvPr id="41" name="Image 4" descr="preencoded.png">    </p:cNvPr>
          <p:cNvPicPr>
            <a:picLocks noChangeAspect="1"/>
          </p:cNvPicPr>
          <p:nvPr/>
        </p:nvPicPr>
        <p:blipFill>
          <a:blip r:embed="rId5"/>
          <a:stretch>
            <a:fillRect/>
          </a:stretch>
        </p:blipFill>
        <p:spPr>
          <a:xfrm>
            <a:off x="5047488" y="1453896"/>
            <a:ext cx="384048" cy="384048"/>
          </a:xfrm>
          <a:prstGeom prst="rect">
            <a:avLst/>
          </a:prstGeom>
        </p:spPr>
      </p:pic>
      <p:sp>
        <p:nvSpPr>
          <p:cNvPr id="42" name="Text 35"/>
          <p:cNvSpPr txBox="1"/>
          <p:nvPr/>
        </p:nvSpPr>
        <p:spPr>
          <a:xfrm>
            <a:off x="5504688" y="1271016"/>
            <a:ext cx="1618488" cy="749808"/>
          </a:xfrm>
          <a:prstGeom prst="rect">
            <a:avLst/>
          </a:prstGeom>
          <a:noFill/>
          <a:ln/>
        </p:spPr>
        <p:txBody>
          <a:bodyPr wrap="square" lIns="0" tIns="0" rIns="0" bIns="0" rtlCol="0" anchor="ctr"/>
          <a:lstStyle/>
          <a:p>
            <a:pPr indent="0" marL="0">
              <a:buNone/>
            </a:pPr>
            <a:r>
              <a:rPr lang="en-US" sz="1800" b="1" dirty="0">
                <a:solidFill>
                  <a:srgbClr val="3253DC"/>
                </a:solidFill>
                <a:latin typeface="Arial" pitchFamily="34" charset="0"/>
                <a:ea typeface="Arial" pitchFamily="34" charset="-122"/>
                <a:cs typeface="Arial" pitchFamily="34" charset="-120"/>
              </a:rPr>
              <a:t>2 turns</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median to first WARNING</a:t>
            </a:r>
            <a:endParaRPr lang="en-US" sz="1800" dirty="0"/>
          </a:p>
        </p:txBody>
      </p:sp>
      <p:sp>
        <p:nvSpPr>
          <p:cNvPr id="43" name="Shape 36"/>
          <p:cNvSpPr/>
          <p:nvPr/>
        </p:nvSpPr>
        <p:spPr>
          <a:xfrm>
            <a:off x="7269480" y="1234440"/>
            <a:ext cx="2240280" cy="822960"/>
          </a:xfrm>
          <a:prstGeom prst="roundRect">
            <a:avLst>
              <a:gd name="adj" fmla="val 8889"/>
            </a:avLst>
          </a:prstGeom>
          <a:solidFill>
            <a:srgbClr val="FFFFFF"/>
          </a:solidFill>
          <a:ln w="15875">
            <a:solidFill>
              <a:srgbClr val="E08A00"/>
            </a:solidFill>
            <a:prstDash val="solid"/>
          </a:ln>
        </p:spPr>
      </p:sp>
      <p:pic>
        <p:nvPicPr>
          <p:cNvPr id="44" name="Image 5" descr="preencoded.png">    </p:cNvPr>
          <p:cNvPicPr>
            <a:picLocks noChangeAspect="1"/>
          </p:cNvPicPr>
          <p:nvPr/>
        </p:nvPicPr>
        <p:blipFill>
          <a:blip r:embed="rId6"/>
          <a:stretch>
            <a:fillRect/>
          </a:stretch>
        </p:blipFill>
        <p:spPr>
          <a:xfrm>
            <a:off x="7379208" y="1453896"/>
            <a:ext cx="384048" cy="384048"/>
          </a:xfrm>
          <a:prstGeom prst="rect">
            <a:avLst/>
          </a:prstGeom>
        </p:spPr>
      </p:pic>
      <p:sp>
        <p:nvSpPr>
          <p:cNvPr id="45" name="Text 37"/>
          <p:cNvSpPr txBox="1"/>
          <p:nvPr/>
        </p:nvSpPr>
        <p:spPr>
          <a:xfrm>
            <a:off x="7836408" y="1271016"/>
            <a:ext cx="1618488" cy="749808"/>
          </a:xfrm>
          <a:prstGeom prst="rect">
            <a:avLst/>
          </a:prstGeom>
          <a:noFill/>
          <a:ln/>
        </p:spPr>
        <p:txBody>
          <a:bodyPr wrap="square" lIns="0" tIns="0" rIns="0" bIns="0" rtlCol="0" anchor="ctr"/>
          <a:lstStyle/>
          <a:p>
            <a:pPr indent="0" marL="0">
              <a:buNone/>
            </a:pPr>
            <a:r>
              <a:rPr lang="en-US" sz="1800" b="1" dirty="0">
                <a:solidFill>
                  <a:srgbClr val="E08A00"/>
                </a:solidFill>
                <a:latin typeface="Arial" pitchFamily="34" charset="0"/>
                <a:ea typeface="Arial" pitchFamily="34" charset="-122"/>
                <a:cs typeface="Arial" pitchFamily="34" charset="-120"/>
              </a:rPr>
              <a:t>5 / 5</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end-to-end scenarios with real OCR pass</a:t>
            </a:r>
            <a:endParaRPr lang="en-US" sz="1800" dirty="0"/>
          </a:p>
        </p:txBody>
      </p:sp>
      <p:sp>
        <p:nvSpPr>
          <p:cNvPr id="46" name="Shape 38"/>
          <p:cNvSpPr/>
          <p:nvPr/>
        </p:nvSpPr>
        <p:spPr>
          <a:xfrm>
            <a:off x="9601200" y="1234440"/>
            <a:ext cx="2313432" cy="822960"/>
          </a:xfrm>
          <a:prstGeom prst="roundRect">
            <a:avLst>
              <a:gd name="adj" fmla="val 8889"/>
            </a:avLst>
          </a:prstGeom>
          <a:solidFill>
            <a:srgbClr val="FFFFFF"/>
          </a:solidFill>
          <a:ln w="15875">
            <a:solidFill>
              <a:srgbClr val="121217"/>
            </a:solidFill>
            <a:prstDash val="solid"/>
          </a:ln>
        </p:spPr>
      </p:sp>
      <p:pic>
        <p:nvPicPr>
          <p:cNvPr id="47" name="Image 6" descr="preencoded.png">    </p:cNvPr>
          <p:cNvPicPr>
            <a:picLocks noChangeAspect="1"/>
          </p:cNvPicPr>
          <p:nvPr/>
        </p:nvPicPr>
        <p:blipFill>
          <a:blip r:embed="rId7"/>
          <a:stretch>
            <a:fillRect/>
          </a:stretch>
        </p:blipFill>
        <p:spPr>
          <a:xfrm>
            <a:off x="9710928" y="1453896"/>
            <a:ext cx="384048" cy="384048"/>
          </a:xfrm>
          <a:prstGeom prst="rect">
            <a:avLst/>
          </a:prstGeom>
        </p:spPr>
      </p:pic>
      <p:sp>
        <p:nvSpPr>
          <p:cNvPr id="48" name="Text 39"/>
          <p:cNvSpPr txBox="1"/>
          <p:nvPr/>
        </p:nvSpPr>
        <p:spPr>
          <a:xfrm>
            <a:off x="10168128" y="1271016"/>
            <a:ext cx="1691640" cy="749808"/>
          </a:xfrm>
          <a:prstGeom prst="rect">
            <a:avLst/>
          </a:prstGeom>
          <a:noFill/>
          <a:ln/>
        </p:spPr>
        <p:txBody>
          <a:bodyPr wrap="square" lIns="0" tIns="0" rIns="0" bIns="0" rtlCol="0" anchor="ctr"/>
          <a:lstStyle/>
          <a:p>
            <a:pPr indent="0" marL="0">
              <a:buNone/>
            </a:pPr>
            <a:r>
              <a:rPr lang="en-US" sz="1800" b="1" dirty="0">
                <a:solidFill>
                  <a:srgbClr val="121217"/>
                </a:solidFill>
                <a:latin typeface="Arial" pitchFamily="34" charset="0"/>
                <a:ea typeface="Arial" pitchFamily="34" charset="-122"/>
                <a:cs typeface="Arial" pitchFamily="34" charset="-120"/>
              </a:rPr>
              <a:t>27 / 27</a:t>
            </a:r>
            <a:endParaRPr lang="en-US" sz="1800" dirty="0"/>
          </a:p>
          <a:p>
            <a:pPr indent="0" marL="0">
              <a:buNone/>
            </a:pPr>
            <a:r>
              <a:rPr lang="en-US" sz="800" dirty="0">
                <a:solidFill>
                  <a:srgbClr val="5E5E66"/>
                </a:solidFill>
                <a:latin typeface="Arial" pitchFamily="34" charset="0"/>
                <a:ea typeface="Arial" pitchFamily="34" charset="-122"/>
                <a:cs typeface="Arial" pitchFamily="34" charset="-120"/>
              </a:rPr>
              <a:t>unit + pipeline tests pass</a:t>
            </a:r>
            <a:endParaRPr lang="en-US" sz="1800" dirty="0"/>
          </a:p>
        </p:txBody>
      </p:sp>
      <p:sp>
        <p:nvSpPr>
          <p:cNvPr id="49" name="Shape 40"/>
          <p:cNvSpPr/>
          <p:nvPr/>
        </p:nvSpPr>
        <p:spPr>
          <a:xfrm>
            <a:off x="274320" y="2194560"/>
            <a:ext cx="4023360" cy="2926080"/>
          </a:xfrm>
          <a:prstGeom prst="roundRect">
            <a:avLst>
              <a:gd name="adj" fmla="val 2500"/>
            </a:avLst>
          </a:prstGeom>
          <a:solidFill>
            <a:srgbClr val="FFFFFF"/>
          </a:solidFill>
          <a:ln w="9525">
            <a:solidFill>
              <a:srgbClr val="E3DCD1"/>
            </a:solidFill>
            <a:prstDash val="solid"/>
          </a:ln>
        </p:spPr>
      </p:sp>
      <p:sp>
        <p:nvSpPr>
          <p:cNvPr id="50" name="Shape 41"/>
          <p:cNvSpPr/>
          <p:nvPr/>
        </p:nvSpPr>
        <p:spPr>
          <a:xfrm>
            <a:off x="365760" y="2267712"/>
            <a:ext cx="3840480" cy="274320"/>
          </a:xfrm>
          <a:prstGeom prst="roundRect">
            <a:avLst>
              <a:gd name="adj" fmla="val 16667"/>
            </a:avLst>
          </a:prstGeom>
          <a:solidFill>
            <a:srgbClr val="D7002A"/>
          </a:solidFill>
          <a:ln w="12700">
            <a:solidFill>
              <a:srgbClr val="D7002A"/>
            </a:solidFill>
            <a:prstDash val="solid"/>
          </a:ln>
        </p:spPr>
      </p:sp>
      <p:sp>
        <p:nvSpPr>
          <p:cNvPr id="51" name="Text 42"/>
          <p:cNvSpPr txBox="1"/>
          <p:nvPr/>
        </p:nvSpPr>
        <p:spPr>
          <a:xfrm>
            <a:off x="365760" y="2267712"/>
            <a:ext cx="3840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Detection by scam family</a:t>
            </a:r>
            <a:endParaRPr lang="en-US" sz="1000" dirty="0"/>
          </a:p>
        </p:txBody>
      </p:sp>
      <p:graphicFrame>
        <p:nvGraphicFramePr>
          <p:cNvPr id="52" name="Chart 0" descr=""/>
          <p:cNvGraphicFramePr/>
          <p:nvPr/>
        </p:nvGraphicFramePr>
        <p:xfrm>
          <a:off x="365760" y="2542032"/>
          <a:ext cx="3840480" cy="2514600"/>
        </p:xfrm>
        <a:graphic xmlns:a="http://schemas.openxmlformats.org/drawingml/2006/main">
          <a:graphicData uri="http://schemas.openxmlformats.org/drawingml/2006/chart">
            <c:chart xmlns:c="http://schemas.openxmlformats.org/drawingml/2006/chart" r:id="rId8"/>
          </a:graphicData>
        </a:graphic>
      </p:graphicFrame>
      <p:sp>
        <p:nvSpPr>
          <p:cNvPr id="53" name="Shape 43"/>
          <p:cNvSpPr/>
          <p:nvPr/>
        </p:nvSpPr>
        <p:spPr>
          <a:xfrm>
            <a:off x="4434840" y="2194560"/>
            <a:ext cx="3840480" cy="2926080"/>
          </a:xfrm>
          <a:prstGeom prst="roundRect">
            <a:avLst>
              <a:gd name="adj" fmla="val 2500"/>
            </a:avLst>
          </a:prstGeom>
          <a:solidFill>
            <a:srgbClr val="FFFFFF"/>
          </a:solidFill>
          <a:ln w="9525">
            <a:solidFill>
              <a:srgbClr val="E3DCD1"/>
            </a:solidFill>
            <a:prstDash val="solid"/>
          </a:ln>
        </p:spPr>
      </p:sp>
      <p:sp>
        <p:nvSpPr>
          <p:cNvPr id="54" name="Shape 44"/>
          <p:cNvSpPr/>
          <p:nvPr/>
        </p:nvSpPr>
        <p:spPr>
          <a:xfrm>
            <a:off x="4526280" y="2267712"/>
            <a:ext cx="3657600" cy="274320"/>
          </a:xfrm>
          <a:prstGeom prst="roundRect">
            <a:avLst>
              <a:gd name="adj" fmla="val 16667"/>
            </a:avLst>
          </a:prstGeom>
          <a:solidFill>
            <a:srgbClr val="121217"/>
          </a:solidFill>
          <a:ln w="12700">
            <a:solidFill>
              <a:srgbClr val="121217"/>
            </a:solidFill>
            <a:prstDash val="solid"/>
          </a:ln>
        </p:spPr>
      </p:sp>
      <p:sp>
        <p:nvSpPr>
          <p:cNvPr id="55" name="Text 45"/>
          <p:cNvSpPr txBox="1"/>
          <p:nvPr/>
        </p:nvSpPr>
        <p:spPr>
          <a:xfrm>
            <a:off x="4526280" y="2267712"/>
            <a:ext cx="3657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Scenario replays (first warning vs money ask)</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26280" y="2578608"/>
          <a:ext cx="3657600" cy="914400"/>
        </p:xfrm>
        <a:graphic>
          <a:graphicData uri="http://schemas.openxmlformats.org/drawingml/2006/table">
            <a:tbl>
              <a:tblPr/>
              <a:tblGrid>
                <a:gridCol w="1188720"/>
                <a:gridCol w="822960"/>
                <a:gridCol w="822960"/>
                <a:gridCol w="822960"/>
              </a:tblGrid>
              <a:tr h="292608">
                <a:tc>
                  <a:txBody>
                    <a:bodyPr/>
                    <a:lstStyle/>
                    <a:p>
                      <a:pPr algn="l" indent="0" marL="0">
                        <a:buNone/>
                      </a:pPr>
                      <a:r>
                        <a:rPr lang="en-US" sz="850" b="1" dirty="0">
                          <a:solidFill>
                            <a:srgbClr val="FFFFFF"/>
                          </a:solidFill>
                          <a:latin typeface="Arial" pitchFamily="34" charset="0"/>
                          <a:ea typeface="Arial" pitchFamily="34" charset="-122"/>
                          <a:cs typeface="Arial" pitchFamily="34" charset="-120"/>
                        </a:rPr>
                        <a:t>Scenario</a:t>
                      </a:r>
                      <a:endParaRPr lang="en-US" sz="8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50" b="1" dirty="0">
                          <a:solidFill>
                            <a:srgbClr val="FFFFFF"/>
                          </a:solidFill>
                          <a:latin typeface="Arial" pitchFamily="34" charset="0"/>
                          <a:ea typeface="Arial" pitchFamily="34" charset="-122"/>
                          <a:cs typeface="Arial" pitchFamily="34" charset="-120"/>
                        </a:rPr>
                        <a:t>Expected</a:t>
                      </a:r>
                      <a:endParaRPr lang="en-US" sz="8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50" b="1" dirty="0">
                          <a:solidFill>
                            <a:srgbClr val="FFFFFF"/>
                          </a:solidFill>
                          <a:latin typeface="Arial" pitchFamily="34" charset="0"/>
                          <a:ea typeface="Arial" pitchFamily="34" charset="-122"/>
                          <a:cs typeface="Arial" pitchFamily="34" charset="-120"/>
                        </a:rPr>
                        <a:t>Final</a:t>
                      </a:r>
                      <a:endParaRPr lang="en-US" sz="8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50" b="1" dirty="0">
                          <a:solidFill>
                            <a:srgbClr val="FFFFFF"/>
                          </a:solidFill>
                          <a:latin typeface="Arial" pitchFamily="34" charset="0"/>
                          <a:ea typeface="Arial" pitchFamily="34" charset="-122"/>
                          <a:cs typeface="Arial" pitchFamily="34" charset="-120"/>
                        </a:rPr>
                        <a:t>1st warning</a:t>
                      </a:r>
                      <a:endParaRPr lang="en-US" sz="8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292608">
                <a:tc>
                  <a:txBody>
                    <a:bodyPr/>
                    <a:lstStyle/>
                    <a:p>
                      <a:pPr algn="l" indent="0" marL="0">
                        <a:buNone/>
                      </a:pPr>
                      <a:r>
                        <a:rPr lang="en-US" sz="800" dirty="0">
                          <a:solidFill>
                            <a:srgbClr val="1C1C22"/>
                          </a:solidFill>
                          <a:latin typeface="Arial" pitchFamily="34" charset="0"/>
                          <a:ea typeface="Arial" pitchFamily="34" charset="-122"/>
                          <a:cs typeface="Arial" pitchFamily="34" charset="-120"/>
                        </a:rPr>
                        <a:t>digital arrest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danger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E9E57"/>
                          </a:solidFill>
                          <a:latin typeface="Arial" pitchFamily="34" charset="0"/>
                          <a:ea typeface="Arial" pitchFamily="34" charset="-122"/>
                          <a:cs typeface="Arial" pitchFamily="34" charset="-120"/>
                        </a:rPr>
                        <a:t>danger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20 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92608">
                <a:tc>
                  <a:txBody>
                    <a:bodyPr/>
                    <a:lstStyle/>
                    <a:p>
                      <a:pPr algn="l" indent="0" marL="0">
                        <a:buNone/>
                      </a:pPr>
                      <a:r>
                        <a:rPr lang="en-US" sz="800" dirty="0">
                          <a:solidFill>
                            <a:srgbClr val="1C1C22"/>
                          </a:solidFill>
                          <a:latin typeface="Arial" pitchFamily="34" charset="0"/>
                          <a:ea typeface="Arial" pitchFamily="34" charset="-122"/>
                          <a:cs typeface="Arial" pitchFamily="34" charset="-120"/>
                        </a:rPr>
                        <a:t>tech support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danger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800" b="1" dirty="0">
                          <a:solidFill>
                            <a:srgbClr val="1E9E57"/>
                          </a:solidFill>
                          <a:latin typeface="Arial" pitchFamily="34" charset="0"/>
                          <a:ea typeface="Arial" pitchFamily="34" charset="-122"/>
                          <a:cs typeface="Arial" pitchFamily="34" charset="-120"/>
                        </a:rPr>
                        <a:t>danger</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27 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92608">
                <a:tc>
                  <a:txBody>
                    <a:bodyPr/>
                    <a:lstStyle/>
                    <a:p>
                      <a:pPr algn="l" indent="0" marL="0">
                        <a:buNone/>
                      </a:pPr>
                      <a:r>
                        <a:rPr lang="en-US" sz="800" dirty="0">
                          <a:solidFill>
                            <a:srgbClr val="1C1C22"/>
                          </a:solidFill>
                          <a:latin typeface="Arial" pitchFamily="34" charset="0"/>
                          <a:ea typeface="Arial" pitchFamily="34" charset="-122"/>
                          <a:cs typeface="Arial" pitchFamily="34" charset="-120"/>
                        </a:rPr>
                        <a:t>kyc otp</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warning</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E9E57"/>
                          </a:solidFill>
                          <a:latin typeface="Arial" pitchFamily="34" charset="0"/>
                          <a:ea typeface="Arial" pitchFamily="34" charset="-122"/>
                          <a:cs typeface="Arial" pitchFamily="34" charset="-120"/>
                        </a:rPr>
                        <a:t>warning</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18 s</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92608">
                <a:tc>
                  <a:txBody>
                    <a:bodyPr/>
                    <a:lstStyle/>
                    <a:p>
                      <a:pPr algn="l" indent="0" marL="0">
                        <a:buNone/>
                      </a:pPr>
                      <a:r>
                        <a:rPr lang="en-US" sz="800" dirty="0">
                          <a:solidFill>
                            <a:srgbClr val="1C1C22"/>
                          </a:solidFill>
                          <a:latin typeface="Arial" pitchFamily="34" charset="0"/>
                          <a:ea typeface="Arial" pitchFamily="34" charset="-122"/>
                          <a:cs typeface="Arial" pitchFamily="34" charset="-120"/>
                        </a:rPr>
                        <a:t>family call</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safe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800" b="1" dirty="0">
                          <a:solidFill>
                            <a:srgbClr val="1E9E57"/>
                          </a:solidFill>
                          <a:latin typeface="Arial" pitchFamily="34" charset="0"/>
                          <a:ea typeface="Arial" pitchFamily="34" charset="-122"/>
                          <a:cs typeface="Arial" pitchFamily="34" charset="-120"/>
                        </a:rPr>
                        <a:t>safe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92608">
                <a:tc>
                  <a:txBody>
                    <a:bodyPr/>
                    <a:lstStyle/>
                    <a:p>
                      <a:pPr algn="l" indent="0" marL="0">
                        <a:buNone/>
                      </a:pPr>
                      <a:r>
                        <a:rPr lang="en-US" sz="800" dirty="0">
                          <a:solidFill>
                            <a:srgbClr val="1C1C22"/>
                          </a:solidFill>
                          <a:latin typeface="Arial" pitchFamily="34" charset="0"/>
                          <a:ea typeface="Arial" pitchFamily="34" charset="-122"/>
                          <a:cs typeface="Arial" pitchFamily="34" charset="-120"/>
                        </a:rPr>
                        <a:t>office it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caution</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E9E57"/>
                          </a:solidFill>
                          <a:latin typeface="Arial" pitchFamily="34" charset="0"/>
                          <a:ea typeface="Arial" pitchFamily="34" charset="-122"/>
                          <a:cs typeface="Arial" pitchFamily="34" charset="-120"/>
                        </a:rPr>
                        <a:t>caution</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C1C2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bl>
          </a:graphicData>
        </a:graphic>
      </p:graphicFrame>
      <p:sp>
        <p:nvSpPr>
          <p:cNvPr id="57" name="Text 46"/>
          <p:cNvSpPr txBox="1"/>
          <p:nvPr/>
        </p:nvSpPr>
        <p:spPr>
          <a:xfrm>
            <a:off x="4526280" y="4434840"/>
            <a:ext cx="3657600" cy="640080"/>
          </a:xfrm>
          <a:prstGeom prst="rect">
            <a:avLst/>
          </a:prstGeom>
          <a:noFill/>
          <a:ln/>
        </p:spPr>
        <p:txBody>
          <a:bodyPr wrap="square" lIns="508" tIns="508" rIns="508" bIns="508" rtlCol="0" anchor="t"/>
          <a:lstStyle/>
          <a:p>
            <a:pPr algn="l" indent="0" marL="0">
              <a:lnSpc>
                <a:spcPct val="100000"/>
              </a:lnSpc>
              <a:spcAft>
                <a:spcPts val="200"/>
              </a:spcAft>
              <a:buNone/>
            </a:pPr>
            <a:r>
              <a:rPr lang="en-US" sz="780" i="1" dirty="0">
                <a:solidFill>
                  <a:srgbClr val="5E5E66"/>
                </a:solidFill>
                <a:latin typeface="Arial" pitchFamily="34" charset="0"/>
                <a:ea typeface="Arial" pitchFamily="34" charset="-122"/>
                <a:cs typeface="Arial" pitchFamily="34" charset="-120"/>
              </a:rPr>
              <a:t>Digital arrest: WARNING at 20 s, the money request comes at 45 s. Tech support: WARNING at 27 s, before AnyDesk connects.</a:t>
            </a:r>
            <a:endParaRPr lang="en-US" sz="780" dirty="0"/>
          </a:p>
        </p:txBody>
      </p:sp>
      <p:sp>
        <p:nvSpPr>
          <p:cNvPr id="58" name="Shape 47"/>
          <p:cNvSpPr/>
          <p:nvPr/>
        </p:nvSpPr>
        <p:spPr>
          <a:xfrm>
            <a:off x="8412480" y="2194560"/>
            <a:ext cx="3502152" cy="2926080"/>
          </a:xfrm>
          <a:prstGeom prst="roundRect">
            <a:avLst>
              <a:gd name="adj" fmla="val 2500"/>
            </a:avLst>
          </a:prstGeom>
          <a:solidFill>
            <a:srgbClr val="FFFFFF"/>
          </a:solidFill>
          <a:ln w="9525">
            <a:solidFill>
              <a:srgbClr val="E3DCD1"/>
            </a:solidFill>
            <a:prstDash val="solid"/>
          </a:ln>
        </p:spPr>
      </p:sp>
      <p:sp>
        <p:nvSpPr>
          <p:cNvPr id="59" name="Shape 48"/>
          <p:cNvSpPr/>
          <p:nvPr/>
        </p:nvSpPr>
        <p:spPr>
          <a:xfrm>
            <a:off x="8503920" y="2267712"/>
            <a:ext cx="3319272" cy="274320"/>
          </a:xfrm>
          <a:prstGeom prst="roundRect">
            <a:avLst>
              <a:gd name="adj" fmla="val 16667"/>
            </a:avLst>
          </a:prstGeom>
          <a:solidFill>
            <a:srgbClr val="3253DC"/>
          </a:solidFill>
          <a:ln w="12700">
            <a:solidFill>
              <a:srgbClr val="3253DC"/>
            </a:solidFill>
            <a:prstDash val="solid"/>
          </a:ln>
        </p:spPr>
      </p:sp>
      <p:sp>
        <p:nvSpPr>
          <p:cNvPr id="60" name="Text 49"/>
          <p:cNvSpPr txBox="1"/>
          <p:nvPr/>
        </p:nvSpPr>
        <p:spPr>
          <a:xfrm>
            <a:off x="8503920" y="2267712"/>
            <a:ext cx="33192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Tuning: false alarms vs detection</a:t>
            </a:r>
            <a:endParaRPr lang="en-US" sz="1000" dirty="0"/>
          </a:p>
        </p:txBody>
      </p:sp>
      <p:graphicFrame>
        <p:nvGraphicFramePr>
          <p:cNvPr id="61" name="Chart 1" descr=""/>
          <p:cNvGraphicFramePr/>
          <p:nvPr/>
        </p:nvGraphicFramePr>
        <p:xfrm>
          <a:off x="8503920" y="2542032"/>
          <a:ext cx="3337560" cy="2514600"/>
        </p:xfrm>
        <a:graphic xmlns:a="http://schemas.openxmlformats.org/drawingml/2006/main">
          <a:graphicData uri="http://schemas.openxmlformats.org/drawingml/2006/chart">
            <c:chart xmlns:c="http://schemas.openxmlformats.org/drawingml/2006/chart" r:id="rId9"/>
          </a:graphicData>
        </a:graphic>
      </p:graphicFrame>
      <p:sp>
        <p:nvSpPr>
          <p:cNvPr id="62" name="Shape 50"/>
          <p:cNvSpPr/>
          <p:nvPr/>
        </p:nvSpPr>
        <p:spPr>
          <a:xfrm>
            <a:off x="274320" y="5257800"/>
            <a:ext cx="5760720" cy="1252728"/>
          </a:xfrm>
          <a:prstGeom prst="roundRect">
            <a:avLst>
              <a:gd name="adj" fmla="val 5839"/>
            </a:avLst>
          </a:prstGeom>
          <a:solidFill>
            <a:srgbClr val="FFFFFF"/>
          </a:solidFill>
          <a:ln w="9525">
            <a:solidFill>
              <a:srgbClr val="E3DCD1"/>
            </a:solidFill>
            <a:prstDash val="solid"/>
          </a:ln>
        </p:spPr>
      </p:sp>
      <p:sp>
        <p:nvSpPr>
          <p:cNvPr id="63" name="Shape 51"/>
          <p:cNvSpPr/>
          <p:nvPr/>
        </p:nvSpPr>
        <p:spPr>
          <a:xfrm>
            <a:off x="365760" y="5330952"/>
            <a:ext cx="5577840" cy="274320"/>
          </a:xfrm>
          <a:prstGeom prst="roundRect">
            <a:avLst>
              <a:gd name="adj" fmla="val 16667"/>
            </a:avLst>
          </a:prstGeom>
          <a:solidFill>
            <a:srgbClr val="121217"/>
          </a:solidFill>
          <a:ln w="12700">
            <a:solidFill>
              <a:srgbClr val="121217"/>
            </a:solidFill>
            <a:prstDash val="solid"/>
          </a:ln>
        </p:spPr>
      </p:sp>
      <p:sp>
        <p:nvSpPr>
          <p:cNvPr id="64" name="Text 52"/>
          <p:cNvSpPr txBox="1"/>
          <p:nvPr/>
        </p:nvSpPr>
        <p:spPr>
          <a:xfrm>
            <a:off x="365760" y="5330952"/>
            <a:ext cx="5577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Measured latency here (x86 laptop CPU, fallback path)</a:t>
            </a:r>
            <a:endParaRPr lang="en-US" sz="10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365760" y="5577840"/>
          <a:ext cx="5577840" cy="914400"/>
        </p:xfrm>
        <a:graphic>
          <a:graphicData uri="http://schemas.openxmlformats.org/drawingml/2006/table">
            <a:tbl>
              <a:tblPr/>
              <a:tblGrid>
                <a:gridCol w="2743200"/>
                <a:gridCol w="822960"/>
                <a:gridCol w="2011680"/>
              </a:tblGrid>
              <a:tr h="210312">
                <a:tc>
                  <a:txBody>
                    <a:bodyPr/>
                    <a:lstStyle/>
                    <a:p>
                      <a:pPr algn="l" indent="0" marL="0">
                        <a:buNone/>
                      </a:pPr>
                      <a:r>
                        <a:rPr lang="en-US" sz="800" b="1" dirty="0">
                          <a:solidFill>
                            <a:srgbClr val="FFFFFF"/>
                          </a:solidFill>
                          <a:latin typeface="Arial" pitchFamily="34" charset="0"/>
                          <a:ea typeface="Arial" pitchFamily="34" charset="-122"/>
                          <a:cs typeface="Arial" pitchFamily="34" charset="-120"/>
                        </a:rPr>
                        <a:t>Component</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p50</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Note</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Intent classifier (ONNX)</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0.03 ms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static [1,16384] Gemm</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Full text analysis (patterns + classifier)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1.8 ms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per sentence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210312">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Screen OCR det + rec (CPU)</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~730 ms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moves to NPU on Snapdragon</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bl>
          </a:graphicData>
        </a:graphic>
      </p:graphicFrame>
      <p:sp>
        <p:nvSpPr>
          <p:cNvPr id="66" name="Shape 53"/>
          <p:cNvSpPr/>
          <p:nvPr/>
        </p:nvSpPr>
        <p:spPr>
          <a:xfrm>
            <a:off x="6172200" y="5257800"/>
            <a:ext cx="5742432" cy="1252728"/>
          </a:xfrm>
          <a:prstGeom prst="roundRect">
            <a:avLst>
              <a:gd name="adj" fmla="val 5839"/>
            </a:avLst>
          </a:prstGeom>
          <a:solidFill>
            <a:srgbClr val="FFFFFF"/>
          </a:solidFill>
          <a:ln w="9525">
            <a:solidFill>
              <a:srgbClr val="E3DCD1"/>
            </a:solidFill>
            <a:prstDash val="solid"/>
          </a:ln>
        </p:spPr>
      </p:sp>
      <p:sp>
        <p:nvSpPr>
          <p:cNvPr id="67" name="Shape 54"/>
          <p:cNvSpPr/>
          <p:nvPr/>
        </p:nvSpPr>
        <p:spPr>
          <a:xfrm>
            <a:off x="6263640" y="5330952"/>
            <a:ext cx="5559552" cy="274320"/>
          </a:xfrm>
          <a:prstGeom prst="roundRect">
            <a:avLst>
              <a:gd name="adj" fmla="val 16667"/>
            </a:avLst>
          </a:prstGeom>
          <a:solidFill>
            <a:srgbClr val="D7002A"/>
          </a:solidFill>
          <a:ln w="12700">
            <a:solidFill>
              <a:srgbClr val="D7002A"/>
            </a:solidFill>
            <a:prstDash val="solid"/>
          </a:ln>
        </p:spPr>
      </p:sp>
      <p:sp>
        <p:nvSpPr>
          <p:cNvPr id="68" name="Text 55"/>
          <p:cNvSpPr txBox="1"/>
          <p:nvPr/>
        </p:nvSpPr>
        <p:spPr>
          <a:xfrm>
            <a:off x="6263640" y="5330952"/>
            <a:ext cx="555955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Honest limitations</a:t>
            </a:r>
            <a:endParaRPr lang="en-US" sz="1000" dirty="0"/>
          </a:p>
        </p:txBody>
      </p:sp>
      <p:sp>
        <p:nvSpPr>
          <p:cNvPr id="69" name="Text 56"/>
          <p:cNvSpPr txBox="1"/>
          <p:nvPr/>
        </p:nvSpPr>
        <p:spPr>
          <a:xfrm>
            <a:off x="6263640" y="5641848"/>
            <a:ext cx="5577840" cy="868680"/>
          </a:xfrm>
          <a:prstGeom prst="rect">
            <a:avLst/>
          </a:prstGeom>
          <a:noFill/>
          <a:ln/>
        </p:spPr>
        <p:txBody>
          <a:bodyPr wrap="square" lIns="508" tIns="508" rIns="508" bIns="508" rtlCol="0" anchor="t"/>
          <a:lstStyle/>
          <a:p>
            <a:pPr marL="127000" indent="-127000">
              <a:spcAft>
                <a:spcPts val="300"/>
              </a:spcAft>
              <a:buSzPct val="100000"/>
              <a:buChar char="■"/>
            </a:pPr>
            <a:r>
              <a:rPr lang="en-US" sz="780" dirty="0">
                <a:solidFill>
                  <a:srgbClr val="1C1C22"/>
                </a:solidFill>
                <a:latin typeface="Arial" pitchFamily="34" charset="0"/>
                <a:ea typeface="Arial" pitchFamily="34" charset="-122"/>
                <a:cs typeface="Arial" pitchFamily="34" charset="-120"/>
              </a:rPr>
              <a:t>Corpus is synthetic and overlaps training templates: numbers are an upper bound</a:t>
            </a:r>
            <a:endParaRPr lang="en-US" sz="780" dirty="0"/>
          </a:p>
          <a:p>
            <a:pPr marL="127000" indent="-127000">
              <a:spcAft>
                <a:spcPts val="300"/>
              </a:spcAft>
              <a:buSzPct val="100000"/>
              <a:buChar char="■"/>
            </a:pPr>
            <a:r>
              <a:rPr lang="en-US" sz="780" dirty="0">
                <a:solidFill>
                  <a:srgbClr val="1C1C22"/>
                </a:solidFill>
                <a:latin typeface="Arial" pitchFamily="34" charset="0"/>
                <a:ea typeface="Arial" pitchFamily="34" charset="-122"/>
                <a:cs typeface="Arial" pitchFamily="34" charset="-120"/>
              </a:rPr>
              <a:t>Classifier alone on held-out templates: precision 1.00, recall 0.40, which is why rules + fusion exist</a:t>
            </a:r>
            <a:endParaRPr lang="en-US" sz="780" dirty="0"/>
          </a:p>
          <a:p>
            <a:pPr marL="127000" indent="-127000">
              <a:spcAft>
                <a:spcPts val="300"/>
              </a:spcAft>
              <a:buSzPct val="100000"/>
              <a:buChar char="■"/>
            </a:pPr>
            <a:r>
              <a:rPr lang="en-US" sz="780" dirty="0">
                <a:solidFill>
                  <a:srgbClr val="1C1C22"/>
                </a:solidFill>
                <a:latin typeface="Arial" pitchFamily="34" charset="0"/>
                <a:ea typeface="Arial" pitchFamily="34" charset="-122"/>
                <a:cs typeface="Arial" pitchFamily="34" charset="-120"/>
              </a:rPr>
              <a:t>NPU latencies quoted from AI Hub; `python -m sajag bench` measures them on the device</a:t>
            </a:r>
            <a:endParaRPr lang="en-US" sz="780" dirty="0"/>
          </a:p>
        </p:txBody>
      </p:sp>
      <p:sp>
        <p:nvSpPr>
          <p:cNvPr id="70" name="Text 57"/>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D7002A"/>
          </a:solidFill>
          <a:ln w="6350">
            <a:solidFill>
              <a:srgbClr val="D7002A"/>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Deployment &amp; accessibility: one command, works for anyone</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Open source (Apache-2.0), offline, bilingual, elderly-first UX</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3794760" cy="2514600"/>
          </a:xfrm>
          <a:prstGeom prst="roundRect">
            <a:avLst>
              <a:gd name="adj" fmla="val 2909"/>
            </a:avLst>
          </a:prstGeom>
          <a:solidFill>
            <a:srgbClr val="FFFFFF"/>
          </a:solidFill>
          <a:ln w="9525">
            <a:solidFill>
              <a:srgbClr val="E3DCD1"/>
            </a:solidFill>
            <a:prstDash val="solid"/>
          </a:ln>
        </p:spPr>
      </p:sp>
      <p:sp>
        <p:nvSpPr>
          <p:cNvPr id="35" name="Shape 31"/>
          <p:cNvSpPr/>
          <p:nvPr/>
        </p:nvSpPr>
        <p:spPr>
          <a:xfrm>
            <a:off x="365760" y="1307592"/>
            <a:ext cx="3611880" cy="274320"/>
          </a:xfrm>
          <a:prstGeom prst="roundRect">
            <a:avLst>
              <a:gd name="adj" fmla="val 16667"/>
            </a:avLst>
          </a:prstGeom>
          <a:solidFill>
            <a:srgbClr val="121217"/>
          </a:solidFill>
          <a:ln w="12700">
            <a:solidFill>
              <a:srgbClr val="121217"/>
            </a:solidFill>
            <a:prstDash val="solid"/>
          </a:ln>
        </p:spPr>
      </p:sp>
      <p:sp>
        <p:nvSpPr>
          <p:cNvPr id="36" name="Text 32"/>
          <p:cNvSpPr txBox="1"/>
          <p:nvPr/>
        </p:nvSpPr>
        <p:spPr>
          <a:xfrm>
            <a:off x="365760" y="1307592"/>
            <a:ext cx="36118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Install and run on a Snapdragon HP PC</a:t>
            </a:r>
            <a:endParaRPr lang="en-US" sz="1000" dirty="0"/>
          </a:p>
        </p:txBody>
      </p:sp>
      <p:sp>
        <p:nvSpPr>
          <p:cNvPr id="37" name="Text 33"/>
          <p:cNvSpPr txBox="1"/>
          <p:nvPr/>
        </p:nvSpPr>
        <p:spPr>
          <a:xfrm>
            <a:off x="365760" y="1645920"/>
            <a:ext cx="3611880" cy="1005840"/>
          </a:xfrm>
          <a:prstGeom prst="rect">
            <a:avLst/>
          </a:prstGeom>
          <a:noFill/>
          <a:ln/>
        </p:spPr>
        <p:txBody>
          <a:bodyPr wrap="square" lIns="508" tIns="508" rIns="508" bIns="508" rtlCol="0" anchor="t"/>
          <a:lstStyle/>
          <a:p>
            <a:pPr algn="l" indent="0" marL="0">
              <a:lnSpc>
                <a:spcPct val="100000"/>
              </a:lnSpc>
              <a:spcAft>
                <a:spcPts val="200"/>
              </a:spcAft>
              <a:buNone/>
            </a:pPr>
            <a:r>
              <a:rPr lang="en-US" sz="850" dirty="0">
                <a:solidFill>
                  <a:srgbClr val="1F3A93"/>
                </a:solidFill>
                <a:latin typeface="Arial" pitchFamily="34" charset="0"/>
                <a:ea typeface="Arial" pitchFamily="34" charset="-122"/>
                <a:cs typeface="Arial" pitchFamily="34" charset="-120"/>
              </a:rPr>
              <a:t>git clone github.com/tanmaysahare/sajag-ai</a:t>
            </a:r>
            <a:endParaRPr lang="en-US" sz="850" dirty="0"/>
          </a:p>
          <a:p>
            <a:pPr algn="l" indent="0" marL="0">
              <a:lnSpc>
                <a:spcPct val="100000"/>
              </a:lnSpc>
              <a:spcAft>
                <a:spcPts val="200"/>
              </a:spcAft>
              <a:buNone/>
            </a:pPr>
            <a:r>
              <a:rPr lang="en-US" sz="850" dirty="0">
                <a:solidFill>
                  <a:srgbClr val="1F3A93"/>
                </a:solidFill>
                <a:latin typeface="Arial" pitchFamily="34" charset="0"/>
                <a:ea typeface="Arial" pitchFamily="34" charset="-122"/>
                <a:cs typeface="Arial" pitchFamily="34" charset="-120"/>
              </a:rPr>
              <a:t>powershell -File install.ps1</a:t>
            </a:r>
            <a:endParaRPr lang="en-US" sz="850" dirty="0"/>
          </a:p>
          <a:p>
            <a:pPr algn="l" indent="0" marL="0">
              <a:lnSpc>
                <a:spcPct val="100000"/>
              </a:lnSpc>
              <a:spcAft>
                <a:spcPts val="200"/>
              </a:spcAft>
              <a:buNone/>
            </a:pPr>
            <a:r>
              <a:rPr lang="en-US" sz="850" dirty="0">
                <a:solidFill>
                  <a:srgbClr val="1F3A93"/>
                </a:solidFill>
                <a:latin typeface="Arial" pitchFamily="34" charset="0"/>
                <a:ea typeface="Arial" pitchFamily="34" charset="-122"/>
                <a:cs typeface="Arial" pitchFamily="34" charset="-120"/>
              </a:rPr>
              <a:t>python -m sajag doctor   # QNN NPU found</a:t>
            </a:r>
            <a:endParaRPr lang="en-US" sz="850" dirty="0"/>
          </a:p>
          <a:p>
            <a:pPr algn="l" indent="0" marL="0">
              <a:lnSpc>
                <a:spcPct val="100000"/>
              </a:lnSpc>
              <a:spcAft>
                <a:spcPts val="200"/>
              </a:spcAft>
              <a:buNone/>
            </a:pPr>
            <a:r>
              <a:rPr lang="en-US" sz="850" dirty="0">
                <a:solidFill>
                  <a:srgbClr val="1F3A93"/>
                </a:solidFill>
                <a:latin typeface="Arial" pitchFamily="34" charset="0"/>
                <a:ea typeface="Arial" pitchFamily="34" charset="-122"/>
                <a:cs typeface="Arial" pitchFamily="34" charset="-120"/>
              </a:rPr>
              <a:t>python -m sajag run      # guardian + dashboard</a:t>
            </a:r>
            <a:endParaRPr lang="en-US" sz="850" dirty="0"/>
          </a:p>
        </p:txBody>
      </p:sp>
      <p:sp>
        <p:nvSpPr>
          <p:cNvPr id="38" name="Text 34"/>
          <p:cNvSpPr txBox="1"/>
          <p:nvPr/>
        </p:nvSpPr>
        <p:spPr>
          <a:xfrm>
            <a:off x="365760" y="2697480"/>
            <a:ext cx="3611880" cy="1005840"/>
          </a:xfrm>
          <a:prstGeom prst="rect">
            <a:avLst/>
          </a:prstGeom>
          <a:noFill/>
          <a:ln/>
        </p:spPr>
        <p:txBody>
          <a:bodyPr wrap="square" lIns="508" tIns="508" rIns="508" bIns="508" rtlCol="0" anchor="t"/>
          <a:lstStyle/>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install.ps1: Python 3.11 ARM64 venv, onnxruntime-qnn, AI Hub models via qai_hub_models_cli, NPU OCR prep</a:t>
            </a:r>
            <a:endParaRPr lang="en-US" sz="800" dirty="0"/>
          </a:p>
          <a:p>
            <a:pPr marL="127000" indent="-127000">
              <a:spcAft>
                <a:spcPts val="300"/>
              </a:spcAft>
              <a:buSzPct val="100000"/>
              <a:buChar char="■"/>
            </a:pPr>
            <a:r>
              <a:rPr lang="en-US" sz="800" dirty="0">
                <a:solidFill>
                  <a:srgbClr val="1C1C22"/>
                </a:solidFill>
                <a:latin typeface="Arial" pitchFamily="34" charset="0"/>
                <a:ea typeface="Arial" pitchFamily="34" charset="-122"/>
                <a:cs typeface="Arial" pitchFamily="34" charset="-120"/>
              </a:rPr>
              <a:t>Judges on any laptop: `python -m sajag demo` or `python -m sajag ui`</a:t>
            </a:r>
            <a:endParaRPr lang="en-US" sz="800" dirty="0"/>
          </a:p>
        </p:txBody>
      </p:sp>
      <p:sp>
        <p:nvSpPr>
          <p:cNvPr id="39" name="Shape 35"/>
          <p:cNvSpPr/>
          <p:nvPr/>
        </p:nvSpPr>
        <p:spPr>
          <a:xfrm>
            <a:off x="4206240" y="1234440"/>
            <a:ext cx="3794760" cy="2514600"/>
          </a:xfrm>
          <a:prstGeom prst="roundRect">
            <a:avLst>
              <a:gd name="adj" fmla="val 2909"/>
            </a:avLst>
          </a:prstGeom>
          <a:solidFill>
            <a:srgbClr val="FFFFFF"/>
          </a:solidFill>
          <a:ln w="9525">
            <a:solidFill>
              <a:srgbClr val="E3DCD1"/>
            </a:solidFill>
            <a:prstDash val="solid"/>
          </a:ln>
        </p:spPr>
      </p:sp>
      <p:sp>
        <p:nvSpPr>
          <p:cNvPr id="40" name="Shape 36"/>
          <p:cNvSpPr/>
          <p:nvPr/>
        </p:nvSpPr>
        <p:spPr>
          <a:xfrm>
            <a:off x="4297680" y="1307592"/>
            <a:ext cx="3611880" cy="274320"/>
          </a:xfrm>
          <a:prstGeom prst="roundRect">
            <a:avLst>
              <a:gd name="adj" fmla="val 16667"/>
            </a:avLst>
          </a:prstGeom>
          <a:solidFill>
            <a:srgbClr val="D7002A"/>
          </a:solidFill>
          <a:ln w="12700">
            <a:solidFill>
              <a:srgbClr val="D7002A"/>
            </a:solidFill>
            <a:prstDash val="solid"/>
          </a:ln>
        </p:spPr>
      </p:sp>
      <p:sp>
        <p:nvSpPr>
          <p:cNvPr id="41" name="Text 37"/>
          <p:cNvSpPr txBox="1"/>
          <p:nvPr/>
        </p:nvSpPr>
        <p:spPr>
          <a:xfrm>
            <a:off x="4297680" y="1307592"/>
            <a:ext cx="36118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Accessibility by design</a:t>
            </a:r>
            <a:endParaRPr lang="en-US" sz="1000" dirty="0"/>
          </a:p>
        </p:txBody>
      </p:sp>
      <p:sp>
        <p:nvSpPr>
          <p:cNvPr id="42" name="Shape 38"/>
          <p:cNvSpPr/>
          <p:nvPr/>
        </p:nvSpPr>
        <p:spPr>
          <a:xfrm>
            <a:off x="4315968" y="1645920"/>
            <a:ext cx="384048" cy="384048"/>
          </a:xfrm>
          <a:prstGeom prst="ellipse">
            <a:avLst/>
          </a:prstGeom>
          <a:solidFill>
            <a:srgbClr val="D7002A"/>
          </a:solidFill>
          <a:ln w="12700">
            <a:solidFill>
              <a:srgbClr val="D7002A"/>
            </a:solidFill>
            <a:prstDash val="solid"/>
          </a:ln>
        </p:spPr>
      </p:sp>
      <p:pic>
        <p:nvPicPr>
          <p:cNvPr id="43" name="Image 2" descr="preencoded.png">    </p:cNvPr>
          <p:cNvPicPr>
            <a:picLocks noChangeAspect="1"/>
          </p:cNvPicPr>
          <p:nvPr/>
        </p:nvPicPr>
        <p:blipFill>
          <a:blip r:embed="rId3"/>
          <a:stretch>
            <a:fillRect/>
          </a:stretch>
        </p:blipFill>
        <p:spPr>
          <a:xfrm>
            <a:off x="4400459" y="1730411"/>
            <a:ext cx="215067" cy="215067"/>
          </a:xfrm>
          <a:prstGeom prst="rect">
            <a:avLst/>
          </a:prstGeom>
        </p:spPr>
      </p:pic>
      <p:sp>
        <p:nvSpPr>
          <p:cNvPr id="44" name="Text 39"/>
          <p:cNvSpPr txBox="1"/>
          <p:nvPr/>
        </p:nvSpPr>
        <p:spPr>
          <a:xfrm>
            <a:off x="4773168" y="1600200"/>
            <a:ext cx="3154680" cy="53035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Two languages, three scripts</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English, हिन्दी, Hinglish in speech, screen and alerts</a:t>
            </a:r>
            <a:endParaRPr lang="en-US" sz="800" dirty="0"/>
          </a:p>
        </p:txBody>
      </p:sp>
      <p:sp>
        <p:nvSpPr>
          <p:cNvPr id="45" name="Shape 40"/>
          <p:cNvSpPr/>
          <p:nvPr/>
        </p:nvSpPr>
        <p:spPr>
          <a:xfrm>
            <a:off x="4315968" y="2167128"/>
            <a:ext cx="384048" cy="384048"/>
          </a:xfrm>
          <a:prstGeom prst="ellipse">
            <a:avLst/>
          </a:prstGeom>
          <a:solidFill>
            <a:srgbClr val="D7002A"/>
          </a:solidFill>
          <a:ln w="12700">
            <a:solidFill>
              <a:srgbClr val="D7002A"/>
            </a:solidFill>
            <a:prstDash val="solid"/>
          </a:ln>
        </p:spPr>
      </p:sp>
      <p:pic>
        <p:nvPicPr>
          <p:cNvPr id="46" name="Image 3" descr="preencoded.png">    </p:cNvPr>
          <p:cNvPicPr>
            <a:picLocks noChangeAspect="1"/>
          </p:cNvPicPr>
          <p:nvPr/>
        </p:nvPicPr>
        <p:blipFill>
          <a:blip r:embed="rId4"/>
          <a:stretch>
            <a:fillRect/>
          </a:stretch>
        </p:blipFill>
        <p:spPr>
          <a:xfrm>
            <a:off x="4400459" y="2251619"/>
            <a:ext cx="215067" cy="215067"/>
          </a:xfrm>
          <a:prstGeom prst="rect">
            <a:avLst/>
          </a:prstGeom>
        </p:spPr>
      </p:pic>
      <p:sp>
        <p:nvSpPr>
          <p:cNvPr id="47" name="Text 41"/>
          <p:cNvSpPr txBox="1"/>
          <p:nvPr/>
        </p:nvSpPr>
        <p:spPr>
          <a:xfrm>
            <a:off x="4773168" y="2121408"/>
            <a:ext cx="3154680" cy="53035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Elderly-first alerts</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full-screen, large type, spoken aloud, one button</a:t>
            </a:r>
            <a:endParaRPr lang="en-US" sz="800" dirty="0"/>
          </a:p>
        </p:txBody>
      </p:sp>
      <p:sp>
        <p:nvSpPr>
          <p:cNvPr id="48" name="Shape 42"/>
          <p:cNvSpPr/>
          <p:nvPr/>
        </p:nvSpPr>
        <p:spPr>
          <a:xfrm>
            <a:off x="4315968" y="2688336"/>
            <a:ext cx="384048" cy="384048"/>
          </a:xfrm>
          <a:prstGeom prst="ellipse">
            <a:avLst/>
          </a:prstGeom>
          <a:solidFill>
            <a:srgbClr val="D7002A"/>
          </a:solidFill>
          <a:ln w="12700">
            <a:solidFill>
              <a:srgbClr val="D7002A"/>
            </a:solidFill>
            <a:prstDash val="solid"/>
          </a:ln>
        </p:spPr>
      </p:sp>
      <p:pic>
        <p:nvPicPr>
          <p:cNvPr id="49" name="Image 4" descr="preencoded.png">    </p:cNvPr>
          <p:cNvPicPr>
            <a:picLocks noChangeAspect="1"/>
          </p:cNvPicPr>
          <p:nvPr/>
        </p:nvPicPr>
        <p:blipFill>
          <a:blip r:embed="rId5"/>
          <a:stretch>
            <a:fillRect/>
          </a:stretch>
        </p:blipFill>
        <p:spPr>
          <a:xfrm>
            <a:off x="4400459" y="2772827"/>
            <a:ext cx="215067" cy="215067"/>
          </a:xfrm>
          <a:prstGeom prst="rect">
            <a:avLst/>
          </a:prstGeom>
        </p:spPr>
      </p:pic>
      <p:sp>
        <p:nvSpPr>
          <p:cNvPr id="50" name="Text 43"/>
          <p:cNvSpPr txBox="1"/>
          <p:nvPr/>
        </p:nvSpPr>
        <p:spPr>
          <a:xfrm>
            <a:off x="4773168" y="2642616"/>
            <a:ext cx="3154680" cy="53035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Zero setup after install</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no account, no sign-in, no subscription</a:t>
            </a:r>
            <a:endParaRPr lang="en-US" sz="800" dirty="0"/>
          </a:p>
        </p:txBody>
      </p:sp>
      <p:sp>
        <p:nvSpPr>
          <p:cNvPr id="51" name="Shape 44"/>
          <p:cNvSpPr/>
          <p:nvPr/>
        </p:nvSpPr>
        <p:spPr>
          <a:xfrm>
            <a:off x="4315968" y="3209544"/>
            <a:ext cx="384048" cy="384048"/>
          </a:xfrm>
          <a:prstGeom prst="ellipse">
            <a:avLst/>
          </a:prstGeom>
          <a:solidFill>
            <a:srgbClr val="D7002A"/>
          </a:solidFill>
          <a:ln w="12700">
            <a:solidFill>
              <a:srgbClr val="D7002A"/>
            </a:solidFill>
            <a:prstDash val="solid"/>
          </a:ln>
        </p:spPr>
      </p:sp>
      <p:pic>
        <p:nvPicPr>
          <p:cNvPr id="52" name="Image 5" descr="preencoded.png">    </p:cNvPr>
          <p:cNvPicPr>
            <a:picLocks noChangeAspect="1"/>
          </p:cNvPicPr>
          <p:nvPr/>
        </p:nvPicPr>
        <p:blipFill>
          <a:blip r:embed="rId6"/>
          <a:stretch>
            <a:fillRect/>
          </a:stretch>
        </p:blipFill>
        <p:spPr>
          <a:xfrm>
            <a:off x="4400459" y="3294035"/>
            <a:ext cx="215067" cy="215067"/>
          </a:xfrm>
          <a:prstGeom prst="rect">
            <a:avLst/>
          </a:prstGeom>
        </p:spPr>
      </p:pic>
      <p:sp>
        <p:nvSpPr>
          <p:cNvPr id="53" name="Text 45"/>
          <p:cNvSpPr txBox="1"/>
          <p:nvPr/>
        </p:nvSpPr>
        <p:spPr>
          <a:xfrm>
            <a:off x="4773168" y="3163824"/>
            <a:ext cx="3154680" cy="530352"/>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Works offline</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no internet needed after the one-time model download</a:t>
            </a:r>
            <a:endParaRPr lang="en-US" sz="800" dirty="0"/>
          </a:p>
        </p:txBody>
      </p:sp>
      <p:sp>
        <p:nvSpPr>
          <p:cNvPr id="54" name="Shape 46"/>
          <p:cNvSpPr/>
          <p:nvPr/>
        </p:nvSpPr>
        <p:spPr>
          <a:xfrm>
            <a:off x="8138160" y="1234440"/>
            <a:ext cx="3776472" cy="2514600"/>
          </a:xfrm>
          <a:prstGeom prst="roundRect">
            <a:avLst>
              <a:gd name="adj" fmla="val 2909"/>
            </a:avLst>
          </a:prstGeom>
          <a:solidFill>
            <a:srgbClr val="FFFFFF"/>
          </a:solidFill>
          <a:ln w="9525">
            <a:solidFill>
              <a:srgbClr val="E3DCD1"/>
            </a:solidFill>
            <a:prstDash val="solid"/>
          </a:ln>
        </p:spPr>
      </p:sp>
      <p:sp>
        <p:nvSpPr>
          <p:cNvPr id="55" name="Shape 47"/>
          <p:cNvSpPr/>
          <p:nvPr/>
        </p:nvSpPr>
        <p:spPr>
          <a:xfrm>
            <a:off x="8229600" y="1307592"/>
            <a:ext cx="3593592" cy="274320"/>
          </a:xfrm>
          <a:prstGeom prst="roundRect">
            <a:avLst>
              <a:gd name="adj" fmla="val 16667"/>
            </a:avLst>
          </a:prstGeom>
          <a:solidFill>
            <a:srgbClr val="121217"/>
          </a:solidFill>
          <a:ln w="12700">
            <a:solidFill>
              <a:srgbClr val="121217"/>
            </a:solidFill>
            <a:prstDash val="solid"/>
          </a:ln>
        </p:spPr>
      </p:sp>
      <p:sp>
        <p:nvSpPr>
          <p:cNvPr id="56" name="Text 48"/>
          <p:cNvSpPr txBox="1"/>
          <p:nvPr/>
        </p:nvSpPr>
        <p:spPr>
          <a:xfrm>
            <a:off x="8229600" y="1307592"/>
            <a:ext cx="35935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On-device vs a cloud scam detector</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229600" y="1645920"/>
          <a:ext cx="3593592" cy="914400"/>
        </p:xfrm>
        <a:graphic>
          <a:graphicData uri="http://schemas.openxmlformats.org/drawingml/2006/table">
            <a:tbl>
              <a:tblPr/>
              <a:tblGrid>
                <a:gridCol w="1508760"/>
                <a:gridCol w="1042416"/>
                <a:gridCol w="1042416"/>
              </a:tblGrid>
              <a:tr h="329184">
                <a:tc>
                  <a:txBody>
                    <a:bodyPr/>
                    <a:lstStyle/>
                    <a:p>
                      <a:pPr algn="l" indent="0" marL="0">
                        <a:buNone/>
                      </a:pP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Sajag (NPU)</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Cloud AI</a:t>
                      </a:r>
                      <a:endParaRPr lang="en-US" sz="80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329184">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Screen + call data leaves PC</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never</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always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29184">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Latency to warning</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sub-second</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network bound</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29184">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Works offline</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D7002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29184">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Cost per user per month</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₹0</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50" dirty="0">
                          <a:solidFill>
                            <a:srgbClr val="1C1C22"/>
                          </a:solidFill>
                          <a:latin typeface="Arial" pitchFamily="34" charset="0"/>
                          <a:ea typeface="Arial" pitchFamily="34" charset="-122"/>
                          <a:cs typeface="Arial" pitchFamily="34" charset="-120"/>
                        </a:rPr>
                        <a:t>ASR + LLM API fees</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29184">
                <a:tc>
                  <a:txBody>
                    <a:bodyPr/>
                    <a:lstStyle/>
                    <a:p>
                      <a:pPr algn="l" indent="0" marL="0">
                        <a:buNone/>
                      </a:pPr>
                      <a:r>
                        <a:rPr lang="en-US" sz="750" dirty="0">
                          <a:solidFill>
                            <a:srgbClr val="1C1C22"/>
                          </a:solidFill>
                          <a:latin typeface="Arial" pitchFamily="34" charset="0"/>
                          <a:ea typeface="Arial" pitchFamily="34" charset="-122"/>
                          <a:cs typeface="Arial" pitchFamily="34" charset="-120"/>
                        </a:rPr>
                        <a:t>DPDP Act data minimisation</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E9E5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E08A00"/>
                          </a:solidFill>
                          <a:latin typeface="Arial" pitchFamily="34" charset="0"/>
                          <a:ea typeface="Arial" pitchFamily="34" charset="-122"/>
                          <a:cs typeface="Arial" pitchFamily="34" charset="-120"/>
                        </a:rPr>
                        <a:t>Partly</a:t>
                      </a:r>
                      <a:endParaRPr lang="en-US" sz="75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bl>
          </a:graphicData>
        </a:graphic>
      </p:graphicFrame>
      <p:sp>
        <p:nvSpPr>
          <p:cNvPr id="58" name="Shape 49"/>
          <p:cNvSpPr/>
          <p:nvPr/>
        </p:nvSpPr>
        <p:spPr>
          <a:xfrm>
            <a:off x="274320" y="3886200"/>
            <a:ext cx="5760720" cy="2624328"/>
          </a:xfrm>
          <a:prstGeom prst="roundRect">
            <a:avLst>
              <a:gd name="adj" fmla="val 2787"/>
            </a:avLst>
          </a:prstGeom>
          <a:solidFill>
            <a:srgbClr val="FFFFFF"/>
          </a:solidFill>
          <a:ln w="9525">
            <a:solidFill>
              <a:srgbClr val="E3DCD1"/>
            </a:solidFill>
            <a:prstDash val="solid"/>
          </a:ln>
        </p:spPr>
      </p:sp>
      <p:sp>
        <p:nvSpPr>
          <p:cNvPr id="59" name="Shape 50"/>
          <p:cNvSpPr/>
          <p:nvPr/>
        </p:nvSpPr>
        <p:spPr>
          <a:xfrm>
            <a:off x="365760" y="3959352"/>
            <a:ext cx="5577840" cy="274320"/>
          </a:xfrm>
          <a:prstGeom prst="roundRect">
            <a:avLst>
              <a:gd name="adj" fmla="val 16667"/>
            </a:avLst>
          </a:prstGeom>
          <a:solidFill>
            <a:srgbClr val="D7002A"/>
          </a:solidFill>
          <a:ln w="12700">
            <a:solidFill>
              <a:srgbClr val="D7002A"/>
            </a:solidFill>
            <a:prstDash val="solid"/>
          </a:ln>
        </p:spPr>
      </p:sp>
      <p:sp>
        <p:nvSpPr>
          <p:cNvPr id="60" name="Text 51"/>
          <p:cNvSpPr txBox="1"/>
          <p:nvPr/>
        </p:nvSpPr>
        <p:spPr>
          <a:xfrm>
            <a:off x="365760" y="3959352"/>
            <a:ext cx="5577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Go-to-market: who puts Sajag on PCs</a:t>
            </a:r>
            <a:endParaRPr lang="en-US" sz="1000" dirty="0"/>
          </a:p>
        </p:txBody>
      </p:sp>
      <p:sp>
        <p:nvSpPr>
          <p:cNvPr id="61" name="Shape 52"/>
          <p:cNvSpPr/>
          <p:nvPr/>
        </p:nvSpPr>
        <p:spPr>
          <a:xfrm>
            <a:off x="384048" y="4297680"/>
            <a:ext cx="420624" cy="420624"/>
          </a:xfrm>
          <a:prstGeom prst="ellipse">
            <a:avLst/>
          </a:prstGeom>
          <a:solidFill>
            <a:srgbClr val="D7002A"/>
          </a:solidFill>
          <a:ln w="12700">
            <a:solidFill>
              <a:srgbClr val="D7002A"/>
            </a:solidFill>
            <a:prstDash val="solid"/>
          </a:ln>
        </p:spPr>
      </p:sp>
      <p:pic>
        <p:nvPicPr>
          <p:cNvPr id="62" name="Image 6" descr="preencoded.png">    </p:cNvPr>
          <p:cNvPicPr>
            <a:picLocks noChangeAspect="1"/>
          </p:cNvPicPr>
          <p:nvPr/>
        </p:nvPicPr>
        <p:blipFill>
          <a:blip r:embed="rId7"/>
          <a:stretch>
            <a:fillRect/>
          </a:stretch>
        </p:blipFill>
        <p:spPr>
          <a:xfrm>
            <a:off x="476585" y="4390217"/>
            <a:ext cx="235549" cy="235549"/>
          </a:xfrm>
          <a:prstGeom prst="rect">
            <a:avLst/>
          </a:prstGeom>
        </p:spPr>
      </p:pic>
      <p:sp>
        <p:nvSpPr>
          <p:cNvPr id="63" name="Text 53"/>
          <p:cNvSpPr txBox="1"/>
          <p:nvPr/>
        </p:nvSpPr>
        <p:spPr>
          <a:xfrm>
            <a:off x="886968" y="4251960"/>
            <a:ext cx="2240280" cy="105156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OEM preload</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HP leads India's PC market; a Snapdragon HP AI PC could ship with Sajag as a 'Copilot+ safety' feature</a:t>
            </a:r>
            <a:endParaRPr lang="en-US" sz="800" dirty="0"/>
          </a:p>
        </p:txBody>
      </p:sp>
      <p:sp>
        <p:nvSpPr>
          <p:cNvPr id="64" name="Shape 54"/>
          <p:cNvSpPr/>
          <p:nvPr/>
        </p:nvSpPr>
        <p:spPr>
          <a:xfrm>
            <a:off x="3218688" y="4297680"/>
            <a:ext cx="420624" cy="420624"/>
          </a:xfrm>
          <a:prstGeom prst="ellipse">
            <a:avLst/>
          </a:prstGeom>
          <a:solidFill>
            <a:srgbClr val="3253DC"/>
          </a:solidFill>
          <a:ln w="12700">
            <a:solidFill>
              <a:srgbClr val="3253DC"/>
            </a:solidFill>
            <a:prstDash val="solid"/>
          </a:ln>
        </p:spPr>
      </p:sp>
      <p:pic>
        <p:nvPicPr>
          <p:cNvPr id="65" name="Image 7" descr="preencoded.png">    </p:cNvPr>
          <p:cNvPicPr>
            <a:picLocks noChangeAspect="1"/>
          </p:cNvPicPr>
          <p:nvPr/>
        </p:nvPicPr>
        <p:blipFill>
          <a:blip r:embed="rId8"/>
          <a:stretch>
            <a:fillRect/>
          </a:stretch>
        </p:blipFill>
        <p:spPr>
          <a:xfrm>
            <a:off x="3311225" y="4390217"/>
            <a:ext cx="235549" cy="235549"/>
          </a:xfrm>
          <a:prstGeom prst="rect">
            <a:avLst/>
          </a:prstGeom>
        </p:spPr>
      </p:pic>
      <p:sp>
        <p:nvSpPr>
          <p:cNvPr id="66" name="Text 55"/>
          <p:cNvSpPr txBox="1"/>
          <p:nvPr/>
        </p:nvSpPr>
        <p:spPr>
          <a:xfrm>
            <a:off x="3721608" y="4251960"/>
            <a:ext cx="2240280" cy="105156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Banks &amp; NBFCs</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offer to retail and senior customers as part of fraud-prevention programmes</a:t>
            </a:r>
            <a:endParaRPr lang="en-US" sz="800" dirty="0"/>
          </a:p>
        </p:txBody>
      </p:sp>
      <p:sp>
        <p:nvSpPr>
          <p:cNvPr id="67" name="Shape 56"/>
          <p:cNvSpPr/>
          <p:nvPr/>
        </p:nvSpPr>
        <p:spPr>
          <a:xfrm>
            <a:off x="384048" y="5394960"/>
            <a:ext cx="420624" cy="420624"/>
          </a:xfrm>
          <a:prstGeom prst="ellipse">
            <a:avLst/>
          </a:prstGeom>
          <a:solidFill>
            <a:srgbClr val="D7002A"/>
          </a:solidFill>
          <a:ln w="12700">
            <a:solidFill>
              <a:srgbClr val="D7002A"/>
            </a:solidFill>
            <a:prstDash val="solid"/>
          </a:ln>
        </p:spPr>
      </p:sp>
      <p:pic>
        <p:nvPicPr>
          <p:cNvPr id="68" name="Image 8" descr="preencoded.png">    </p:cNvPr>
          <p:cNvPicPr>
            <a:picLocks noChangeAspect="1"/>
          </p:cNvPicPr>
          <p:nvPr/>
        </p:nvPicPr>
        <p:blipFill>
          <a:blip r:embed="rId9"/>
          <a:stretch>
            <a:fillRect/>
          </a:stretch>
        </p:blipFill>
        <p:spPr>
          <a:xfrm>
            <a:off x="476585" y="5487497"/>
            <a:ext cx="235549" cy="235549"/>
          </a:xfrm>
          <a:prstGeom prst="rect">
            <a:avLst/>
          </a:prstGeom>
        </p:spPr>
      </p:pic>
      <p:sp>
        <p:nvSpPr>
          <p:cNvPr id="69" name="Text 57"/>
          <p:cNvSpPr txBox="1"/>
          <p:nvPr/>
        </p:nvSpPr>
        <p:spPr>
          <a:xfrm>
            <a:off x="886968" y="5349240"/>
            <a:ext cx="2240280" cy="105156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I4C / 1930 &amp; police</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awareness partners distribute a free, offline tool; 1930 is built into every alert</a:t>
            </a:r>
            <a:endParaRPr lang="en-US" sz="800" dirty="0"/>
          </a:p>
        </p:txBody>
      </p:sp>
      <p:sp>
        <p:nvSpPr>
          <p:cNvPr id="70" name="Shape 58"/>
          <p:cNvSpPr/>
          <p:nvPr/>
        </p:nvSpPr>
        <p:spPr>
          <a:xfrm>
            <a:off x="3218688" y="5394960"/>
            <a:ext cx="420624" cy="420624"/>
          </a:xfrm>
          <a:prstGeom prst="ellipse">
            <a:avLst/>
          </a:prstGeom>
          <a:solidFill>
            <a:srgbClr val="3253DC"/>
          </a:solidFill>
          <a:ln w="12700">
            <a:solidFill>
              <a:srgbClr val="3253DC"/>
            </a:solidFill>
            <a:prstDash val="solid"/>
          </a:ln>
        </p:spPr>
      </p:sp>
      <p:pic>
        <p:nvPicPr>
          <p:cNvPr id="71" name="Image 9" descr="preencoded.png">    </p:cNvPr>
          <p:cNvPicPr>
            <a:picLocks noChangeAspect="1"/>
          </p:cNvPicPr>
          <p:nvPr/>
        </p:nvPicPr>
        <p:blipFill>
          <a:blip r:embed="rId10"/>
          <a:stretch>
            <a:fillRect/>
          </a:stretch>
        </p:blipFill>
        <p:spPr>
          <a:xfrm>
            <a:off x="3311225" y="5487497"/>
            <a:ext cx="235549" cy="235549"/>
          </a:xfrm>
          <a:prstGeom prst="rect">
            <a:avLst/>
          </a:prstGeom>
        </p:spPr>
      </p:pic>
      <p:sp>
        <p:nvSpPr>
          <p:cNvPr id="72" name="Text 59"/>
          <p:cNvSpPr txBox="1"/>
          <p:nvPr/>
        </p:nvSpPr>
        <p:spPr>
          <a:xfrm>
            <a:off x="3721608" y="5349240"/>
            <a:ext cx="2240280" cy="1051560"/>
          </a:xfrm>
          <a:prstGeom prst="rect">
            <a:avLst/>
          </a:prstGeom>
          <a:noFill/>
          <a:ln/>
        </p:spPr>
        <p:txBody>
          <a:bodyPr wrap="square" lIns="508" tIns="508" rIns="508" bIns="508" rtlCol="0" anchor="t"/>
          <a:lstStyle/>
          <a:p>
            <a:pPr algn="l" indent="0" marL="0">
              <a:lnSpc>
                <a:spcPct val="100000"/>
              </a:lnSpc>
              <a:spcAft>
                <a:spcPts val="200"/>
              </a:spcAft>
              <a:buNone/>
            </a:pPr>
            <a:r>
              <a:rPr lang="en-US" sz="800" b="1" dirty="0">
                <a:solidFill>
                  <a:srgbClr val="1C1C22"/>
                </a:solidFill>
                <a:latin typeface="Arial" pitchFamily="34" charset="0"/>
                <a:ea typeface="Arial" pitchFamily="34" charset="-122"/>
                <a:cs typeface="Arial" pitchFamily="34" charset="-120"/>
              </a:rPr>
              <a:t>Communities</a:t>
            </a:r>
            <a:endParaRPr lang="en-US" sz="800" dirty="0"/>
          </a:p>
          <a:p>
            <a:pPr algn="l" indent="0" marL="0">
              <a:lnSpc>
                <a:spcPct val="100000"/>
              </a:lnSpc>
              <a:spcAft>
                <a:spcPts val="200"/>
              </a:spcAft>
              <a:buNone/>
            </a:pPr>
            <a:r>
              <a:rPr lang="en-US" sz="800" dirty="0">
                <a:solidFill>
                  <a:srgbClr val="5E5E66"/>
                </a:solidFill>
                <a:latin typeface="Arial" pitchFamily="34" charset="0"/>
                <a:ea typeface="Arial" pitchFamily="34" charset="-122"/>
                <a:cs typeface="Arial" pitchFamily="34" charset="-120"/>
              </a:rPr>
              <a:t>senior-citizen associations, colleges, CSCs and CA offices</a:t>
            </a:r>
            <a:endParaRPr lang="en-US" sz="800" dirty="0"/>
          </a:p>
        </p:txBody>
      </p:sp>
      <p:sp>
        <p:nvSpPr>
          <p:cNvPr id="73" name="Shape 60"/>
          <p:cNvSpPr/>
          <p:nvPr/>
        </p:nvSpPr>
        <p:spPr>
          <a:xfrm>
            <a:off x="6172200" y="3886200"/>
            <a:ext cx="5742432" cy="2624328"/>
          </a:xfrm>
          <a:prstGeom prst="roundRect">
            <a:avLst>
              <a:gd name="adj" fmla="val 2787"/>
            </a:avLst>
          </a:prstGeom>
          <a:solidFill>
            <a:srgbClr val="FFFFFF"/>
          </a:solidFill>
          <a:ln w="9525">
            <a:solidFill>
              <a:srgbClr val="E3DCD1"/>
            </a:solidFill>
            <a:prstDash val="solid"/>
          </a:ln>
        </p:spPr>
      </p:sp>
      <p:sp>
        <p:nvSpPr>
          <p:cNvPr id="74" name="Shape 61"/>
          <p:cNvSpPr/>
          <p:nvPr/>
        </p:nvSpPr>
        <p:spPr>
          <a:xfrm>
            <a:off x="6263640" y="3959352"/>
            <a:ext cx="5559552" cy="274320"/>
          </a:xfrm>
          <a:prstGeom prst="roundRect">
            <a:avLst>
              <a:gd name="adj" fmla="val 16667"/>
            </a:avLst>
          </a:prstGeom>
          <a:solidFill>
            <a:srgbClr val="121217"/>
          </a:solidFill>
          <a:ln w="12700">
            <a:solidFill>
              <a:srgbClr val="121217"/>
            </a:solidFill>
            <a:prstDash val="solid"/>
          </a:ln>
        </p:spPr>
      </p:sp>
      <p:sp>
        <p:nvSpPr>
          <p:cNvPr id="75" name="Text 62"/>
          <p:cNvSpPr txBox="1"/>
          <p:nvPr/>
        </p:nvSpPr>
        <p:spPr>
          <a:xfrm>
            <a:off x="6263640" y="3959352"/>
            <a:ext cx="555955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Impact model (illustrative, from 2024-25 I4C figures)</a:t>
            </a:r>
            <a:endParaRPr lang="en-US" sz="1000" dirty="0"/>
          </a:p>
        </p:txBody>
      </p:sp>
      <p:graphicFrame>
        <p:nvGraphicFramePr>
          <p:cNvPr id="76" name="Chart 0" descr=""/>
          <p:cNvGraphicFramePr/>
          <p:nvPr/>
        </p:nvGraphicFramePr>
        <p:xfrm>
          <a:off x="6263640" y="4251960"/>
          <a:ext cx="3108960" cy="2194560"/>
        </p:xfrm>
        <a:graphic xmlns:a="http://schemas.openxmlformats.org/drawingml/2006/main">
          <a:graphicData uri="http://schemas.openxmlformats.org/drawingml/2006/chart">
            <c:chart xmlns:c="http://schemas.openxmlformats.org/drawingml/2006/chart" r:id="rId11"/>
          </a:graphicData>
        </a:graphic>
      </p:graphicFrame>
      <p:sp>
        <p:nvSpPr>
          <p:cNvPr id="77" name="Text 63"/>
          <p:cNvSpPr txBox="1"/>
          <p:nvPr/>
        </p:nvSpPr>
        <p:spPr>
          <a:xfrm>
            <a:off x="9418320" y="4297680"/>
            <a:ext cx="2423160" cy="2148840"/>
          </a:xfrm>
          <a:prstGeom prst="rect">
            <a:avLst/>
          </a:prstGeom>
          <a:noFill/>
          <a:ln/>
        </p:spPr>
        <p:txBody>
          <a:bodyPr wrap="square" lIns="508" tIns="508" rIns="508" bIns="508" rtlCol="0" anchor="t"/>
          <a:lstStyle/>
          <a:p>
            <a:pPr algn="l" indent="0" marL="0">
              <a:lnSpc>
                <a:spcPct val="100000"/>
              </a:lnSpc>
              <a:spcAft>
                <a:spcPts val="200"/>
              </a:spcAft>
              <a:buNone/>
            </a:pPr>
            <a:r>
              <a:rPr lang="en-US" sz="1600" b="1" dirty="0">
                <a:solidFill>
                  <a:srgbClr val="D7002A"/>
                </a:solidFill>
                <a:latin typeface="Arial" pitchFamily="34" charset="0"/>
                <a:ea typeface="Arial" pitchFamily="34" charset="-122"/>
                <a:cs typeface="Arial" pitchFamily="34" charset="-120"/>
              </a:rPr>
              <a:t>₹1.55 lakh</a:t>
            </a:r>
            <a:endParaRPr lang="en-US" sz="830" dirty="0"/>
          </a:p>
          <a:p>
            <a:pPr algn="l" indent="0" marL="0">
              <a:lnSpc>
                <a:spcPct val="100000"/>
              </a:lnSpc>
              <a:spcAft>
                <a:spcPts val="200"/>
              </a:spcAft>
              <a:buNone/>
            </a:pPr>
            <a:r>
              <a:rPr lang="en-US" sz="830" dirty="0">
                <a:solidFill>
                  <a:srgbClr val="5E5E66"/>
                </a:solidFill>
                <a:latin typeface="Arial" pitchFamily="34" charset="0"/>
                <a:ea typeface="Arial" pitchFamily="34" charset="-122"/>
                <a:cs typeface="Arial" pitchFamily="34" charset="-120"/>
              </a:rPr>
              <a:t>average loss per digital-arrest case in 2024 (₹1,918 cr / 1,23,672 cases); ₹3.73 lakh in 2025.</a:t>
            </a:r>
            <a:endParaRPr lang="en-US" sz="830" dirty="0"/>
          </a:p>
          <a:p>
            <a:pPr algn="l" indent="0" marL="0">
              <a:lnSpc>
                <a:spcPct val="100000"/>
              </a:lnSpc>
              <a:spcAft>
                <a:spcPts val="200"/>
              </a:spcAft>
              <a:buNone/>
            </a:pPr>
            <a:r>
              <a:rPr lang="en-US" sz="830" dirty="0">
                <a:solidFill>
                  <a:srgbClr val="1C1C22"/>
                </a:solidFill>
                <a:latin typeface="Arial" pitchFamily="34" charset="0"/>
                <a:ea typeface="Arial" pitchFamily="34" charset="-122"/>
                <a:cs typeface="Arial" pitchFamily="34" charset="-120"/>
              </a:rPr>
              <a:t>Every 1,000 digital-arrest attempts Sajag interrupts protects about ₹15.5 crore at 2024 averages, before counting tech-support, KYC and investment fraud.</a:t>
            </a:r>
            <a:endParaRPr lang="en-US" sz="830" dirty="0"/>
          </a:p>
        </p:txBody>
      </p:sp>
      <p:sp>
        <p:nvSpPr>
          <p:cNvPr id="78" name="Text 64"/>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D7002A"/>
          </a:solidFill>
          <a:ln w="6350">
            <a:solidFill>
              <a:srgbClr val="D7002A"/>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Roadmap: RICE-prioritised, with risks named up front</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RICE = Reach x Impact x Confidence / Effort</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Shape 30"/>
          <p:cNvSpPr/>
          <p:nvPr/>
        </p:nvSpPr>
        <p:spPr>
          <a:xfrm>
            <a:off x="274320" y="1234440"/>
            <a:ext cx="6400800" cy="2834640"/>
          </a:xfrm>
          <a:prstGeom prst="roundRect">
            <a:avLst>
              <a:gd name="adj" fmla="val 2581"/>
            </a:avLst>
          </a:prstGeom>
          <a:solidFill>
            <a:srgbClr val="FFFFFF"/>
          </a:solidFill>
          <a:ln w="9525">
            <a:solidFill>
              <a:srgbClr val="E3DCD1"/>
            </a:solidFill>
            <a:prstDash val="solid"/>
          </a:ln>
        </p:spPr>
      </p:sp>
      <p:sp>
        <p:nvSpPr>
          <p:cNvPr id="35" name="Shape 31"/>
          <p:cNvSpPr/>
          <p:nvPr/>
        </p:nvSpPr>
        <p:spPr>
          <a:xfrm>
            <a:off x="365760" y="1307592"/>
            <a:ext cx="6217920" cy="274320"/>
          </a:xfrm>
          <a:prstGeom prst="roundRect">
            <a:avLst>
              <a:gd name="adj" fmla="val 16667"/>
            </a:avLst>
          </a:prstGeom>
          <a:solidFill>
            <a:srgbClr val="121217"/>
          </a:solidFill>
          <a:ln w="12700">
            <a:solidFill>
              <a:srgbClr val="121217"/>
            </a:solidFill>
            <a:prstDash val="solid"/>
          </a:ln>
        </p:spPr>
      </p:sp>
      <p:sp>
        <p:nvSpPr>
          <p:cNvPr id="36" name="Text 32"/>
          <p:cNvSpPr txBox="1"/>
          <p:nvPr/>
        </p:nvSpPr>
        <p:spPr>
          <a:xfrm>
            <a:off x="365760" y="1307592"/>
            <a:ext cx="62179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Next features, ranked by RICE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627632"/>
          <a:ext cx="6217920" cy="914400"/>
        </p:xfrm>
        <a:graphic>
          <a:graphicData uri="http://schemas.openxmlformats.org/drawingml/2006/table">
            <a:tbl>
              <a:tblPr/>
              <a:tblGrid>
                <a:gridCol w="3017520"/>
                <a:gridCol w="640080"/>
                <a:gridCol w="594360"/>
                <a:gridCol w="594360"/>
                <a:gridCol w="777240"/>
                <a:gridCol w="594360"/>
              </a:tblGrid>
              <a:tr h="384048">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Feature</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Reach %</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Impact</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Conf.</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Effort (wk)</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RICE</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384048">
                <a:tc>
                  <a:txBody>
                    <a:bodyPr/>
                    <a:lstStyle/>
                    <a:p>
                      <a:pPr algn="l" indent="0" marL="0">
                        <a:buNone/>
                      </a:pPr>
                      <a:r>
                        <a:rPr lang="en-US" sz="780" b="1" dirty="0">
                          <a:solidFill>
                            <a:srgbClr val="1C1C22"/>
                          </a:solidFill>
                          <a:latin typeface="Arial" pitchFamily="34" charset="0"/>
                          <a:ea typeface="Arial" pitchFamily="34" charset="-122"/>
                          <a:cs typeface="Arial" pitchFamily="34" charset="-120"/>
                        </a:rPr>
                        <a:t>Real-call validation with bank / I4C partners</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90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3</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80%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2</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b="1" dirty="0">
                          <a:solidFill>
                            <a:srgbClr val="FFFFFF"/>
                          </a:solidFill>
                          <a:latin typeface="Arial" pitchFamily="34" charset="0"/>
                          <a:ea typeface="Arial" pitchFamily="34" charset="-122"/>
                          <a:cs typeface="Arial" pitchFamily="34" charset="-120"/>
                        </a:rPr>
                        <a:t>108</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D7002A"/>
                    </a:solidFill>
                  </a:tcPr>
                </a:tc>
              </a:tr>
              <a:tr h="384048">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Marathi, Tamil, Telugu, Bengali cue libraries</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70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2</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80%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b="1" dirty="0">
                          <a:solidFill>
                            <a:srgbClr val="1C1C22"/>
                          </a:solidFill>
                          <a:latin typeface="Arial" pitchFamily="34" charset="0"/>
                          <a:ea typeface="Arial" pitchFamily="34" charset="-122"/>
                          <a:cs typeface="Arial" pitchFamily="34" charset="-120"/>
                        </a:rPr>
                        <a:t>74.7</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84048">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Family guardian: consented alert to a trusted contact</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50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2</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80%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b="1" dirty="0">
                          <a:solidFill>
                            <a:srgbClr val="1C1C22"/>
                          </a:solidFill>
                          <a:latin typeface="Arial" pitchFamily="34" charset="0"/>
                          <a:ea typeface="Arial" pitchFamily="34" charset="-122"/>
                          <a:cs typeface="Arial" pitchFamily="34" charset="-120"/>
                        </a:rPr>
                        <a:t>53.3</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84048">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Same models on Snapdragon 8 Elite phones</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95</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3</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60%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4</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b="1" dirty="0">
                          <a:solidFill>
                            <a:srgbClr val="1C1C22"/>
                          </a:solidFill>
                          <a:latin typeface="Arial" pitchFamily="34" charset="0"/>
                          <a:ea typeface="Arial" pitchFamily="34" charset="-122"/>
                          <a:cs typeface="Arial" pitchFamily="34" charset="-120"/>
                        </a:rPr>
                        <a:t>42.8</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84048">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Voice-clone (deepfake) detector on NPU (WavLM, AI Hub)</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60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3</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50%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3</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b="1" dirty="0">
                          <a:solidFill>
                            <a:srgbClr val="1C1C22"/>
                          </a:solidFill>
                          <a:latin typeface="Arial" pitchFamily="34" charset="0"/>
                          <a:ea typeface="Arial" pitchFamily="34" charset="-122"/>
                          <a:cs typeface="Arial" pitchFamily="34" charset="-120"/>
                        </a:rPr>
                        <a:t>30</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bl>
          </a:graphicData>
        </a:graphic>
      </p:graphicFrame>
      <p:sp>
        <p:nvSpPr>
          <p:cNvPr id="38" name="Shape 33"/>
          <p:cNvSpPr/>
          <p:nvPr/>
        </p:nvSpPr>
        <p:spPr>
          <a:xfrm>
            <a:off x="6812280" y="1234440"/>
            <a:ext cx="5102352" cy="2834640"/>
          </a:xfrm>
          <a:prstGeom prst="roundRect">
            <a:avLst>
              <a:gd name="adj" fmla="val 2581"/>
            </a:avLst>
          </a:prstGeom>
          <a:solidFill>
            <a:srgbClr val="FFFFFF"/>
          </a:solidFill>
          <a:ln w="9525">
            <a:solidFill>
              <a:srgbClr val="E3DCD1"/>
            </a:solidFill>
            <a:prstDash val="solid"/>
          </a:ln>
        </p:spPr>
      </p:sp>
      <p:sp>
        <p:nvSpPr>
          <p:cNvPr id="39" name="Shape 34"/>
          <p:cNvSpPr/>
          <p:nvPr/>
        </p:nvSpPr>
        <p:spPr>
          <a:xfrm>
            <a:off x="6903720" y="1307592"/>
            <a:ext cx="4919472" cy="274320"/>
          </a:xfrm>
          <a:prstGeom prst="roundRect">
            <a:avLst>
              <a:gd name="adj" fmla="val 16667"/>
            </a:avLst>
          </a:prstGeom>
          <a:solidFill>
            <a:srgbClr val="D7002A"/>
          </a:solidFill>
          <a:ln w="12700">
            <a:solidFill>
              <a:srgbClr val="D7002A"/>
            </a:solidFill>
            <a:prstDash val="solid"/>
          </a:ln>
        </p:spPr>
      </p:sp>
      <p:sp>
        <p:nvSpPr>
          <p:cNvPr id="40" name="Text 35"/>
          <p:cNvSpPr txBox="1"/>
          <p:nvPr/>
        </p:nvSpPr>
        <p:spPr>
          <a:xfrm>
            <a:off x="6903720" y="1307592"/>
            <a:ext cx="4919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Timeline</a:t>
            </a:r>
            <a:endParaRPr lang="en-US" sz="1000" dirty="0"/>
          </a:p>
        </p:txBody>
      </p:sp>
      <p:sp>
        <p:nvSpPr>
          <p:cNvPr id="41" name="Shape 36"/>
          <p:cNvSpPr/>
          <p:nvPr/>
        </p:nvSpPr>
        <p:spPr>
          <a:xfrm>
            <a:off x="6949440" y="1709928"/>
            <a:ext cx="219456" cy="219456"/>
          </a:xfrm>
          <a:prstGeom prst="ellipse">
            <a:avLst/>
          </a:prstGeom>
          <a:solidFill>
            <a:srgbClr val="D7002A"/>
          </a:solidFill>
          <a:ln w="12700">
            <a:solidFill>
              <a:srgbClr val="D7002A"/>
            </a:solidFill>
            <a:prstDash val="solid"/>
          </a:ln>
        </p:spPr>
      </p:sp>
      <p:sp>
        <p:nvSpPr>
          <p:cNvPr id="42" name="Shape 37"/>
          <p:cNvSpPr/>
          <p:nvPr/>
        </p:nvSpPr>
        <p:spPr>
          <a:xfrm>
            <a:off x="7059168" y="1938528"/>
            <a:ext cx="0" cy="347472"/>
          </a:xfrm>
          <a:prstGeom prst="line">
            <a:avLst/>
          </a:prstGeom>
          <a:noFill/>
          <a:ln w="19050">
            <a:solidFill>
              <a:srgbClr val="E3DCD1"/>
            </a:solidFill>
            <a:prstDash val="solid"/>
          </a:ln>
        </p:spPr>
      </p:sp>
      <p:sp>
        <p:nvSpPr>
          <p:cNvPr id="43" name="Text 38"/>
          <p:cNvSpPr txBox="1"/>
          <p:nvPr/>
        </p:nvSpPr>
        <p:spPr>
          <a:xfrm>
            <a:off x="7269480" y="1664208"/>
            <a:ext cx="457200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D7002A"/>
                </a:solidFill>
                <a:latin typeface="Arial" pitchFamily="34" charset="0"/>
                <a:ea typeface="Arial" pitchFamily="34" charset="-122"/>
                <a:cs typeface="Arial" pitchFamily="34" charset="-120"/>
              </a:rPr>
              <a:t>Now (v1.0)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3 sentinels, 5 NPU-ready models, fusion, dashboard, 27 tests</a:t>
            </a:r>
            <a:endParaRPr lang="en-US" sz="850" dirty="0"/>
          </a:p>
        </p:txBody>
      </p:sp>
      <p:sp>
        <p:nvSpPr>
          <p:cNvPr id="44" name="Shape 39"/>
          <p:cNvSpPr/>
          <p:nvPr/>
        </p:nvSpPr>
        <p:spPr>
          <a:xfrm>
            <a:off x="6949440" y="2286000"/>
            <a:ext cx="219456" cy="219456"/>
          </a:xfrm>
          <a:prstGeom prst="ellipse">
            <a:avLst/>
          </a:prstGeom>
          <a:solidFill>
            <a:srgbClr val="E08A00"/>
          </a:solidFill>
          <a:ln w="12700">
            <a:solidFill>
              <a:srgbClr val="E08A00"/>
            </a:solidFill>
            <a:prstDash val="solid"/>
          </a:ln>
        </p:spPr>
      </p:sp>
      <p:sp>
        <p:nvSpPr>
          <p:cNvPr id="45" name="Shape 40"/>
          <p:cNvSpPr/>
          <p:nvPr/>
        </p:nvSpPr>
        <p:spPr>
          <a:xfrm>
            <a:off x="7059168" y="2514600"/>
            <a:ext cx="0" cy="347472"/>
          </a:xfrm>
          <a:prstGeom prst="line">
            <a:avLst/>
          </a:prstGeom>
          <a:noFill/>
          <a:ln w="19050">
            <a:solidFill>
              <a:srgbClr val="E3DCD1"/>
            </a:solidFill>
            <a:prstDash val="solid"/>
          </a:ln>
        </p:spPr>
      </p:sp>
      <p:sp>
        <p:nvSpPr>
          <p:cNvPr id="46" name="Text 41"/>
          <p:cNvSpPr txBox="1"/>
          <p:nvPr/>
        </p:nvSpPr>
        <p:spPr>
          <a:xfrm>
            <a:off x="7269480" y="2240280"/>
            <a:ext cx="457200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E08A00"/>
                </a:solidFill>
                <a:latin typeface="Arial" pitchFamily="34" charset="0"/>
                <a:ea typeface="Arial" pitchFamily="34" charset="-122"/>
                <a:cs typeface="Arial" pitchFamily="34" charset="-120"/>
              </a:rPr>
              <a:t>+1 month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on-device benchmark on X Elite, real-call pilot, Marathi</a:t>
            </a:r>
            <a:endParaRPr lang="en-US" sz="850" dirty="0"/>
          </a:p>
        </p:txBody>
      </p:sp>
      <p:sp>
        <p:nvSpPr>
          <p:cNvPr id="47" name="Shape 42"/>
          <p:cNvSpPr/>
          <p:nvPr/>
        </p:nvSpPr>
        <p:spPr>
          <a:xfrm>
            <a:off x="6949440" y="2862072"/>
            <a:ext cx="219456" cy="219456"/>
          </a:xfrm>
          <a:prstGeom prst="ellipse">
            <a:avLst/>
          </a:prstGeom>
          <a:solidFill>
            <a:srgbClr val="3253DC"/>
          </a:solidFill>
          <a:ln w="12700">
            <a:solidFill>
              <a:srgbClr val="3253DC"/>
            </a:solidFill>
            <a:prstDash val="solid"/>
          </a:ln>
        </p:spPr>
      </p:sp>
      <p:sp>
        <p:nvSpPr>
          <p:cNvPr id="48" name="Shape 43"/>
          <p:cNvSpPr/>
          <p:nvPr/>
        </p:nvSpPr>
        <p:spPr>
          <a:xfrm>
            <a:off x="7059168" y="3090672"/>
            <a:ext cx="0" cy="347472"/>
          </a:xfrm>
          <a:prstGeom prst="line">
            <a:avLst/>
          </a:prstGeom>
          <a:noFill/>
          <a:ln w="19050">
            <a:solidFill>
              <a:srgbClr val="E3DCD1"/>
            </a:solidFill>
            <a:prstDash val="solid"/>
          </a:ln>
        </p:spPr>
      </p:sp>
      <p:sp>
        <p:nvSpPr>
          <p:cNvPr id="49" name="Text 44"/>
          <p:cNvSpPr txBox="1"/>
          <p:nvPr/>
        </p:nvSpPr>
        <p:spPr>
          <a:xfrm>
            <a:off x="7269480" y="2816352"/>
            <a:ext cx="457200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3253DC"/>
                </a:solidFill>
                <a:latin typeface="Arial" pitchFamily="34" charset="0"/>
                <a:ea typeface="Arial" pitchFamily="34" charset="-122"/>
                <a:cs typeface="Arial" pitchFamily="34" charset="-120"/>
              </a:rPr>
              <a:t>+3 months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voice-clone detector, family guardian, installer (MSIX)</a:t>
            </a:r>
            <a:endParaRPr lang="en-US" sz="850" dirty="0"/>
          </a:p>
        </p:txBody>
      </p:sp>
      <p:sp>
        <p:nvSpPr>
          <p:cNvPr id="50" name="Shape 45"/>
          <p:cNvSpPr/>
          <p:nvPr/>
        </p:nvSpPr>
        <p:spPr>
          <a:xfrm>
            <a:off x="6949440" y="3438144"/>
            <a:ext cx="219456" cy="219456"/>
          </a:xfrm>
          <a:prstGeom prst="ellipse">
            <a:avLst/>
          </a:prstGeom>
          <a:solidFill>
            <a:srgbClr val="1E9E57"/>
          </a:solidFill>
          <a:ln w="12700">
            <a:solidFill>
              <a:srgbClr val="1E9E57"/>
            </a:solidFill>
            <a:prstDash val="solid"/>
          </a:ln>
        </p:spPr>
      </p:sp>
      <p:sp>
        <p:nvSpPr>
          <p:cNvPr id="51" name="Text 46"/>
          <p:cNvSpPr txBox="1"/>
          <p:nvPr/>
        </p:nvSpPr>
        <p:spPr>
          <a:xfrm>
            <a:off x="7269480" y="3392424"/>
            <a:ext cx="4572000" cy="502920"/>
          </a:xfrm>
          <a:prstGeom prst="rect">
            <a:avLst/>
          </a:prstGeom>
          <a:noFill/>
          <a:ln/>
        </p:spPr>
        <p:txBody>
          <a:bodyPr wrap="square" lIns="508" tIns="508" rIns="508" bIns="508" rtlCol="0" anchor="t"/>
          <a:lstStyle/>
          <a:p>
            <a:pPr algn="l" indent="0" marL="0">
              <a:lnSpc>
                <a:spcPct val="100000"/>
              </a:lnSpc>
              <a:spcAft>
                <a:spcPts val="200"/>
              </a:spcAft>
              <a:buNone/>
            </a:pPr>
            <a:r>
              <a:rPr lang="en-US" sz="850" b="1" dirty="0">
                <a:solidFill>
                  <a:srgbClr val="1E9E57"/>
                </a:solidFill>
                <a:latin typeface="Arial" pitchFamily="34" charset="0"/>
                <a:ea typeface="Arial" pitchFamily="34" charset="-122"/>
                <a:cs typeface="Arial" pitchFamily="34" charset="-120"/>
              </a:rPr>
              <a:t>+6 months  </a:t>
            </a:r>
            <a:pPr algn="l" indent="0" marL="0">
              <a:lnSpc>
                <a:spcPct val="100000"/>
              </a:lnSpc>
              <a:spcAft>
                <a:spcPts val="200"/>
              </a:spcAft>
              <a:buNone/>
            </a:pPr>
            <a:r>
              <a:rPr lang="en-US" sz="850" dirty="0">
                <a:solidFill>
                  <a:srgbClr val="1C1C22"/>
                </a:solidFill>
                <a:latin typeface="Arial" pitchFamily="34" charset="0"/>
                <a:ea typeface="Arial" pitchFamily="34" charset="-122"/>
                <a:cs typeface="Arial" pitchFamily="34" charset="-120"/>
              </a:rPr>
              <a:t>Android build on Snapdragon 8 Elite, bank / OEM pilots</a:t>
            </a:r>
            <a:endParaRPr lang="en-US" sz="850" dirty="0"/>
          </a:p>
        </p:txBody>
      </p:sp>
      <p:sp>
        <p:nvSpPr>
          <p:cNvPr id="52" name="Shape 47"/>
          <p:cNvSpPr/>
          <p:nvPr/>
        </p:nvSpPr>
        <p:spPr>
          <a:xfrm>
            <a:off x="274320" y="4206240"/>
            <a:ext cx="6400800" cy="2304288"/>
          </a:xfrm>
          <a:prstGeom prst="roundRect">
            <a:avLst>
              <a:gd name="adj" fmla="val 3175"/>
            </a:avLst>
          </a:prstGeom>
          <a:solidFill>
            <a:srgbClr val="FFFFFF"/>
          </a:solidFill>
          <a:ln w="9525">
            <a:solidFill>
              <a:srgbClr val="E3DCD1"/>
            </a:solidFill>
            <a:prstDash val="solid"/>
          </a:ln>
        </p:spPr>
      </p:sp>
      <p:sp>
        <p:nvSpPr>
          <p:cNvPr id="53" name="Shape 48"/>
          <p:cNvSpPr/>
          <p:nvPr/>
        </p:nvSpPr>
        <p:spPr>
          <a:xfrm>
            <a:off x="365760" y="4279392"/>
            <a:ext cx="6217920" cy="274320"/>
          </a:xfrm>
          <a:prstGeom prst="roundRect">
            <a:avLst>
              <a:gd name="adj" fmla="val 16667"/>
            </a:avLst>
          </a:prstGeom>
          <a:solidFill>
            <a:srgbClr val="121217"/>
          </a:solidFill>
          <a:ln w="12700">
            <a:solidFill>
              <a:srgbClr val="121217"/>
            </a:solidFill>
            <a:prstDash val="solid"/>
          </a:ln>
        </p:spPr>
      </p:sp>
      <p:sp>
        <p:nvSpPr>
          <p:cNvPr id="54" name="Text 49"/>
          <p:cNvSpPr txBox="1"/>
          <p:nvPr/>
        </p:nvSpPr>
        <p:spPr>
          <a:xfrm>
            <a:off x="365760" y="4279392"/>
            <a:ext cx="62179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Risks and how Sajag handles them</a:t>
            </a:r>
            <a:endParaRPr lang="en-US" sz="10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365760" y="4553712"/>
          <a:ext cx="6217920" cy="914400"/>
        </p:xfrm>
        <a:graphic>
          <a:graphicData uri="http://schemas.openxmlformats.org/drawingml/2006/table">
            <a:tbl>
              <a:tblPr/>
              <a:tblGrid>
                <a:gridCol w="1828800"/>
                <a:gridCol w="4389120"/>
              </a:tblGrid>
              <a:tr h="347472">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Risk</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Mitigation</a:t>
                      </a:r>
                      <a:endParaRPr lang="en-US" sz="83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121217"/>
                    </a:solidFill>
                  </a:tcPr>
                </a:tc>
              </a:tr>
              <a:tr h="347472">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False alarms erode trust</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awareness damping, classifier-weighted evidence, hard-negative corpus; 0.5% synthetic false-alarm rate</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47472">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ASR errors on noisy calls</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screen + system evidence can confirm or replace audio; forced language prompt</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r h="347472">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Scammers change scripts</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tactic-level (not keyword-level) model; cue library and classifier update offline</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FFFFF"/>
                    </a:solidFill>
                  </a:tcPr>
                </a:tc>
              </a:tr>
              <a:tr h="347472">
                <a:tc>
                  <a:txBody>
                    <a:bodyPr/>
                    <a:lstStyle/>
                    <a:p>
                      <a:pPr algn="l" indent="0" marL="0">
                        <a:buNone/>
                      </a:pPr>
                      <a:r>
                        <a:rPr lang="en-US" sz="780" dirty="0">
                          <a:solidFill>
                            <a:srgbClr val="1C1C22"/>
                          </a:solidFill>
                          <a:latin typeface="Arial" pitchFamily="34" charset="0"/>
                          <a:ea typeface="Arial" pitchFamily="34" charset="-122"/>
                          <a:cs typeface="Arial" pitchFamily="34" charset="-120"/>
                        </a:rPr>
                        <a:t>Privacy perception</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c>
                  <a:txBody>
                    <a:bodyPr/>
                    <a:lstStyle/>
                    <a:p>
                      <a:pPr algn="ctr" indent="0" marL="0">
                        <a:buNone/>
                      </a:pPr>
                      <a:r>
                        <a:rPr lang="en-US" sz="780" dirty="0">
                          <a:solidFill>
                            <a:srgbClr val="1C1C22"/>
                          </a:solidFill>
                          <a:latin typeface="Arial" pitchFamily="34" charset="0"/>
                          <a:ea typeface="Arial" pitchFamily="34" charset="-122"/>
                          <a:cs typeface="Arial" pitchFamily="34" charset="-120"/>
                        </a:rPr>
                        <a:t>open source, no network at runtime, nothing stored, verifiable by anyone</a:t>
                      </a:r>
                      <a:endParaRPr lang="en-US" sz="780" dirty="0">
                        <a:latin typeface="Arial" charset="0"/>
                        <a:ea typeface="Arial" charset="0"/>
                        <a:cs typeface="Arial" charset="0"/>
                      </a:endParaRPr>
                    </a:p>
                  </a:txBody>
                  <a:tcPr marL="50800" marR="50800" marT="25400" marB="25400" anchor="ctr">
                    <a:lnL w="6350" cap="flat" cmpd="sng" algn="ctr">
                      <a:solidFill>
                        <a:srgbClr val="E3DCD1"/>
                      </a:solidFill>
                      <a:prstDash val="solid"/>
                      <a:round/>
                      <a:headEnd type="none" w="med" len="med"/>
                      <a:tailEnd type="none" w="med" len="med"/>
                    </a:lnL>
                    <a:lnR w="6350" cap="flat" cmpd="sng" algn="ctr">
                      <a:solidFill>
                        <a:srgbClr val="E3DCD1"/>
                      </a:solidFill>
                      <a:prstDash val="solid"/>
                      <a:round/>
                      <a:headEnd type="none" w="med" len="med"/>
                      <a:tailEnd type="none" w="med" len="med"/>
                    </a:lnR>
                    <a:lnT w="6350" cap="flat" cmpd="sng" algn="ctr">
                      <a:solidFill>
                        <a:srgbClr val="E3DCD1"/>
                      </a:solidFill>
                      <a:prstDash val="solid"/>
                      <a:round/>
                      <a:headEnd type="none" w="med" len="med"/>
                      <a:tailEnd type="none" w="med" len="med"/>
                    </a:lnT>
                    <a:lnB w="6350" cap="flat" cmpd="sng" algn="ctr">
                      <a:solidFill>
                        <a:srgbClr val="E3DCD1"/>
                      </a:solidFill>
                      <a:prstDash val="solid"/>
                      <a:round/>
                      <a:headEnd type="none" w="med" len="med"/>
                      <a:tailEnd type="none" w="med" len="med"/>
                    </a:lnB>
                    <a:solidFill>
                      <a:srgbClr val="F6F2EC"/>
                    </a:solidFill>
                  </a:tcPr>
                </a:tc>
              </a:tr>
            </a:tbl>
          </a:graphicData>
        </a:graphic>
      </p:graphicFrame>
      <p:sp>
        <p:nvSpPr>
          <p:cNvPr id="56" name="Shape 50"/>
          <p:cNvSpPr/>
          <p:nvPr/>
        </p:nvSpPr>
        <p:spPr>
          <a:xfrm>
            <a:off x="6812280" y="4206240"/>
            <a:ext cx="5102352" cy="2304288"/>
          </a:xfrm>
          <a:prstGeom prst="roundRect">
            <a:avLst>
              <a:gd name="adj" fmla="val 3175"/>
            </a:avLst>
          </a:prstGeom>
          <a:solidFill>
            <a:srgbClr val="FFFFFF"/>
          </a:solidFill>
          <a:ln w="9525">
            <a:solidFill>
              <a:srgbClr val="E3DCD1"/>
            </a:solidFill>
            <a:prstDash val="solid"/>
          </a:ln>
        </p:spPr>
      </p:sp>
      <p:sp>
        <p:nvSpPr>
          <p:cNvPr id="57" name="Shape 51"/>
          <p:cNvSpPr/>
          <p:nvPr/>
        </p:nvSpPr>
        <p:spPr>
          <a:xfrm>
            <a:off x="6903720" y="4279392"/>
            <a:ext cx="4919472" cy="274320"/>
          </a:xfrm>
          <a:prstGeom prst="roundRect">
            <a:avLst>
              <a:gd name="adj" fmla="val 16667"/>
            </a:avLst>
          </a:prstGeom>
          <a:solidFill>
            <a:srgbClr val="D7002A"/>
          </a:solidFill>
          <a:ln w="12700">
            <a:solidFill>
              <a:srgbClr val="D7002A"/>
            </a:solidFill>
            <a:prstDash val="solid"/>
          </a:ln>
        </p:spPr>
      </p:sp>
      <p:sp>
        <p:nvSpPr>
          <p:cNvPr id="58" name="Text 52"/>
          <p:cNvSpPr txBox="1"/>
          <p:nvPr/>
        </p:nvSpPr>
        <p:spPr>
          <a:xfrm>
            <a:off x="6903720" y="4279392"/>
            <a:ext cx="491947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Business impact vs effort</a:t>
            </a:r>
            <a:endParaRPr lang="en-US" sz="1000" dirty="0"/>
          </a:p>
        </p:txBody>
      </p:sp>
      <p:sp>
        <p:nvSpPr>
          <p:cNvPr id="59" name="Shape 53"/>
          <p:cNvSpPr/>
          <p:nvPr/>
        </p:nvSpPr>
        <p:spPr>
          <a:xfrm>
            <a:off x="7086600" y="4553712"/>
            <a:ext cx="2331720" cy="896112"/>
          </a:xfrm>
          <a:prstGeom prst="rect">
            <a:avLst/>
          </a:prstGeom>
          <a:solidFill>
            <a:srgbClr val="E7F6EE"/>
          </a:solidFill>
          <a:ln w="12700">
            <a:solidFill>
              <a:srgbClr val="E3DCD1"/>
            </a:solidFill>
            <a:prstDash val="solid"/>
          </a:ln>
        </p:spPr>
      </p:sp>
      <p:sp>
        <p:nvSpPr>
          <p:cNvPr id="60" name="Shape 54"/>
          <p:cNvSpPr/>
          <p:nvPr/>
        </p:nvSpPr>
        <p:spPr>
          <a:xfrm>
            <a:off x="9418320" y="4553712"/>
            <a:ext cx="2331720" cy="896112"/>
          </a:xfrm>
          <a:prstGeom prst="rect">
            <a:avLst/>
          </a:prstGeom>
          <a:solidFill>
            <a:srgbClr val="FFF4E0"/>
          </a:solidFill>
          <a:ln w="12700">
            <a:solidFill>
              <a:srgbClr val="E3DCD1"/>
            </a:solidFill>
            <a:prstDash val="solid"/>
          </a:ln>
        </p:spPr>
      </p:sp>
      <p:sp>
        <p:nvSpPr>
          <p:cNvPr id="61" name="Shape 55"/>
          <p:cNvSpPr/>
          <p:nvPr/>
        </p:nvSpPr>
        <p:spPr>
          <a:xfrm>
            <a:off x="7086600" y="5449824"/>
            <a:ext cx="2331720" cy="896112"/>
          </a:xfrm>
          <a:prstGeom prst="rect">
            <a:avLst/>
          </a:prstGeom>
          <a:solidFill>
            <a:srgbClr val="F4F1EC"/>
          </a:solidFill>
          <a:ln w="12700">
            <a:solidFill>
              <a:srgbClr val="E3DCD1"/>
            </a:solidFill>
            <a:prstDash val="solid"/>
          </a:ln>
        </p:spPr>
      </p:sp>
      <p:sp>
        <p:nvSpPr>
          <p:cNvPr id="62" name="Shape 56"/>
          <p:cNvSpPr/>
          <p:nvPr/>
        </p:nvSpPr>
        <p:spPr>
          <a:xfrm>
            <a:off x="9418320" y="5449824"/>
            <a:ext cx="2331720" cy="896112"/>
          </a:xfrm>
          <a:prstGeom prst="rect">
            <a:avLst/>
          </a:prstGeom>
          <a:solidFill>
            <a:srgbClr val="FDECEF"/>
          </a:solidFill>
          <a:ln w="12700">
            <a:solidFill>
              <a:srgbClr val="E3DCD1"/>
            </a:solidFill>
            <a:prstDash val="solid"/>
          </a:ln>
        </p:spPr>
      </p:sp>
      <p:sp>
        <p:nvSpPr>
          <p:cNvPr id="63" name="Shape 57"/>
          <p:cNvSpPr/>
          <p:nvPr/>
        </p:nvSpPr>
        <p:spPr>
          <a:xfrm>
            <a:off x="7178040" y="4617720"/>
            <a:ext cx="2103120" cy="310896"/>
          </a:xfrm>
          <a:prstGeom prst="roundRect">
            <a:avLst>
              <a:gd name="adj" fmla="val 23529"/>
            </a:avLst>
          </a:prstGeom>
          <a:solidFill>
            <a:srgbClr val="FFFFFF"/>
          </a:solidFill>
          <a:ln w="9525">
            <a:solidFill>
              <a:srgbClr val="D7002A"/>
            </a:solidFill>
            <a:prstDash val="solid"/>
          </a:ln>
        </p:spPr>
      </p:sp>
      <p:sp>
        <p:nvSpPr>
          <p:cNvPr id="64" name="Text 58"/>
          <p:cNvSpPr txBox="1"/>
          <p:nvPr/>
        </p:nvSpPr>
        <p:spPr>
          <a:xfrm>
            <a:off x="7178040" y="4617720"/>
            <a:ext cx="2103120" cy="310896"/>
          </a:xfrm>
          <a:prstGeom prst="rect">
            <a:avLst/>
          </a:prstGeom>
          <a:noFill/>
          <a:ln/>
        </p:spPr>
        <p:txBody>
          <a:bodyPr wrap="square" lIns="0" tIns="0" rIns="0" bIns="0" rtlCol="0" anchor="ctr"/>
          <a:lstStyle/>
          <a:p>
            <a:pPr algn="ctr" indent="0" marL="0">
              <a:lnSpc>
                <a:spcPct val="100000"/>
              </a:lnSpc>
              <a:spcAft>
                <a:spcPts val="200"/>
              </a:spcAft>
              <a:buNone/>
            </a:pPr>
            <a:r>
              <a:rPr lang="en-US" sz="800" dirty="0">
                <a:solidFill>
                  <a:srgbClr val="1C1C22"/>
                </a:solidFill>
                <a:latin typeface="Arial" pitchFamily="34" charset="0"/>
                <a:ea typeface="Arial" pitchFamily="34" charset="-122"/>
                <a:cs typeface="Arial" pitchFamily="34" charset="-120"/>
              </a:rPr>
              <a:t>Real-call validation</a:t>
            </a:r>
            <a:endParaRPr lang="en-US" sz="800" dirty="0"/>
          </a:p>
        </p:txBody>
      </p:sp>
      <p:sp>
        <p:nvSpPr>
          <p:cNvPr id="65" name="Shape 59"/>
          <p:cNvSpPr/>
          <p:nvPr/>
        </p:nvSpPr>
        <p:spPr>
          <a:xfrm>
            <a:off x="7178040" y="5029200"/>
            <a:ext cx="2103120" cy="310896"/>
          </a:xfrm>
          <a:prstGeom prst="roundRect">
            <a:avLst>
              <a:gd name="adj" fmla="val 23529"/>
            </a:avLst>
          </a:prstGeom>
          <a:solidFill>
            <a:srgbClr val="FFFFFF"/>
          </a:solidFill>
          <a:ln w="9525">
            <a:solidFill>
              <a:srgbClr val="D7002A"/>
            </a:solidFill>
            <a:prstDash val="solid"/>
          </a:ln>
        </p:spPr>
      </p:sp>
      <p:sp>
        <p:nvSpPr>
          <p:cNvPr id="66" name="Text 60"/>
          <p:cNvSpPr txBox="1"/>
          <p:nvPr/>
        </p:nvSpPr>
        <p:spPr>
          <a:xfrm>
            <a:off x="7178040" y="5029200"/>
            <a:ext cx="2103120" cy="310896"/>
          </a:xfrm>
          <a:prstGeom prst="rect">
            <a:avLst/>
          </a:prstGeom>
          <a:noFill/>
          <a:ln/>
        </p:spPr>
        <p:txBody>
          <a:bodyPr wrap="square" lIns="0" tIns="0" rIns="0" bIns="0" rtlCol="0" anchor="ctr"/>
          <a:lstStyle/>
          <a:p>
            <a:pPr algn="ctr" indent="0" marL="0">
              <a:lnSpc>
                <a:spcPct val="100000"/>
              </a:lnSpc>
              <a:spcAft>
                <a:spcPts val="200"/>
              </a:spcAft>
              <a:buNone/>
            </a:pPr>
            <a:r>
              <a:rPr lang="en-US" sz="800" dirty="0">
                <a:solidFill>
                  <a:srgbClr val="1C1C22"/>
                </a:solidFill>
                <a:latin typeface="Arial" pitchFamily="34" charset="0"/>
                <a:ea typeface="Arial" pitchFamily="34" charset="-122"/>
                <a:cs typeface="Arial" pitchFamily="34" charset="-120"/>
              </a:rPr>
              <a:t>More languages</a:t>
            </a:r>
            <a:endParaRPr lang="en-US" sz="800" dirty="0"/>
          </a:p>
        </p:txBody>
      </p:sp>
      <p:sp>
        <p:nvSpPr>
          <p:cNvPr id="67" name="Shape 61"/>
          <p:cNvSpPr/>
          <p:nvPr/>
        </p:nvSpPr>
        <p:spPr>
          <a:xfrm>
            <a:off x="9509760" y="4617720"/>
            <a:ext cx="2103120" cy="310896"/>
          </a:xfrm>
          <a:prstGeom prst="roundRect">
            <a:avLst>
              <a:gd name="adj" fmla="val 23529"/>
            </a:avLst>
          </a:prstGeom>
          <a:solidFill>
            <a:srgbClr val="FFFFFF"/>
          </a:solidFill>
          <a:ln w="9525">
            <a:solidFill>
              <a:srgbClr val="D7002A"/>
            </a:solidFill>
            <a:prstDash val="solid"/>
          </a:ln>
        </p:spPr>
      </p:sp>
      <p:sp>
        <p:nvSpPr>
          <p:cNvPr id="68" name="Text 62"/>
          <p:cNvSpPr txBox="1"/>
          <p:nvPr/>
        </p:nvSpPr>
        <p:spPr>
          <a:xfrm>
            <a:off x="9509760" y="4617720"/>
            <a:ext cx="2103120" cy="310896"/>
          </a:xfrm>
          <a:prstGeom prst="rect">
            <a:avLst/>
          </a:prstGeom>
          <a:noFill/>
          <a:ln/>
        </p:spPr>
        <p:txBody>
          <a:bodyPr wrap="square" lIns="0" tIns="0" rIns="0" bIns="0" rtlCol="0" anchor="ctr"/>
          <a:lstStyle/>
          <a:p>
            <a:pPr algn="ctr" indent="0" marL="0">
              <a:lnSpc>
                <a:spcPct val="100000"/>
              </a:lnSpc>
              <a:spcAft>
                <a:spcPts val="200"/>
              </a:spcAft>
              <a:buNone/>
            </a:pPr>
            <a:r>
              <a:rPr lang="en-US" sz="800" dirty="0">
                <a:solidFill>
                  <a:srgbClr val="1C1C22"/>
                </a:solidFill>
                <a:latin typeface="Arial" pitchFamily="34" charset="0"/>
                <a:ea typeface="Arial" pitchFamily="34" charset="-122"/>
                <a:cs typeface="Arial" pitchFamily="34" charset="-120"/>
              </a:rPr>
              <a:t>Phone port</a:t>
            </a:r>
            <a:endParaRPr lang="en-US" sz="800" dirty="0"/>
          </a:p>
        </p:txBody>
      </p:sp>
      <p:sp>
        <p:nvSpPr>
          <p:cNvPr id="69" name="Shape 63"/>
          <p:cNvSpPr/>
          <p:nvPr/>
        </p:nvSpPr>
        <p:spPr>
          <a:xfrm>
            <a:off x="9509760" y="5029200"/>
            <a:ext cx="2103120" cy="310896"/>
          </a:xfrm>
          <a:prstGeom prst="roundRect">
            <a:avLst>
              <a:gd name="adj" fmla="val 23529"/>
            </a:avLst>
          </a:prstGeom>
          <a:solidFill>
            <a:srgbClr val="FFFFFF"/>
          </a:solidFill>
          <a:ln w="9525">
            <a:solidFill>
              <a:srgbClr val="D7002A"/>
            </a:solidFill>
            <a:prstDash val="solid"/>
          </a:ln>
        </p:spPr>
      </p:sp>
      <p:sp>
        <p:nvSpPr>
          <p:cNvPr id="70" name="Text 64"/>
          <p:cNvSpPr txBox="1"/>
          <p:nvPr/>
        </p:nvSpPr>
        <p:spPr>
          <a:xfrm>
            <a:off x="9509760" y="5029200"/>
            <a:ext cx="2103120" cy="310896"/>
          </a:xfrm>
          <a:prstGeom prst="rect">
            <a:avLst/>
          </a:prstGeom>
          <a:noFill/>
          <a:ln/>
        </p:spPr>
        <p:txBody>
          <a:bodyPr wrap="square" lIns="0" tIns="0" rIns="0" bIns="0" rtlCol="0" anchor="ctr"/>
          <a:lstStyle/>
          <a:p>
            <a:pPr algn="ctr" indent="0" marL="0">
              <a:lnSpc>
                <a:spcPct val="100000"/>
              </a:lnSpc>
              <a:spcAft>
                <a:spcPts val="200"/>
              </a:spcAft>
              <a:buNone/>
            </a:pPr>
            <a:r>
              <a:rPr lang="en-US" sz="800" dirty="0">
                <a:solidFill>
                  <a:srgbClr val="1C1C22"/>
                </a:solidFill>
                <a:latin typeface="Arial" pitchFamily="34" charset="0"/>
                <a:ea typeface="Arial" pitchFamily="34" charset="-122"/>
                <a:cs typeface="Arial" pitchFamily="34" charset="-120"/>
              </a:rPr>
              <a:t>Voice-clone detector</a:t>
            </a:r>
            <a:endParaRPr lang="en-US" sz="800" dirty="0"/>
          </a:p>
        </p:txBody>
      </p:sp>
      <p:sp>
        <p:nvSpPr>
          <p:cNvPr id="71" name="Shape 65"/>
          <p:cNvSpPr/>
          <p:nvPr/>
        </p:nvSpPr>
        <p:spPr>
          <a:xfrm>
            <a:off x="7178040" y="5577840"/>
            <a:ext cx="2103120" cy="310896"/>
          </a:xfrm>
          <a:prstGeom prst="roundRect">
            <a:avLst>
              <a:gd name="adj" fmla="val 23529"/>
            </a:avLst>
          </a:prstGeom>
          <a:solidFill>
            <a:srgbClr val="FFFFFF"/>
          </a:solidFill>
          <a:ln w="9525">
            <a:solidFill>
              <a:srgbClr val="D7002A"/>
            </a:solidFill>
            <a:prstDash val="solid"/>
          </a:ln>
        </p:spPr>
      </p:sp>
      <p:sp>
        <p:nvSpPr>
          <p:cNvPr id="72" name="Text 66"/>
          <p:cNvSpPr txBox="1"/>
          <p:nvPr/>
        </p:nvSpPr>
        <p:spPr>
          <a:xfrm>
            <a:off x="7178040" y="5577840"/>
            <a:ext cx="2103120" cy="310896"/>
          </a:xfrm>
          <a:prstGeom prst="rect">
            <a:avLst/>
          </a:prstGeom>
          <a:noFill/>
          <a:ln/>
        </p:spPr>
        <p:txBody>
          <a:bodyPr wrap="square" lIns="0" tIns="0" rIns="0" bIns="0" rtlCol="0" anchor="ctr"/>
          <a:lstStyle/>
          <a:p>
            <a:pPr algn="ctr" indent="0" marL="0">
              <a:lnSpc>
                <a:spcPct val="100000"/>
              </a:lnSpc>
              <a:spcAft>
                <a:spcPts val="200"/>
              </a:spcAft>
              <a:buNone/>
            </a:pPr>
            <a:r>
              <a:rPr lang="en-US" sz="800" dirty="0">
                <a:solidFill>
                  <a:srgbClr val="1C1C22"/>
                </a:solidFill>
                <a:latin typeface="Arial" pitchFamily="34" charset="0"/>
                <a:ea typeface="Arial" pitchFamily="34" charset="-122"/>
                <a:cs typeface="Arial" pitchFamily="34" charset="-120"/>
              </a:rPr>
              <a:t>Family guardian</a:t>
            </a:r>
            <a:endParaRPr lang="en-US" sz="800" dirty="0"/>
          </a:p>
        </p:txBody>
      </p:sp>
      <p:sp>
        <p:nvSpPr>
          <p:cNvPr id="73" name="Shape 67"/>
          <p:cNvSpPr/>
          <p:nvPr/>
        </p:nvSpPr>
        <p:spPr>
          <a:xfrm>
            <a:off x="7178040" y="5943600"/>
            <a:ext cx="2103120" cy="310896"/>
          </a:xfrm>
          <a:prstGeom prst="roundRect">
            <a:avLst>
              <a:gd name="adj" fmla="val 23529"/>
            </a:avLst>
          </a:prstGeom>
          <a:solidFill>
            <a:srgbClr val="FFFFFF"/>
          </a:solidFill>
          <a:ln w="9525">
            <a:solidFill>
              <a:srgbClr val="D7002A"/>
            </a:solidFill>
            <a:prstDash val="solid"/>
          </a:ln>
        </p:spPr>
      </p:sp>
      <p:sp>
        <p:nvSpPr>
          <p:cNvPr id="74" name="Text 68"/>
          <p:cNvSpPr txBox="1"/>
          <p:nvPr/>
        </p:nvSpPr>
        <p:spPr>
          <a:xfrm>
            <a:off x="7178040" y="5943600"/>
            <a:ext cx="2103120" cy="310896"/>
          </a:xfrm>
          <a:prstGeom prst="rect">
            <a:avLst/>
          </a:prstGeom>
          <a:noFill/>
          <a:ln/>
        </p:spPr>
        <p:txBody>
          <a:bodyPr wrap="square" lIns="0" tIns="0" rIns="0" bIns="0" rtlCol="0" anchor="ctr"/>
          <a:lstStyle/>
          <a:p>
            <a:pPr algn="ctr" indent="0" marL="0">
              <a:lnSpc>
                <a:spcPct val="100000"/>
              </a:lnSpc>
              <a:spcAft>
                <a:spcPts val="200"/>
              </a:spcAft>
              <a:buNone/>
            </a:pPr>
            <a:r>
              <a:rPr lang="en-US" sz="800" dirty="0">
                <a:solidFill>
                  <a:srgbClr val="1C1C22"/>
                </a:solidFill>
                <a:latin typeface="Arial" pitchFamily="34" charset="0"/>
                <a:ea typeface="Arial" pitchFamily="34" charset="-122"/>
                <a:cs typeface="Arial" pitchFamily="34" charset="-120"/>
              </a:rPr>
              <a:t>MSIX installer</a:t>
            </a:r>
            <a:endParaRPr lang="en-US" sz="800" dirty="0"/>
          </a:p>
        </p:txBody>
      </p:sp>
      <p:sp>
        <p:nvSpPr>
          <p:cNvPr id="75" name="Shape 69"/>
          <p:cNvSpPr/>
          <p:nvPr/>
        </p:nvSpPr>
        <p:spPr>
          <a:xfrm>
            <a:off x="9509760" y="5577840"/>
            <a:ext cx="2103120" cy="310896"/>
          </a:xfrm>
          <a:prstGeom prst="roundRect">
            <a:avLst>
              <a:gd name="adj" fmla="val 23529"/>
            </a:avLst>
          </a:prstGeom>
          <a:solidFill>
            <a:srgbClr val="FFFFFF"/>
          </a:solidFill>
          <a:ln w="9525">
            <a:solidFill>
              <a:srgbClr val="D7002A"/>
            </a:solidFill>
            <a:prstDash val="solid"/>
          </a:ln>
        </p:spPr>
      </p:sp>
      <p:sp>
        <p:nvSpPr>
          <p:cNvPr id="76" name="Text 70"/>
          <p:cNvSpPr txBox="1"/>
          <p:nvPr/>
        </p:nvSpPr>
        <p:spPr>
          <a:xfrm>
            <a:off x="9509760" y="5577840"/>
            <a:ext cx="2103120" cy="310896"/>
          </a:xfrm>
          <a:prstGeom prst="rect">
            <a:avLst/>
          </a:prstGeom>
          <a:noFill/>
          <a:ln/>
        </p:spPr>
        <p:txBody>
          <a:bodyPr wrap="square" lIns="0" tIns="0" rIns="0" bIns="0" rtlCol="0" anchor="ctr"/>
          <a:lstStyle/>
          <a:p>
            <a:pPr algn="ctr" indent="0" marL="0">
              <a:lnSpc>
                <a:spcPct val="100000"/>
              </a:lnSpc>
              <a:spcAft>
                <a:spcPts val="200"/>
              </a:spcAft>
              <a:buNone/>
            </a:pPr>
            <a:r>
              <a:rPr lang="en-US" sz="800" dirty="0">
                <a:solidFill>
                  <a:srgbClr val="1C1C22"/>
                </a:solidFill>
                <a:latin typeface="Arial" pitchFamily="34" charset="0"/>
                <a:ea typeface="Arial" pitchFamily="34" charset="-122"/>
                <a:cs typeface="Arial" pitchFamily="34" charset="-120"/>
              </a:rPr>
              <a:t>OEM preload pilot</a:t>
            </a:r>
            <a:endParaRPr lang="en-US" sz="800" dirty="0"/>
          </a:p>
        </p:txBody>
      </p:sp>
      <p:sp>
        <p:nvSpPr>
          <p:cNvPr id="77" name="Text 71"/>
          <p:cNvSpPr txBox="1"/>
          <p:nvPr/>
        </p:nvSpPr>
        <p:spPr>
          <a:xfrm>
            <a:off x="7086600" y="6336792"/>
            <a:ext cx="4663440" cy="182880"/>
          </a:xfrm>
          <a:prstGeom prst="rect">
            <a:avLst/>
          </a:prstGeom>
          <a:noFill/>
          <a:ln/>
        </p:spPr>
        <p:txBody>
          <a:bodyPr wrap="square" lIns="508" tIns="508" rIns="508" bIns="508" rtlCol="0" anchor="t"/>
          <a:lstStyle/>
          <a:p>
            <a:pPr algn="ctr" indent="0" marL="0">
              <a:lnSpc>
                <a:spcPct val="100000"/>
              </a:lnSpc>
              <a:spcAft>
                <a:spcPts val="200"/>
              </a:spcAft>
              <a:buNone/>
            </a:pPr>
            <a:r>
              <a:rPr lang="en-US" sz="700" dirty="0">
                <a:solidFill>
                  <a:srgbClr val="5E5E66"/>
                </a:solidFill>
                <a:latin typeface="Arial" pitchFamily="34" charset="0"/>
                <a:ea typeface="Arial" pitchFamily="34" charset="-122"/>
                <a:cs typeface="Arial" pitchFamily="34" charset="-120"/>
              </a:rPr>
              <a:t>Top row: higher impact  |  Bottom row: lower impact  |  Left: low effort  |  Right: high effort</a:t>
            </a:r>
            <a:endParaRPr lang="en-US" sz="700" dirty="0"/>
          </a:p>
        </p:txBody>
      </p:sp>
      <p:sp>
        <p:nvSpPr>
          <p:cNvPr id="78" name="Text 72"/>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217"/>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21217"/>
          </a:solidFill>
          <a:ln w="12700">
            <a:solidFill>
              <a:srgbClr val="121217"/>
            </a:solidFill>
            <a:prstDash val="solid"/>
          </a:ln>
        </p:spPr>
      </p:sp>
      <p:sp>
        <p:nvSpPr>
          <p:cNvPr id="3" name="Shape 1"/>
          <p:cNvSpPr/>
          <p:nvPr/>
        </p:nvSpPr>
        <p:spPr>
          <a:xfrm>
            <a:off x="548640" y="548640"/>
            <a:ext cx="548640" cy="548640"/>
          </a:xfrm>
          <a:prstGeom prst="roundRect">
            <a:avLst>
              <a:gd name="adj" fmla="val 16667"/>
            </a:avLst>
          </a:prstGeom>
          <a:solidFill>
            <a:srgbClr val="D7002A"/>
          </a:solidFill>
          <a:ln w="12700">
            <a:solidFill>
              <a:srgbClr val="D7002A"/>
            </a:solidFill>
            <a:prstDash val="solid"/>
          </a:ln>
        </p:spPr>
      </p:sp>
      <p:sp>
        <p:nvSpPr>
          <p:cNvPr id="4" name="Text 2"/>
          <p:cNvSpPr txBox="1"/>
          <p:nvPr/>
        </p:nvSpPr>
        <p:spPr>
          <a:xfrm>
            <a:off x="548640" y="548640"/>
            <a:ext cx="548640"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S</a:t>
            </a:r>
            <a:endParaRPr lang="en-US" sz="2600" dirty="0"/>
          </a:p>
        </p:txBody>
      </p:sp>
      <p:sp>
        <p:nvSpPr>
          <p:cNvPr id="5" name="Text 3"/>
          <p:cNvSpPr txBox="1"/>
          <p:nvPr/>
        </p:nvSpPr>
        <p:spPr>
          <a:xfrm>
            <a:off x="548640" y="1554480"/>
            <a:ext cx="10972800" cy="128016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THANK YOU</a:t>
            </a:r>
            <a:endParaRPr lang="en-US" sz="6600" dirty="0"/>
          </a:p>
        </p:txBody>
      </p:sp>
      <p:sp>
        <p:nvSpPr>
          <p:cNvPr id="6" name="Text 4"/>
          <p:cNvSpPr txBox="1"/>
          <p:nvPr/>
        </p:nvSpPr>
        <p:spPr>
          <a:xfrm>
            <a:off x="548640" y="2788920"/>
            <a:ext cx="10972800" cy="731520"/>
          </a:xfrm>
          <a:prstGeom prst="rect">
            <a:avLst/>
          </a:prstGeom>
          <a:noFill/>
          <a:ln/>
        </p:spPr>
        <p:txBody>
          <a:bodyPr wrap="square" lIns="0" tIns="0" rIns="0" bIns="0" rtlCol="0" anchor="ctr"/>
          <a:lstStyle/>
          <a:p>
            <a:pPr indent="0" marL="0">
              <a:buNone/>
            </a:pPr>
            <a:r>
              <a:rPr lang="en-US" sz="3200" b="1" dirty="0">
                <a:solidFill>
                  <a:srgbClr val="D7002A"/>
                </a:solidFill>
                <a:latin typeface="Arial" pitchFamily="34" charset="0"/>
                <a:ea typeface="Arial" pitchFamily="34" charset="-122"/>
                <a:cs typeface="Arial" pitchFamily="34" charset="-120"/>
              </a:rPr>
              <a:t>धन्यवाद</a:t>
            </a:r>
            <a:endParaRPr lang="en-US" sz="3200" dirty="0"/>
          </a:p>
        </p:txBody>
      </p:sp>
      <p:sp>
        <p:nvSpPr>
          <p:cNvPr id="7" name="Text 5"/>
          <p:cNvSpPr txBox="1"/>
          <p:nvPr/>
        </p:nvSpPr>
        <p:spPr>
          <a:xfrm>
            <a:off x="548640" y="3611880"/>
            <a:ext cx="10515600" cy="822960"/>
          </a:xfrm>
          <a:prstGeom prst="rect">
            <a:avLst/>
          </a:prstGeom>
          <a:noFill/>
          <a:ln/>
        </p:spPr>
        <p:txBody>
          <a:bodyPr wrap="square" lIns="0" tIns="0" rIns="0" bIns="0" rtlCol="0" anchor="ctr"/>
          <a:lstStyle/>
          <a:p>
            <a:pPr indent="0" marL="0">
              <a:buNone/>
            </a:pPr>
            <a:r>
              <a:rPr lang="en-US" sz="1600" dirty="0">
                <a:solidFill>
                  <a:srgbClr val="D9D9E0"/>
                </a:solidFill>
                <a:latin typeface="Arial" pitchFamily="34" charset="0"/>
                <a:ea typeface="Arial" pitchFamily="34" charset="-122"/>
                <a:cs typeface="Arial" pitchFamily="34" charset="-120"/>
              </a:rPr>
              <a:t>Sajag AI turns every Snapdragon AI PC into a private, always-alert guardian against the scams costing Indians thousands of crores a year.</a:t>
            </a:r>
            <a:endParaRPr lang="en-US" sz="1600" dirty="0"/>
          </a:p>
        </p:txBody>
      </p:sp>
      <p:sp>
        <p:nvSpPr>
          <p:cNvPr id="8" name="Shape 6"/>
          <p:cNvSpPr/>
          <p:nvPr/>
        </p:nvSpPr>
        <p:spPr>
          <a:xfrm>
            <a:off x="548640" y="4846320"/>
            <a:ext cx="2697480" cy="1005840"/>
          </a:xfrm>
          <a:prstGeom prst="roundRect">
            <a:avLst>
              <a:gd name="adj" fmla="val 9091"/>
            </a:avLst>
          </a:prstGeom>
          <a:solidFill>
            <a:srgbClr val="1E1E26"/>
          </a:solidFill>
          <a:ln w="12700">
            <a:solidFill>
              <a:srgbClr val="34343F"/>
            </a:solidFill>
            <a:prstDash val="solid"/>
          </a:ln>
        </p:spPr>
      </p:sp>
      <p:sp>
        <p:nvSpPr>
          <p:cNvPr id="9" name="Text 7"/>
          <p:cNvSpPr txBox="1"/>
          <p:nvPr/>
        </p:nvSpPr>
        <p:spPr>
          <a:xfrm>
            <a:off x="685800" y="4892040"/>
            <a:ext cx="2468880" cy="914400"/>
          </a:xfrm>
          <a:prstGeom prst="rect">
            <a:avLst/>
          </a:prstGeom>
          <a:noFill/>
          <a:ln/>
        </p:spPr>
        <p:txBody>
          <a:bodyPr wrap="square" lIns="508" tIns="508" rIns="508" bIns="508" rtlCol="0" anchor="ctr"/>
          <a:lstStyle/>
          <a:p>
            <a:pPr algn="l" indent="0" marL="0">
              <a:lnSpc>
                <a:spcPct val="100000"/>
              </a:lnSpc>
              <a:spcAft>
                <a:spcPts val="200"/>
              </a:spcAft>
              <a:buNone/>
            </a:pPr>
            <a:r>
              <a:rPr lang="en-US" sz="1050" b="1" dirty="0">
                <a:solidFill>
                  <a:srgbClr val="FFFFFF"/>
                </a:solidFill>
                <a:latin typeface="Arial" pitchFamily="34" charset="0"/>
                <a:ea typeface="Arial" pitchFamily="34" charset="-122"/>
                <a:cs typeface="Arial" pitchFamily="34" charset="-120"/>
              </a:rPr>
              <a:t>Code</a:t>
            </a:r>
            <a:endParaRPr lang="en-US" sz="1050" dirty="0"/>
          </a:p>
          <a:p>
            <a:pPr algn="l" indent="0" marL="0">
              <a:lnSpc>
                <a:spcPct val="100000"/>
              </a:lnSpc>
              <a:spcAft>
                <a:spcPts val="200"/>
              </a:spcAft>
              <a:buNone/>
            </a:pPr>
            <a:r>
              <a:rPr lang="en-US" sz="1050" dirty="0">
                <a:solidFill>
                  <a:srgbClr val="C9C9D1"/>
                </a:solidFill>
                <a:latin typeface="Arial" pitchFamily="34" charset="0"/>
                <a:ea typeface="Arial" pitchFamily="34" charset="-122"/>
                <a:cs typeface="Arial" pitchFamily="34" charset="-120"/>
              </a:rPr>
              <a:t>github.com/tanmaysahare/sajag-ai</a:t>
            </a:r>
            <a:endParaRPr lang="en-US" sz="1050" dirty="0"/>
          </a:p>
        </p:txBody>
      </p:sp>
      <p:sp>
        <p:nvSpPr>
          <p:cNvPr id="10" name="Shape 8"/>
          <p:cNvSpPr/>
          <p:nvPr/>
        </p:nvSpPr>
        <p:spPr>
          <a:xfrm>
            <a:off x="3383280" y="4846320"/>
            <a:ext cx="2697480" cy="1005840"/>
          </a:xfrm>
          <a:prstGeom prst="roundRect">
            <a:avLst>
              <a:gd name="adj" fmla="val 9091"/>
            </a:avLst>
          </a:prstGeom>
          <a:solidFill>
            <a:srgbClr val="1E1E26"/>
          </a:solidFill>
          <a:ln w="12700">
            <a:solidFill>
              <a:srgbClr val="34343F"/>
            </a:solidFill>
            <a:prstDash val="solid"/>
          </a:ln>
        </p:spPr>
      </p:sp>
      <p:sp>
        <p:nvSpPr>
          <p:cNvPr id="11" name="Text 9"/>
          <p:cNvSpPr txBox="1"/>
          <p:nvPr/>
        </p:nvSpPr>
        <p:spPr>
          <a:xfrm>
            <a:off x="3520440" y="4892040"/>
            <a:ext cx="2468880" cy="914400"/>
          </a:xfrm>
          <a:prstGeom prst="rect">
            <a:avLst/>
          </a:prstGeom>
          <a:noFill/>
          <a:ln/>
        </p:spPr>
        <p:txBody>
          <a:bodyPr wrap="square" lIns="508" tIns="508" rIns="508" bIns="508" rtlCol="0" anchor="ctr"/>
          <a:lstStyle/>
          <a:p>
            <a:pPr algn="l" indent="0" marL="0">
              <a:lnSpc>
                <a:spcPct val="100000"/>
              </a:lnSpc>
              <a:spcAft>
                <a:spcPts val="200"/>
              </a:spcAft>
              <a:buNone/>
            </a:pPr>
            <a:r>
              <a:rPr lang="en-US" sz="1050" b="1" dirty="0">
                <a:solidFill>
                  <a:srgbClr val="FFFFFF"/>
                </a:solidFill>
                <a:latin typeface="Arial" pitchFamily="34" charset="0"/>
                <a:ea typeface="Arial" pitchFamily="34" charset="-122"/>
                <a:cs typeface="Arial" pitchFamily="34" charset="-120"/>
              </a:rPr>
              <a:t>Try it</a:t>
            </a:r>
            <a:endParaRPr lang="en-US" sz="1050" dirty="0"/>
          </a:p>
          <a:p>
            <a:pPr algn="l" indent="0" marL="0">
              <a:lnSpc>
                <a:spcPct val="100000"/>
              </a:lnSpc>
              <a:spcAft>
                <a:spcPts val="200"/>
              </a:spcAft>
              <a:buNone/>
            </a:pPr>
            <a:r>
              <a:rPr lang="en-US" sz="1050" dirty="0">
                <a:solidFill>
                  <a:srgbClr val="C9C9D1"/>
                </a:solidFill>
                <a:latin typeface="Arial" pitchFamily="34" charset="0"/>
                <a:ea typeface="Arial" pitchFamily="34" charset="-122"/>
                <a:cs typeface="Arial" pitchFamily="34" charset="-120"/>
              </a:rPr>
              <a:t>python -m sajag demo</a:t>
            </a:r>
            <a:endParaRPr lang="en-US" sz="1050" dirty="0"/>
          </a:p>
        </p:txBody>
      </p:sp>
      <p:sp>
        <p:nvSpPr>
          <p:cNvPr id="12" name="Shape 10"/>
          <p:cNvSpPr/>
          <p:nvPr/>
        </p:nvSpPr>
        <p:spPr>
          <a:xfrm>
            <a:off x="6217920" y="4846320"/>
            <a:ext cx="2697480" cy="1005840"/>
          </a:xfrm>
          <a:prstGeom prst="roundRect">
            <a:avLst>
              <a:gd name="adj" fmla="val 9091"/>
            </a:avLst>
          </a:prstGeom>
          <a:solidFill>
            <a:srgbClr val="1E1E26"/>
          </a:solidFill>
          <a:ln w="12700">
            <a:solidFill>
              <a:srgbClr val="34343F"/>
            </a:solidFill>
            <a:prstDash val="solid"/>
          </a:ln>
        </p:spPr>
      </p:sp>
      <p:sp>
        <p:nvSpPr>
          <p:cNvPr id="13" name="Text 11"/>
          <p:cNvSpPr txBox="1"/>
          <p:nvPr/>
        </p:nvSpPr>
        <p:spPr>
          <a:xfrm>
            <a:off x="6355080" y="4892040"/>
            <a:ext cx="2468880" cy="914400"/>
          </a:xfrm>
          <a:prstGeom prst="rect">
            <a:avLst/>
          </a:prstGeom>
          <a:noFill/>
          <a:ln/>
        </p:spPr>
        <p:txBody>
          <a:bodyPr wrap="square" lIns="508" tIns="508" rIns="508" bIns="508" rtlCol="0" anchor="ctr"/>
          <a:lstStyle/>
          <a:p>
            <a:pPr algn="l" indent="0" marL="0">
              <a:lnSpc>
                <a:spcPct val="100000"/>
              </a:lnSpc>
              <a:spcAft>
                <a:spcPts val="200"/>
              </a:spcAft>
              <a:buNone/>
            </a:pPr>
            <a:r>
              <a:rPr lang="en-US" sz="1050" b="1" dirty="0">
                <a:solidFill>
                  <a:srgbClr val="FFFFFF"/>
                </a:solidFill>
                <a:latin typeface="Arial" pitchFamily="34" charset="0"/>
                <a:ea typeface="Arial" pitchFamily="34" charset="-122"/>
                <a:cs typeface="Arial" pitchFamily="34" charset="-120"/>
              </a:rPr>
              <a:t>Author</a:t>
            </a:r>
            <a:endParaRPr lang="en-US" sz="1050" dirty="0"/>
          </a:p>
          <a:p>
            <a:pPr algn="l" indent="0" marL="0">
              <a:lnSpc>
                <a:spcPct val="100000"/>
              </a:lnSpc>
              <a:spcAft>
                <a:spcPts val="200"/>
              </a:spcAft>
              <a:buNone/>
            </a:pPr>
            <a:r>
              <a:rPr lang="en-US" sz="1050" dirty="0">
                <a:solidFill>
                  <a:srgbClr val="C9C9D1"/>
                </a:solidFill>
                <a:latin typeface="Arial" pitchFamily="34" charset="0"/>
                <a:ea typeface="Arial" pitchFamily="34" charset="-122"/>
                <a:cs typeface="Arial" pitchFamily="34" charset="-120"/>
              </a:rPr>
              <a:t>Tanmay Sahare, IIT Kanpur</a:t>
            </a:r>
            <a:endParaRPr lang="en-US" sz="1050" dirty="0"/>
          </a:p>
        </p:txBody>
      </p:sp>
      <p:sp>
        <p:nvSpPr>
          <p:cNvPr id="14" name="Shape 12"/>
          <p:cNvSpPr/>
          <p:nvPr/>
        </p:nvSpPr>
        <p:spPr>
          <a:xfrm>
            <a:off x="9052560" y="4846320"/>
            <a:ext cx="2697480" cy="1005840"/>
          </a:xfrm>
          <a:prstGeom prst="roundRect">
            <a:avLst>
              <a:gd name="adj" fmla="val 9091"/>
            </a:avLst>
          </a:prstGeom>
          <a:solidFill>
            <a:srgbClr val="1E1E26"/>
          </a:solidFill>
          <a:ln w="12700">
            <a:solidFill>
              <a:srgbClr val="D7002A"/>
            </a:solidFill>
            <a:prstDash val="solid"/>
          </a:ln>
        </p:spPr>
      </p:sp>
      <p:sp>
        <p:nvSpPr>
          <p:cNvPr id="15" name="Text 13"/>
          <p:cNvSpPr txBox="1"/>
          <p:nvPr/>
        </p:nvSpPr>
        <p:spPr>
          <a:xfrm>
            <a:off x="9189720" y="4892040"/>
            <a:ext cx="2468880" cy="914400"/>
          </a:xfrm>
          <a:prstGeom prst="rect">
            <a:avLst/>
          </a:prstGeom>
          <a:noFill/>
          <a:ln/>
        </p:spPr>
        <p:txBody>
          <a:bodyPr wrap="square" lIns="508" tIns="508" rIns="508" bIns="508" rtlCol="0" anchor="ctr"/>
          <a:lstStyle/>
          <a:p>
            <a:pPr algn="l" indent="0" marL="0">
              <a:lnSpc>
                <a:spcPct val="100000"/>
              </a:lnSpc>
              <a:spcAft>
                <a:spcPts val="200"/>
              </a:spcAft>
              <a:buNone/>
            </a:pPr>
            <a:r>
              <a:rPr lang="en-US" sz="1050" b="1" dirty="0">
                <a:solidFill>
                  <a:srgbClr val="D7002A"/>
                </a:solidFill>
                <a:latin typeface="Arial" pitchFamily="34" charset="0"/>
                <a:ea typeface="Arial" pitchFamily="34" charset="-122"/>
                <a:cs typeface="Arial" pitchFamily="34" charset="-120"/>
              </a:rPr>
              <a:t>If you are being scammed</a:t>
            </a:r>
            <a:endParaRPr lang="en-US" sz="1050" dirty="0"/>
          </a:p>
          <a:p>
            <a:pPr algn="l" indent="0" marL="0">
              <a:lnSpc>
                <a:spcPct val="100000"/>
              </a:lnSpc>
              <a:spcAft>
                <a:spcPts val="200"/>
              </a:spcAft>
              <a:buNone/>
            </a:pPr>
            <a:r>
              <a:rPr lang="en-US" sz="1050" dirty="0">
                <a:solidFill>
                  <a:srgbClr val="C9C9D1"/>
                </a:solidFill>
                <a:latin typeface="Arial" pitchFamily="34" charset="0"/>
                <a:ea typeface="Arial" pitchFamily="34" charset="-122"/>
                <a:cs typeface="Arial" pitchFamily="34" charset="-120"/>
              </a:rPr>
              <a:t>Call 1930  |  cybercrime.gov.in</a:t>
            </a:r>
            <a:endParaRPr lang="en-US" sz="1050" dirty="0"/>
          </a:p>
        </p:txBody>
      </p:sp>
      <p:pic>
        <p:nvPicPr>
          <p:cNvPr id="16" name="Image 0" descr="preencoded.png">    </p:cNvPr>
          <p:cNvPicPr>
            <a:picLocks noChangeAspect="1"/>
          </p:cNvPicPr>
          <p:nvPr/>
        </p:nvPicPr>
        <p:blipFill>
          <a:blip r:embed="rId1"/>
          <a:stretch>
            <a:fillRect/>
          </a:stretch>
        </p:blipFill>
        <p:spPr>
          <a:xfrm>
            <a:off x="10607040" y="566928"/>
            <a:ext cx="502920" cy="502920"/>
          </a:xfrm>
          <a:prstGeom prst="rect">
            <a:avLst/>
          </a:prstGeom>
        </p:spPr>
      </p:pic>
      <p:pic>
        <p:nvPicPr>
          <p:cNvPr id="17" name="Image 1" descr="preencoded.png">    </p:cNvPr>
          <p:cNvPicPr>
            <a:picLocks noChangeAspect="1"/>
          </p:cNvPicPr>
          <p:nvPr/>
        </p:nvPicPr>
        <p:blipFill>
          <a:blip r:embed="rId2"/>
          <a:stretch>
            <a:fillRect/>
          </a:stretch>
        </p:blipFill>
        <p:spPr>
          <a:xfrm>
            <a:off x="11247120" y="566928"/>
            <a:ext cx="502920" cy="5029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Appendix A: References (1-52 of 156)</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Full annotated list in the project description and docs/REFERENCES.md</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Text 30"/>
          <p:cNvSpPr txBox="1"/>
          <p:nvPr/>
        </p:nvSpPr>
        <p:spPr>
          <a:xfrm>
            <a:off x="274320"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[1] Snapdragon AI Lab Build &amp; Present Challenge 2026, Unstop listing. https://unstop.com/competitions/crp-snapdragon-ai-lab-build-present-challenge-qualcomm-1748893</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 Snapdragon AI Lab, Qualcomm. https://www.qualcomm.com/snapdragon/ai-lab</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 Snapdragon AI Lab Build &amp; Present Challenge 2026, aicompetition.dev summary. https://www.aicompetition.dev/en/competitions/snapdragon-ai-lab-build-present-2026</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 Snapdragon X Elite product page, Qualcomm. https://www.qualcomm.com/laptops/products/snapdragon-x-elite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 On-device AI laptops powered by Snapdragon, Qualcomm. https://www.qualcomm.com/snapdragon/laptops-and-tablets/consumer/ai</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 Snapdragon X Elite vs X Plus, HP Tech Takes. https://www.hp.com/us-en/tech-takes/components/comparison/snapdragon-x-elite-vs-x-plus-difference.html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 Snapdragon X Elite powers HP OmniBook X, HP Tech Takes. https://www.hp.com/gb-en/tech-takes/laptops/review/snapdragon-x-elite-omnibook-x-review.html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 HP OmniBook Ultra 14 (Snapdragon X2) review, Tom's Hardware. https://www.tomshardware.com/laptops/hp-omnibook-ultra-14-snapdragon-x2-elite-2026-review</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 HP OmniBook Ultra 14 gets Snapdragon X2 options (85 TOPS variant), Tom's Hardware. https://www.tomshardware.com/laptops/hps-new-omnibook-ultra-14-gets-panther-lake-and-snapdragon-x2-options-inside-exclusive-variant-of-qualcomm-chip-has-85-tops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 HP OmniBook Ultra 14 (Snapdragon X2) review, Thurrott. https://www.thurrott.com/mobile/copilot-pc/340107/hp-omnibook-ultra-14-snapdragon-x2-review</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 All Snapdragon X2 Elite laptops announced at CES, XDA. https://www.xda-developers.com/snapdragon-x2-elite-laptops-ces/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 Snapdragon X2 Elite laptops 2026, The Gadgeteer. https://the-gadgeteer.com/2026/05/13/snapdragon-x2-elite-laptops-2026/</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 GenieX on Hexagon NPU for local agentic tasks on Snapdragon X/X2 Elite, Qualcomm Developer Blog. https://www.qualcomm.com/developer/blog/2026/09/clairvoyance-geniex-hexagon-snapdragon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 Smart routing with Snapdragon X Series NPUs, Qualcomm Developer Blog. https://www.qualcomm.com/developer/blog/2025/08/smart-routing-snapdragon-x-series-npu-developer-perspective-teknikos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 Qualcomm AI Hub will bring Stable Diffusion, Whisper and more, XDA. https://www.xda-developers.com/qualcomm-ai-hub-snapdragon-announced/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[16] Qualcomm launches AI Hub with optimized on-device models, Hackster. https://www.hackster.io/news/qualcomm-launches-its-ai-hub-offering-optimized-on-device-ai-models-with-four-times-the-performance-3dddfcb8a84f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[17] Copilot+ PCs developer guide, Microsoft Learn. https://learn.microsoft.com/en-us/windows/ai/npu-devices/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[18] Everything about Copilot+ PCs with Snapdragon X, ElevenForum. https://www.elevenforum.com/t/everything-you-need-to-know-about-copilot-pcs-by-snapdragon-x-series-processors.25813/</a:t>
            </a:r>
            <a:endParaRPr lang="en-US" sz="680" dirty="0"/>
          </a:p>
        </p:txBody>
      </p:sp>
      <p:sp>
        <p:nvSpPr>
          <p:cNvPr id="35" name="Text 31"/>
          <p:cNvSpPr txBox="1"/>
          <p:nvPr/>
        </p:nvSpPr>
        <p:spPr>
          <a:xfrm>
            <a:off x="4187952"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[19] Snapdragon X Copilot+ PC app compatibility scorecard, Thurrott. https://www.thurrott.com/mobile/copilot-pc/304599/snapdragon-x-copilot-pc-my-windows-11-on-arm-app-compatibility-scorecard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[20] Arm64 Copilot+ PC or x86, Windows Central. https://www.windowscentral.com/hardware/laptops/arm64-copilot-plus-pc-or-intel-amd-nvidia</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[21] Running small language models on the NPU with Copilot+ PCs. https://pkbullock.com/blog/2025/running-slm-models-using-npu-with-copilot-pc</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[22] Qualcomm AI Hub Models repository, GitHub. https://github.com/qualcomm/ai-hub-models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[23] qai-hub-models, PyPI. https://pypi.org/project/qai-hub-models/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[24] Qualcomm AI Hub documentation overview. https://app.aihub.qualcomm.com/docs/hub/</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[25] Qualcomm AI Hub: compiling models. https://workbench.aihub.qualcomm.com/docs/hub/compile_examples.html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[26] Qualcomm AI Hub: working with frameworks. https://app.aihub.qualcomm.com/docs/hub/frameworks.html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[27] Qualcomm AI Hub: API documentation. https://workbench.aihub.qualcomm.com/docs/hub/api.html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[28] Qualcomm AI Hub: FAQ. https://app.aihub.qualcomm.com/docs/hub/faq.html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[29] Qualcomm AI Hub: release notes. https://app.aihub.qualcomm.com/docs/hub/release_notes.html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[30] Whisper-Small model card, Qualcomm AI Hub. https://aihub.qualcomm.com/models/whisper_small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[31] Whisper-Large-v3-Turbo model card, Qualcomm AI Hub. https://aihub.qualcomm.com/models/whisper_large_v3_turbo</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[32] Silero-VAD model card, Qualcomm AI Hub. https://aihub.qualcomm.com/models/silero_vad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[33] EasyOCR model card, Qualcomm AI Hub. https://aihub.qualcomm.com/models/easyocr</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[34] Llama-v3.2-3B-Instruct model card, Qualcomm AI Hub. https://aihub.qualcomm.com/compute/models/llama_v3_2_3b_instruct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[35] Nomic-Embed-Text model card, Qualcomm AI Hub. https://aihub.qualcomm.com/models/nomic_embed_text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[36] WavLM-Base-Plus model card, Qualcomm AI Hub. https://aihub.qualcomm.com/models/huggingface_wavlm_base_plus</a:t>
            </a:r>
            <a:endParaRPr lang="en-US" sz="680" dirty="0"/>
          </a:p>
        </p:txBody>
      </p:sp>
      <p:sp>
        <p:nvSpPr>
          <p:cNvPr id="36" name="Text 32"/>
          <p:cNvSpPr txBox="1"/>
          <p:nvPr/>
        </p:nvSpPr>
        <p:spPr>
          <a:xfrm>
            <a:off x="8101584"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[37] Qwen3-4B-Instruct-2507 model card, Qualcomm AI Hub. https://aihub.qualcomm.com/models/qwen3_4b_instruct_2507</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[38] Prepare ONNX models, Qualcomm AI Developer Workflow. https://docs.qualcomm.com/doc/80-80022-15B/topic/onnx-prepare-model.html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[39] Running precompiled QNN ONNX / context binaries in ONNX Runtime, Qualcomm support forum. https://mysupport.qualcomm.com/supportforums/s/question/0D5dK00000Bvt1WSAR/how-can-i-run-inference-in-onnx-runtime-qnn-using-a-precompiledqnnonnx-model-or-a-qnncontextbinary-generated-by-the-qaihub-api</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[40] QNN Execution Provider, ONNX Runtime documentation. https://onnxruntime.ai/docs/execution-providers/QNN-ExecutionProvider.html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[41] onnxruntime-qnn repository, GitHub. https://github.com/onnxruntime/onnxruntime-qnn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[42] QNN Execution Provider docs (onnxruntime-qnn). https://github.com/onnxruntime/onnxruntime-qnn/blob/main/docs/execution_providers/QNN-ExecutionProvider.md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[43] ONNX Runtime QNN EP issue on Snapdragon X Elite, GitHub #22617. https://github.com/microsoft/onnxruntime/issues/22617</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[44] QNN Execution Provider guide, Radxa. https://docs.radxa.com/en/fogwise/airbox-q900/ai-dev/qnn_onnxrt_execution_provider</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[45] YOLO export to Qualcomm QNN (Snapdragon), Ultralytics. https://docs.ultralytics.com/integrations/qnn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[46] Running YOLOv8 on Snapdragon X Elite NPU at 65 FPS, Medium. https://medium.com/@carrycooldude/unleashing-the-beast-running-yolov8-on-snapdragon-x-elite-npu-at-65-fps-296084253c2c</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[47] LLM on Genie tutorial, Qualcomm AI Hub Apps. https://github.com/qualcomm/ai-hub-apps/tree/main/tutorials/llm_on_genie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[48] How to use Genie, Qualcomm AI Runtime (QAIRT) SDK. https://docs.qualcomm.com/doc/80-63442-10/topic/how_to_use_genie.html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[49] Qualcomm Genie on Windows on Snapdragon. https://docs.qualcomm.com/doc/80-62010-1/topic/genie.html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[50] GenieX: run LLMs and VLMs locally on Snapdragon, GitHub. https://github.com/qualcomm/geniex</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[51] Offline note taker on Snapdragon X Elite with Whisper and Qwen, Medium. https://shivaylamba.medium.com/offline-note-taker-building-private-meeting-notes-on-snapdragon-x-elite-with-whisper-qwen-and-be1090adefff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[52] Whispp and Qualcomm voice reconstruction AI on Snapdragon X Elite. https://whispp.com/whitepapers/whispp-qualcomm-voice-reconstruction-ai-snapdragon-x-elite/</a:t>
            </a:r>
            <a:endParaRPr lang="en-US" sz="680" dirty="0"/>
          </a:p>
        </p:txBody>
      </p:sp>
      <p:sp>
        <p:nvSpPr>
          <p:cNvPr id="37" name="Text 33"/>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Appendix B: References (53-104 of 156)</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Full annotated list in the project description and docs/REFERENCES.md</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Text 30"/>
          <p:cNvSpPr txBox="1"/>
          <p:nvPr/>
        </p:nvSpPr>
        <p:spPr>
          <a:xfrm>
            <a:off x="274320"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[53] Whisper-large-v3-turbo QNN build for Snapdragon X Elite, Hugging Face. https://huggingface.co/FluidInference/whisper-large-v3-turbo-qnn/blob/main/snapdragon-x-elite/README.md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[54] Radford et al., Robust Speech Recognition via Large-Scale Weak Supervision (Whisper), arXiv 2212.04356. https://arxiv.org/abs/2212.04356</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[55] Whisper paper PDF, OpenAI. https://cdn.openai.com/papers/whisper.pdf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[56] OpenAI Whisper model card, Hugging Face. https://huggingface.co/openai/whisper-large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[57] whisper.cpp, GitHub. https://github.com/ggml-org/whisper.cpp</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[58] WhisperLive, Collabora, GitHub. https://github.com/collabora/WhisperLive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[59] Silero VAD, GitHub. https://github.com/snakers4/silero-vad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[60] Silero VAD wiki. https://github.com/snakers4/silero-vad/wiki/</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[61] Silero models, GitHub. https://github.com/snakers4/silero-models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[62] Du et al., PP-OCR: A Practical Ultra Lightweight OCR System, arXiv 2009.09941. https://arxiv.org/abs/2009.09941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[63] Li et al., PP-OCRv3: More Attempts for the Improvement of Ultra Lightweight OCR, arXiv 2206.03001. https://arxiv.org/abs/2206.03001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[64] PaddleOCR 3.0 Technical Report. https://www.alphaxiv.org/abs/2507.05595</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[65] InsightFace ArcFace on Qualcomm NPU example, GitHub. https://github.com/Soorya2201/qualcomm-insightface-npu</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[66] Llama-3.2-3B Genie-compatible QNN binaries, Hugging Face. https://huggingface.co/Volko76/Llama-3.2-3B-Genie-Compatible-QNN-Binaries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[67] 'It Warned Me Just at the Right Moment': LLM-based real-time detection of phone scams, arXiv 2502.03964. https://arxiv.org/abs/2502.03964</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[68] Combating Phone Scams with LLM-based Detection: Where Do We Stand?, arXiv 2409.11643. https://arxiv.org/abs/2409.11643</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[69] AI-in-the-Loop: Privacy Preserving Real-Time Scam Detection and Conversational Scambaiting, arXiv 2509.05362. https://arxiv.org/abs/2509.05362</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[70] Before the Warning Comes Too Late: Incremental Phone-Scam Detection, arXiv 2609.20223. https://arxiv.org/html/2609.20223</a:t>
            </a:r>
            <a:endParaRPr lang="en-US" sz="680" dirty="0"/>
          </a:p>
        </p:txBody>
      </p:sp>
      <p:sp>
        <p:nvSpPr>
          <p:cNvPr id="35" name="Text 31"/>
          <p:cNvSpPr txBox="1"/>
          <p:nvPr/>
        </p:nvSpPr>
        <p:spPr>
          <a:xfrm>
            <a:off x="4187952"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[71] ScamAgents: How AI Agents Can Simulate Human-Level Scam Calls, arXiv 2508.06457. https://arxiv.org/html/2508.06457</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[72] Advanced Real-Time Fraud Detection Using RAG-Based LLMs, arXiv 2501.15290. https://arxiv.org/html/2501.15290v1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[73] MHA Lok Sabha reply on cyber fraud (Dec 2025). https://www.mha.gov.in/MHA1/Par2017/pdfs/par2025-pdfs/LS02122025/432.pdf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[74] MHA Rajya Sabha reply on cyber crime (Feb 2026). https://www.mha.gov.in/MHA1/Par2017/pdfs/par2026-pdfs/RS04022026/553.pdf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[75] MHA Lok Sabha reply on cyber crime (Jul 2025). https://xn--i1b5bzbybhfo5c8b4bxh.xn--11b7cb3a6a.xn--h2brj9c/MHA1/Par2017/pdfs/par2025-pdfs/LS22072025/344.pdf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[76] MHA Rajya Sabha reply on digital arrest (Mar 2025). https://xn--i1b5bzbybhfo5c8b4bxh.xn--11b7cb3a6a.xn--h2brj9c/MHA1/Par2017/pdfs/par2025-pdfs/RS12032025/1513.pdf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[77] Indians lost Rs 22,845 crore to cyber fraud in 2024, a 206% rise, Scroll. https://scroll.in/latest/1084796/indians-lost-rs-22845-crore-to-cyber-fraud-in-2024-a-206-rise-from-previous-year-centre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[78] After 465% spike in 2024, MHA data shows digital arrest scams on a decline, ThePrint. https://theprint.in/india/governance/after-465-spike-in-2024-mha-data-shows-digital-arrest-scams-are-on-a-decline-in-india/2857002/</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[79] India lost Rs 11,333 crore to cyber fraud in 2024 (first 9 months), The Wire. https://m.thewire.in/article/tech/india-lost-rs-11333-crore-to-cyber-fraud-in-2024</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[80] Scammers steal Rs 2,140 crore in 10 months using fake digital arrests, India TV. https://www.indiatvnews.com/technology/news/scammers-steal-rs-2-140-crore-in-10-months-using-fake-digital-arrests-mha-report-2024-11-01-959766</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[81] CyberPeace analysis of India's cybercrime surge from MHA data. https://cyberpeace.org/resources/blogs/cyberpeace-analysis-indias-cybercrime-surge-signals-a-growing-digital-security-challenge-an-assessment-based-on-rajya-sabha-proceedings-and-mha-data</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[82] How much Indians lost to cyber frauds Jan-Apr 2024, Business Standard. https://www.business-standard.com/india-news/here-is-how-much-indians-lost-to-cyber-frauds-between-jan-and-apr-of-2024-124052700151_1.html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[83] Cyber fraud losses could amount to 0.7% of GDP (I4C), Manorama Yearbook. https://www.manoramayearbook.in/current-affairs/india/2024/10/26/i4c-cyber-fraud-losses.html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[84] Digital arrest: Rs 120 crore lost Jan-Apr 2024, MHA advisory, Organiser. https://organiser.org/2024/10/28/262662/bharat/digital-arrest-rs-120-crore-lost-in-cybercrimes-between-january-april-2024-mha-calls-for-citizen-vigilance/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[85] Cyber frauds cost India Rs 22,845 crore in 2024, Digital Terminal. https://digitalterminal.in/trending/cyber-frauds-cost-india-22845-crore-in-2024-as-digital-threats-escalate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[86] Cyber fraud costs Indians Rs 22,845 crore in 2024, Angel One. https://www.angelone.in/news/market-updates/cyber-fraud-costs-indians-22-845-crore-in-2024-government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[87] Cyber fraud cases surge in 2024, Outlook Money. https://www.outlookmoney.com/news/cyber-fraud-cases-surge-in-2024-citizens-lost-rs-22845-crore-says-govt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[88] Big surge in cyber fraud complaints, Industrial Economist. https://industrialeconomist.com/cyber-fraud-complaints-surge-in-2024-losses-cross-%E2%82%B922800-cr/</a:t>
            </a:r>
            <a:endParaRPr lang="en-US" sz="680" dirty="0"/>
          </a:p>
        </p:txBody>
      </p:sp>
      <p:sp>
        <p:nvSpPr>
          <p:cNvPr id="36" name="Text 32"/>
          <p:cNvSpPr txBox="1"/>
          <p:nvPr/>
        </p:nvSpPr>
        <p:spPr>
          <a:xfrm>
            <a:off x="8101584"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[89] Complaints rose fivefold since 2021, IndiaSpend. https://www.indiaspend.com/data-viz/dataviz-how-indias-cyber-crime-incidence-is-rising-972933</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[90] Digital arrest scam, PIB press release. https://www.pib.gov.in/Pressreleaseshare.aspx?PRID=2082761&amp;reg=48&amp;lang=2</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[91] Cyber fraud and digital harassment, PIB. https://www.pib.gov.in/PressReleaseIframePage.aspx?PRID=2080186</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[92] Cyber awareness, PIB. https://www.pib.gov.in/PressReleasePage.aspx?PRID=2241336&amp;reg=3&amp;lang=1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[93] PIB press note on cyber crime. https://www.pib.gov.in/PressNoteDetails.aspx?NoteId=155384&amp;ModuleId=3&amp;reg=48&amp;lang=2</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[94] Recent cybercrime trends in financial frauds, NCERT CIET workshop (Aug 2024). https://ciet.ncert.gov.in/storage/app/public/files/17/Workshop_and_training_files/fsch/12aug.pdf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[95] Citizen Financial Cyber Fraud Reporting and Management System, Vikaspedia. https://egovernance.vikaspedia.in/viewcontent/e-governance/citizen-services/citizen-financial-cyber-fraud-reporting-and-management-system?lgn=en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[96] Digital arrest scam, Wikipedia. https://en.wikipedia.org/wiki/Digital_arrest_scam</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[97] What is the digital arrest scam, Forbes India. https://www.forbesindia.com/article/explainers/what-is-the-digital-arrest-scam-and-how-to-be-aware/2988963/1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[98] Digital arrest scams and the limits of domestic enforcement, ORF. https://www.orfonline.org/expert-speak/digital-arrest-scams-and-the-limits-of-domestic-enforcement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[99] India's digital arrest scams, Lowy Institute. https://www.lowyinstitute.org/the-interpreter/india-s-digital-arrest-scams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[100] Digital arrest scams explained, PMF IAS. https://www.pmfias.com/digital-arrest/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[101] Mann Ki Baat: PM warns of digital arrest, Telangana Today. https://telanganatoday.com/mann-ki-baat-pm-modi-warns-of-digital-arrest-urges-people-to-stay-vigilant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[102] Ruko, socho, action lo: PM's mantra against digital arrest, Newstrack. https://newstrack.com/india/wait-think-and-take-action-pm-gave-mantra-to-avoid-digital-arrest-475671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[103] 50,000 appeals pending before grievance panel, victims navigate maze of portals, ThePrint. https://theprint.in/india/50000-appeals-pending-before-govts-social-media-grievance-panel-victims-navigate-maze-of-portals/3057672/</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[104] 1 lakh seniors, 4.6 lakh women lost Rs 7,769 crore to cyber fraud, NewKerala. https://www.newkerala.com/news/a/over-lakh-senior-citizens-463-lakh-women-lodged-614.htm</a:t>
            </a:r>
            <a:endParaRPr lang="en-US" sz="680" dirty="0"/>
          </a:p>
        </p:txBody>
      </p:sp>
      <p:sp>
        <p:nvSpPr>
          <p:cNvPr id="37" name="Text 33"/>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21217"/>
          </a:solidFill>
          <a:ln w="12700">
            <a:solidFill>
              <a:srgbClr val="121217"/>
            </a:solidFill>
            <a:prstDash val="solid"/>
          </a:ln>
        </p:spPr>
      </p:sp>
      <p:sp>
        <p:nvSpPr>
          <p:cNvPr id="3" name="Shape 1"/>
          <p:cNvSpPr/>
          <p:nvPr/>
        </p:nvSpPr>
        <p:spPr>
          <a:xfrm>
            <a:off x="164592" y="109728"/>
            <a:ext cx="347472" cy="347472"/>
          </a:xfrm>
          <a:prstGeom prst="roundRect">
            <a:avLst>
              <a:gd name="adj" fmla="val 15789"/>
            </a:avLst>
          </a:prstGeom>
          <a:solidFill>
            <a:srgbClr val="D7002A"/>
          </a:solidFill>
          <a:ln w="12700">
            <a:solidFill>
              <a:srgbClr val="D7002A"/>
            </a:solidFill>
            <a:prstDash val="solid"/>
          </a:ln>
        </p:spPr>
      </p:sp>
      <p:sp>
        <p:nvSpPr>
          <p:cNvPr id="4" name="Text 2"/>
          <p:cNvSpPr txBox="1"/>
          <p:nvPr/>
        </p:nvSpPr>
        <p:spPr>
          <a:xfrm>
            <a:off x="164592" y="109728"/>
            <a:ext cx="347472"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a:t>
            </a:r>
            <a:endParaRPr lang="en-US" sz="1600" dirty="0"/>
          </a:p>
        </p:txBody>
      </p:sp>
      <p:sp>
        <p:nvSpPr>
          <p:cNvPr id="5" name="Text 3"/>
          <p:cNvSpPr txBox="1"/>
          <p:nvPr/>
        </p:nvSpPr>
        <p:spPr>
          <a:xfrm>
            <a:off x="566928" y="91440"/>
            <a:ext cx="1325880" cy="40233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Sajag AI</a:t>
            </a:r>
            <a:endParaRPr lang="en-US" sz="1300" dirty="0"/>
          </a:p>
          <a:p>
            <a:pPr indent="0" marL="0">
              <a:buNone/>
            </a:pPr>
            <a:r>
              <a:rPr lang="en-US" sz="700" dirty="0">
                <a:solidFill>
                  <a:srgbClr val="B9B9C2"/>
                </a:solidFill>
                <a:latin typeface="Arial" pitchFamily="34" charset="0"/>
                <a:ea typeface="Arial" pitchFamily="34" charset="-122"/>
                <a:cs typeface="Arial" pitchFamily="34" charset="-120"/>
              </a:rPr>
              <a:t>Snapdragon AI Lab 2026</a:t>
            </a:r>
            <a:endParaRPr lang="en-US" sz="1300" dirty="0"/>
          </a:p>
        </p:txBody>
      </p:sp>
      <p:sp>
        <p:nvSpPr>
          <p:cNvPr id="6" name="Shape 4"/>
          <p:cNvSpPr/>
          <p:nvPr/>
        </p:nvSpPr>
        <p:spPr>
          <a:xfrm>
            <a:off x="1938528" y="128016"/>
            <a:ext cx="772668" cy="310896"/>
          </a:xfrm>
          <a:prstGeom prst="roundRect">
            <a:avLst>
              <a:gd name="adj" fmla="val 14706"/>
            </a:avLst>
          </a:prstGeom>
          <a:solidFill>
            <a:srgbClr val="2A2A33"/>
          </a:solidFill>
          <a:ln w="6350">
            <a:solidFill>
              <a:srgbClr val="3A3A45"/>
            </a:solidFill>
            <a:prstDash val="solid"/>
          </a:ln>
        </p:spPr>
      </p:sp>
      <p:sp>
        <p:nvSpPr>
          <p:cNvPr id="7" name="Text 5"/>
          <p:cNvSpPr txBox="1"/>
          <p:nvPr/>
        </p:nvSpPr>
        <p:spPr>
          <a:xfrm>
            <a:off x="193852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Problem</a:t>
            </a:r>
            <a:endParaRPr lang="en-US" sz="850" dirty="0"/>
          </a:p>
        </p:txBody>
      </p:sp>
      <p:sp>
        <p:nvSpPr>
          <p:cNvPr id="8" name="Shape 6"/>
          <p:cNvSpPr/>
          <p:nvPr/>
        </p:nvSpPr>
        <p:spPr>
          <a:xfrm>
            <a:off x="2766060" y="128016"/>
            <a:ext cx="772668" cy="310896"/>
          </a:xfrm>
          <a:prstGeom prst="roundRect">
            <a:avLst>
              <a:gd name="adj" fmla="val 14706"/>
            </a:avLst>
          </a:prstGeom>
          <a:solidFill>
            <a:srgbClr val="2A2A33"/>
          </a:solidFill>
          <a:ln w="6350">
            <a:solidFill>
              <a:srgbClr val="3A3A45"/>
            </a:solidFill>
            <a:prstDash val="solid"/>
          </a:ln>
        </p:spPr>
      </p:sp>
      <p:sp>
        <p:nvSpPr>
          <p:cNvPr id="9" name="Text 7"/>
          <p:cNvSpPr txBox="1"/>
          <p:nvPr/>
        </p:nvSpPr>
        <p:spPr>
          <a:xfrm>
            <a:off x="276606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Users</a:t>
            </a:r>
            <a:endParaRPr lang="en-US" sz="850" dirty="0"/>
          </a:p>
        </p:txBody>
      </p:sp>
      <p:sp>
        <p:nvSpPr>
          <p:cNvPr id="10" name="Shape 8"/>
          <p:cNvSpPr/>
          <p:nvPr/>
        </p:nvSpPr>
        <p:spPr>
          <a:xfrm>
            <a:off x="3593592" y="128016"/>
            <a:ext cx="772668" cy="310896"/>
          </a:xfrm>
          <a:prstGeom prst="roundRect">
            <a:avLst>
              <a:gd name="adj" fmla="val 14706"/>
            </a:avLst>
          </a:prstGeom>
          <a:solidFill>
            <a:srgbClr val="2A2A33"/>
          </a:solidFill>
          <a:ln w="6350">
            <a:solidFill>
              <a:srgbClr val="3A3A45"/>
            </a:solidFill>
            <a:prstDash val="solid"/>
          </a:ln>
        </p:spPr>
      </p:sp>
      <p:sp>
        <p:nvSpPr>
          <p:cNvPr id="11" name="Text 9"/>
          <p:cNvSpPr txBox="1"/>
          <p:nvPr/>
        </p:nvSpPr>
        <p:spPr>
          <a:xfrm>
            <a:off x="359359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Ideation</a:t>
            </a:r>
            <a:endParaRPr lang="en-US" sz="850" dirty="0"/>
          </a:p>
        </p:txBody>
      </p:sp>
      <p:sp>
        <p:nvSpPr>
          <p:cNvPr id="12" name="Shape 10"/>
          <p:cNvSpPr/>
          <p:nvPr/>
        </p:nvSpPr>
        <p:spPr>
          <a:xfrm>
            <a:off x="4421124" y="128016"/>
            <a:ext cx="772668" cy="310896"/>
          </a:xfrm>
          <a:prstGeom prst="roundRect">
            <a:avLst>
              <a:gd name="adj" fmla="val 14706"/>
            </a:avLst>
          </a:prstGeom>
          <a:solidFill>
            <a:srgbClr val="2A2A33"/>
          </a:solidFill>
          <a:ln w="6350">
            <a:solidFill>
              <a:srgbClr val="3A3A45"/>
            </a:solidFill>
            <a:prstDash val="solid"/>
          </a:ln>
        </p:spPr>
      </p:sp>
      <p:sp>
        <p:nvSpPr>
          <p:cNvPr id="13" name="Text 11"/>
          <p:cNvSpPr txBox="1"/>
          <p:nvPr/>
        </p:nvSpPr>
        <p:spPr>
          <a:xfrm>
            <a:off x="442112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Selection</a:t>
            </a:r>
            <a:endParaRPr lang="en-US" sz="850" dirty="0"/>
          </a:p>
        </p:txBody>
      </p:sp>
      <p:sp>
        <p:nvSpPr>
          <p:cNvPr id="14" name="Shape 12"/>
          <p:cNvSpPr/>
          <p:nvPr/>
        </p:nvSpPr>
        <p:spPr>
          <a:xfrm>
            <a:off x="5248656" y="128016"/>
            <a:ext cx="772668" cy="310896"/>
          </a:xfrm>
          <a:prstGeom prst="roundRect">
            <a:avLst>
              <a:gd name="adj" fmla="val 14706"/>
            </a:avLst>
          </a:prstGeom>
          <a:solidFill>
            <a:srgbClr val="2A2A33"/>
          </a:solidFill>
          <a:ln w="6350">
            <a:solidFill>
              <a:srgbClr val="3A3A45"/>
            </a:solidFill>
            <a:prstDash val="solid"/>
          </a:ln>
        </p:spPr>
      </p:sp>
      <p:sp>
        <p:nvSpPr>
          <p:cNvPr id="15" name="Text 13"/>
          <p:cNvSpPr txBox="1"/>
          <p:nvPr/>
        </p:nvSpPr>
        <p:spPr>
          <a:xfrm>
            <a:off x="524865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Solution</a:t>
            </a:r>
            <a:endParaRPr lang="en-US" sz="850" dirty="0"/>
          </a:p>
        </p:txBody>
      </p:sp>
      <p:sp>
        <p:nvSpPr>
          <p:cNvPr id="16" name="Shape 14"/>
          <p:cNvSpPr/>
          <p:nvPr/>
        </p:nvSpPr>
        <p:spPr>
          <a:xfrm>
            <a:off x="6076188" y="128016"/>
            <a:ext cx="772668" cy="310896"/>
          </a:xfrm>
          <a:prstGeom prst="roundRect">
            <a:avLst>
              <a:gd name="adj" fmla="val 14706"/>
            </a:avLst>
          </a:prstGeom>
          <a:solidFill>
            <a:srgbClr val="2A2A33"/>
          </a:solidFill>
          <a:ln w="6350">
            <a:solidFill>
              <a:srgbClr val="3A3A45"/>
            </a:solidFill>
            <a:prstDash val="solid"/>
          </a:ln>
        </p:spPr>
      </p:sp>
      <p:sp>
        <p:nvSpPr>
          <p:cNvPr id="17" name="Text 15"/>
          <p:cNvSpPr txBox="1"/>
          <p:nvPr/>
        </p:nvSpPr>
        <p:spPr>
          <a:xfrm>
            <a:off x="607618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Architecture</a:t>
            </a:r>
            <a:endParaRPr lang="en-US" sz="850" dirty="0"/>
          </a:p>
        </p:txBody>
      </p:sp>
      <p:sp>
        <p:nvSpPr>
          <p:cNvPr id="18" name="Shape 16"/>
          <p:cNvSpPr/>
          <p:nvPr/>
        </p:nvSpPr>
        <p:spPr>
          <a:xfrm>
            <a:off x="6903720" y="128016"/>
            <a:ext cx="772668" cy="310896"/>
          </a:xfrm>
          <a:prstGeom prst="roundRect">
            <a:avLst>
              <a:gd name="adj" fmla="val 14706"/>
            </a:avLst>
          </a:prstGeom>
          <a:solidFill>
            <a:srgbClr val="2A2A33"/>
          </a:solidFill>
          <a:ln w="6350">
            <a:solidFill>
              <a:srgbClr val="3A3A45"/>
            </a:solidFill>
            <a:prstDash val="solid"/>
          </a:ln>
        </p:spPr>
      </p:sp>
      <p:sp>
        <p:nvSpPr>
          <p:cNvPr id="19" name="Text 17"/>
          <p:cNvSpPr txBox="1"/>
          <p:nvPr/>
        </p:nvSpPr>
        <p:spPr>
          <a:xfrm>
            <a:off x="6903720"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NPU</a:t>
            </a:r>
            <a:endParaRPr lang="en-US" sz="850" dirty="0"/>
          </a:p>
        </p:txBody>
      </p:sp>
      <p:sp>
        <p:nvSpPr>
          <p:cNvPr id="20" name="Shape 18"/>
          <p:cNvSpPr/>
          <p:nvPr/>
        </p:nvSpPr>
        <p:spPr>
          <a:xfrm>
            <a:off x="7731252" y="128016"/>
            <a:ext cx="772668" cy="310896"/>
          </a:xfrm>
          <a:prstGeom prst="roundRect">
            <a:avLst>
              <a:gd name="adj" fmla="val 14706"/>
            </a:avLst>
          </a:prstGeom>
          <a:solidFill>
            <a:srgbClr val="2A2A33"/>
          </a:solidFill>
          <a:ln w="6350">
            <a:solidFill>
              <a:srgbClr val="3A3A45"/>
            </a:solidFill>
            <a:prstDash val="solid"/>
          </a:ln>
        </p:spPr>
      </p:sp>
      <p:sp>
        <p:nvSpPr>
          <p:cNvPr id="21" name="Text 19"/>
          <p:cNvSpPr txBox="1"/>
          <p:nvPr/>
        </p:nvSpPr>
        <p:spPr>
          <a:xfrm>
            <a:off x="7731252"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Engine</a:t>
            </a:r>
            <a:endParaRPr lang="en-US" sz="850" dirty="0"/>
          </a:p>
        </p:txBody>
      </p:sp>
      <p:sp>
        <p:nvSpPr>
          <p:cNvPr id="22" name="Shape 20"/>
          <p:cNvSpPr/>
          <p:nvPr/>
        </p:nvSpPr>
        <p:spPr>
          <a:xfrm>
            <a:off x="8558784" y="128016"/>
            <a:ext cx="772668" cy="310896"/>
          </a:xfrm>
          <a:prstGeom prst="roundRect">
            <a:avLst>
              <a:gd name="adj" fmla="val 14706"/>
            </a:avLst>
          </a:prstGeom>
          <a:solidFill>
            <a:srgbClr val="2A2A33"/>
          </a:solidFill>
          <a:ln w="6350">
            <a:solidFill>
              <a:srgbClr val="3A3A45"/>
            </a:solidFill>
            <a:prstDash val="solid"/>
          </a:ln>
        </p:spPr>
      </p:sp>
      <p:sp>
        <p:nvSpPr>
          <p:cNvPr id="23" name="Text 21"/>
          <p:cNvSpPr txBox="1"/>
          <p:nvPr/>
        </p:nvSpPr>
        <p:spPr>
          <a:xfrm>
            <a:off x="8558784"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Results</a:t>
            </a:r>
            <a:endParaRPr lang="en-US" sz="850" dirty="0"/>
          </a:p>
        </p:txBody>
      </p:sp>
      <p:sp>
        <p:nvSpPr>
          <p:cNvPr id="24" name="Shape 22"/>
          <p:cNvSpPr/>
          <p:nvPr/>
        </p:nvSpPr>
        <p:spPr>
          <a:xfrm>
            <a:off x="9386316" y="128016"/>
            <a:ext cx="772668" cy="310896"/>
          </a:xfrm>
          <a:prstGeom prst="roundRect">
            <a:avLst>
              <a:gd name="adj" fmla="val 14706"/>
            </a:avLst>
          </a:prstGeom>
          <a:solidFill>
            <a:srgbClr val="2A2A33"/>
          </a:solidFill>
          <a:ln w="6350">
            <a:solidFill>
              <a:srgbClr val="3A3A45"/>
            </a:solidFill>
            <a:prstDash val="solid"/>
          </a:ln>
        </p:spPr>
      </p:sp>
      <p:sp>
        <p:nvSpPr>
          <p:cNvPr id="25" name="Text 23"/>
          <p:cNvSpPr txBox="1"/>
          <p:nvPr/>
        </p:nvSpPr>
        <p:spPr>
          <a:xfrm>
            <a:off x="9386316"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Deploy</a:t>
            </a:r>
            <a:endParaRPr lang="en-US" sz="850" dirty="0"/>
          </a:p>
        </p:txBody>
      </p:sp>
      <p:sp>
        <p:nvSpPr>
          <p:cNvPr id="26" name="Shape 24"/>
          <p:cNvSpPr/>
          <p:nvPr/>
        </p:nvSpPr>
        <p:spPr>
          <a:xfrm>
            <a:off x="10213848" y="128016"/>
            <a:ext cx="772668" cy="310896"/>
          </a:xfrm>
          <a:prstGeom prst="roundRect">
            <a:avLst>
              <a:gd name="adj" fmla="val 14706"/>
            </a:avLst>
          </a:prstGeom>
          <a:solidFill>
            <a:srgbClr val="2A2A33"/>
          </a:solidFill>
          <a:ln w="6350">
            <a:solidFill>
              <a:srgbClr val="3A3A45"/>
            </a:solidFill>
            <a:prstDash val="solid"/>
          </a:ln>
        </p:spPr>
      </p:sp>
      <p:sp>
        <p:nvSpPr>
          <p:cNvPr id="27" name="Text 25"/>
          <p:cNvSpPr txBox="1"/>
          <p:nvPr/>
        </p:nvSpPr>
        <p:spPr>
          <a:xfrm>
            <a:off x="10213848" y="128016"/>
            <a:ext cx="772668" cy="310896"/>
          </a:xfrm>
          <a:prstGeom prst="rect">
            <a:avLst/>
          </a:prstGeom>
          <a:noFill/>
          <a:ln/>
        </p:spPr>
        <p:txBody>
          <a:bodyPr wrap="square" lIns="0" tIns="0" rIns="0" bIns="0" rtlCol="0" anchor="ctr"/>
          <a:lstStyle/>
          <a:p>
            <a:pPr algn="ctr" indent="0" marL="0">
              <a:buNone/>
            </a:pPr>
            <a:r>
              <a:rPr lang="en-US" sz="850" dirty="0">
                <a:solidFill>
                  <a:srgbClr val="C9C9D1"/>
                </a:solidFill>
                <a:latin typeface="Arial" pitchFamily="34" charset="0"/>
                <a:ea typeface="Arial" pitchFamily="34" charset="-122"/>
                <a:cs typeface="Arial" pitchFamily="34" charset="-120"/>
              </a:rPr>
              <a:t>Roadmap</a:t>
            </a:r>
            <a:endParaRPr lang="en-US" sz="850" dirty="0"/>
          </a:p>
        </p:txBody>
      </p:sp>
      <p:pic>
        <p:nvPicPr>
          <p:cNvPr id="28" name="Image 0" descr="preencoded.png">    </p:cNvPr>
          <p:cNvPicPr>
            <a:picLocks noChangeAspect="1"/>
          </p:cNvPicPr>
          <p:nvPr/>
        </p:nvPicPr>
        <p:blipFill>
          <a:blip r:embed="rId1"/>
          <a:stretch>
            <a:fillRect/>
          </a:stretch>
        </p:blipFill>
        <p:spPr>
          <a:xfrm>
            <a:off x="11155680" y="118872"/>
            <a:ext cx="329184" cy="329184"/>
          </a:xfrm>
          <a:prstGeom prst="rect">
            <a:avLst/>
          </a:prstGeom>
        </p:spPr>
      </p:pic>
      <p:pic>
        <p:nvPicPr>
          <p:cNvPr id="29" name="Image 1" descr="preencoded.png">    </p:cNvPr>
          <p:cNvPicPr>
            <a:picLocks noChangeAspect="1"/>
          </p:cNvPicPr>
          <p:nvPr/>
        </p:nvPicPr>
        <p:blipFill>
          <a:blip r:embed="rId2"/>
          <a:stretch>
            <a:fillRect/>
          </a:stretch>
        </p:blipFill>
        <p:spPr>
          <a:xfrm>
            <a:off x="11631168" y="118872"/>
            <a:ext cx="329184" cy="329184"/>
          </a:xfrm>
          <a:prstGeom prst="rect">
            <a:avLst/>
          </a:prstGeom>
        </p:spPr>
      </p:pic>
      <p:sp>
        <p:nvSpPr>
          <p:cNvPr id="30" name="Text 26"/>
          <p:cNvSpPr txBox="1"/>
          <p:nvPr/>
        </p:nvSpPr>
        <p:spPr>
          <a:xfrm>
            <a:off x="274320" y="658368"/>
            <a:ext cx="7863840" cy="384048"/>
          </a:xfrm>
          <a:prstGeom prst="rect">
            <a:avLst/>
          </a:prstGeom>
          <a:noFill/>
          <a:ln/>
        </p:spPr>
        <p:txBody>
          <a:bodyPr wrap="square" lIns="0" tIns="0" rIns="0" bIns="0" rtlCol="0" anchor="ctr"/>
          <a:lstStyle/>
          <a:p>
            <a:pPr indent="0" marL="0">
              <a:buNone/>
            </a:pPr>
            <a:r>
              <a:rPr lang="en-US" sz="1900" b="1" dirty="0">
                <a:solidFill>
                  <a:srgbClr val="1C1C22"/>
                </a:solidFill>
                <a:latin typeface="Arial" pitchFamily="34" charset="0"/>
                <a:ea typeface="Arial" pitchFamily="34" charset="-122"/>
                <a:cs typeface="Arial" pitchFamily="34" charset="-120"/>
              </a:rPr>
              <a:t>Appendix C: References (105-156 of 156)</a:t>
            </a:r>
            <a:endParaRPr lang="en-US" sz="1900" dirty="0"/>
          </a:p>
        </p:txBody>
      </p:sp>
      <p:sp>
        <p:nvSpPr>
          <p:cNvPr id="31" name="Shape 27"/>
          <p:cNvSpPr/>
          <p:nvPr/>
        </p:nvSpPr>
        <p:spPr>
          <a:xfrm>
            <a:off x="274320" y="1051560"/>
            <a:ext cx="822960" cy="45720"/>
          </a:xfrm>
          <a:prstGeom prst="rect">
            <a:avLst/>
          </a:prstGeom>
          <a:solidFill>
            <a:srgbClr val="D7002A"/>
          </a:solidFill>
          <a:ln w="12700">
            <a:solidFill>
              <a:srgbClr val="D7002A"/>
            </a:solidFill>
            <a:prstDash val="solid"/>
          </a:ln>
        </p:spPr>
      </p:sp>
      <p:sp>
        <p:nvSpPr>
          <p:cNvPr id="32" name="Text 28"/>
          <p:cNvSpPr txBox="1"/>
          <p:nvPr/>
        </p:nvSpPr>
        <p:spPr>
          <a:xfrm>
            <a:off x="8183880" y="658368"/>
            <a:ext cx="3749040" cy="438912"/>
          </a:xfrm>
          <a:prstGeom prst="rect">
            <a:avLst/>
          </a:prstGeom>
          <a:noFill/>
          <a:ln/>
        </p:spPr>
        <p:txBody>
          <a:bodyPr wrap="square" lIns="0" tIns="0" rIns="0" bIns="0" rtlCol="0" anchor="ctr"/>
          <a:lstStyle/>
          <a:p>
            <a:pPr algn="r" indent="0" marL="0">
              <a:buNone/>
            </a:pPr>
            <a:r>
              <a:rPr lang="en-US" sz="900" i="1" dirty="0">
                <a:solidFill>
                  <a:srgbClr val="5E5E66"/>
                </a:solidFill>
                <a:latin typeface="Arial" pitchFamily="34" charset="0"/>
                <a:ea typeface="Arial" pitchFamily="34" charset="-122"/>
                <a:cs typeface="Arial" pitchFamily="34" charset="-120"/>
              </a:rPr>
              <a:t>Full annotated list in the project description and docs/REFERENCES.md</a:t>
            </a:r>
            <a:endParaRPr lang="en-US" sz="900" dirty="0"/>
          </a:p>
        </p:txBody>
      </p:sp>
      <p:sp>
        <p:nvSpPr>
          <p:cNvPr id="33" name="Text 29"/>
          <p:cNvSpPr txBox="1"/>
          <p:nvPr/>
        </p:nvSpPr>
        <p:spPr>
          <a:xfrm>
            <a:off x="274320" y="6601968"/>
            <a:ext cx="10058400" cy="201168"/>
          </a:xfrm>
          <a:prstGeom prst="rect">
            <a:avLst/>
          </a:prstGeom>
          <a:noFill/>
          <a:ln/>
        </p:spPr>
        <p:txBody>
          <a:bodyPr wrap="square" lIns="0" tIns="0" rIns="0" bIns="0" rtlCol="0" anchor="ctr"/>
          <a:lstStyle/>
          <a:p>
            <a:pPr indent="0" marL="0">
              <a:buNone/>
            </a:pPr>
            <a:r>
              <a:rPr lang="en-US" sz="700" dirty="0">
                <a:solidFill>
                  <a:srgbClr val="8A8A92"/>
                </a:solidFill>
                <a:latin typeface="Arial" pitchFamily="34" charset="0"/>
                <a:ea typeface="Arial" pitchFamily="34" charset="-122"/>
                <a:cs typeface="Arial" pitchFamily="34" charset="-120"/>
              </a:rPr>
              <a:t>Sajag AI  |  Snapdragon AI Lab Build &amp; Present Challenge 2026  |  Tanmay Sahare, IIT Kanpur  |  github.com/tanmaysahare/sajag-ai</a:t>
            </a:r>
            <a:endParaRPr lang="en-US" sz="700" dirty="0"/>
          </a:p>
        </p:txBody>
      </p:sp>
      <p:sp>
        <p:nvSpPr>
          <p:cNvPr id="34" name="Text 30"/>
          <p:cNvSpPr txBox="1"/>
          <p:nvPr/>
        </p:nvSpPr>
        <p:spPr>
          <a:xfrm>
            <a:off x="274320"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[105] Hyderabad senior citizens lose Rs 102 crore to cyber fraud in 19 months, NewsMeter. https://newsmeter.in/top-stories/hyderabad-senior-citizens-lose-rs-102-crore-to-cyber-fraud-in-19-months-retiree-duped-of-rs-96-lakh-773304</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[106] Cyber fraud steals Rs 1,250 crore in Delhi in one year, Asianet. https://newsable.asianetnews.com/india/cyber-fraud-losses-surge-in-delhi-digital-arrest-scams-drain-life-savings-articleshow-cp974wg</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[107] Nagpur cyber fraud 2025: 60% of victims senior citizens, The420. https://the420.in/nagpur-cyber-fraud-2025-senior-citizens-digital-arrest-scams/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[108] Indore: over Rs 100 crore lost to cyber fraud in 2025, The420. https://the420.in/cyber-fraud-indore-2025-100-crore-loss-digital-arrest-seniors-targeted/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[109] Elderly woman loses Rs 2.5 crore in digital arrest fraud, Tribune. https://www.tribuneindia.com/news/chandigarh/sector-10-elderly-woman-loses-2-5-crore-in-digital-arrest-fraud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[110] Digital arrest scam targeting India's elderly parents, Gracias Living. https://graciasliving.com/digital-arrest-scam-elderly-parents-india/</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[111] Microsoft Global Tech Support Scam Research: India (2021). https://news.microsoft.com/wp-content/uploads/prod/sites/45/2021/07/Microsoft-India-Tech-Support-Fraud-Survey-2021.pdf</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[112] Seven out of 10 consumers in India encountered tech support scams, Microsoft News. https://news.microsoft.com/en-in/seven-out-of-10-consumers-in-india-encountered-tech-support-scams-in-the-past-year-microsoft-survey/</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[113] Indians more vulnerable to tech support scams, Business Standard. https://www.business-standard.com/article/technology/indians-more-vulnerable-to-tech-support-scams-says-microsoft-report-121072201212_1.html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[114] India sees the highest number of tech support scams, CXOToday. https://cxotoday.com/daily-news/india-sees-the-highest-number-of-tech-support-scams-reveals-microsoft/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[115] Almost half of Indians experience AI-enabled fake voice scam: McAfee, Business Standard. https://www.business-standard.com/india-news/almost-half-of-indians-experience-ai-enabled-fake-voice-scam-mcafee-survey-123050100949_1.html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[116] 83% Indians fell prey to AI voice scams: McAfee report, BOOM. https://www.boomlive.in/explainers/ai-voice-scam-voice-cloning-mcafee-report-21851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[117] Artificial imposters: cybercriminals turn to AI voice cloning, McAfee. https://www.mcafee.com/blogs/privacy-identity-protection/artificial-imposters-cybercriminals-turn-to-ai-voice-cloning-for-a-new-breed-of-scam/</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[118] Has AI become a powerful tool for scamming?, IndiaAI. https://indiaai.gov.in/article/has-ai-really-become-a-powerful-tool-for-scamming</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[119] RBI warns of fraud that leverages AnyDesk, BankInfoSecurity. https://www.bankinfosecurity.asia/rbi-warns-fraud-that-leverages-anydesk-app-a-12035</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[120] RBI warns digital and UPI users against AnyDesk, Business Standard. https://www.business-standard.com/article/finance/digital-banking-upi-users-beware-rbi-warns-against-anydesk-all-you-need-to-know-119021800425_1.html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[121] After RBI, NPCI warns about AnyDesk app fraud, Zee Business. https://www.zeebiz.com/india/news-after-rbi-upi-operator-ncpi-warns-about-anydesk-app-fraud-how-your-money-is-robbed-and-how-to-save-it-86540</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[122] Phishing, UPI scams and remote access fraud on the rise, The420. https://the420.in/online-banking-fraud-phishing-upi-remote-access/</a:t>
            </a:r>
            <a:endParaRPr lang="en-US" sz="680" dirty="0"/>
          </a:p>
        </p:txBody>
      </p:sp>
      <p:sp>
        <p:nvSpPr>
          <p:cNvPr id="35" name="Text 31"/>
          <p:cNvSpPr txBox="1"/>
          <p:nvPr/>
        </p:nvSpPr>
        <p:spPr>
          <a:xfrm>
            <a:off x="4187952"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[123] RBI Annual Report 2024-25 highlights fraud surge, MediaNama. https://www.medianama.com/2025/06/223-rbi-annual-report-2024-25-central-bank-agenda/</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[124] Bank frauds rise 166% in FY24 to over 36,000 cases, Business Standard. https://www.business-standard.com/industry/banking/bank-frauds-rise-166-in-fy24-to-over-36-000-cases-shows-rbi-annual-report-124053001237_1.html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[125] Banking frauds rise in H1FY25, amount jumps eightfold, Business Standard. https://www.business-standard.com/industry/banking/banking-frauds-rise-in-h1fy25-amount-involved-jumps-8-time-rbi-report-124122600769_1.html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[126] RBI: online payment fraud surges 400% in a year, PYMNTS. https://www.pymnts.com/news/security-and-risk/2024/rbi-online-payment-fraud-in-india-surges-400percent-in-a-year</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[127] Stand up to scareware with scareware blocker, Microsoft Edge blog (Jan 2025). https://blogs.windows.com/msedgedev/2025/01/27/stand-up-to-scareware-with-scareware-blocker/</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[128] Expanded scareware blocker availability and real-time protection, Microsoft Edge blog (Oct 2025). https://blogs.windows.com/msedgedev/2025/10/31/protecting-more-edge-users-with-expanded-scareware-blocker-availability-and-real-time-protection/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[129] Prevent online scams with the scareware blocker in Microsoft Edge, Microsoft Support. https://support.microsoft.com/en-us/topic/prevent-online-scams-with-the-scareware-blocker-in-microsoft-edge-b02c7895-f9b7-4d9f-8e12-3668f00915be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[130] Microsoft tests Edge scareware blocker, BleepingComputer. https://www.bleepingcomputer.com/news/microsoft/microsoft-tests-edge-scareware-blocker-to-block-tech-support-scams/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[131] Microsoft Edge gets scareware sensor, BleepingComputer. https://www.bleepingcomputer.com/news/microsoft/microsoft-edge-gets-scareware-sensor-for-faster-scam-detection/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[132] Google rolls out on-device AI protections to detect scams in Chrome and Android, The Hacker News. https://thehackernews.com/2025/05/google-rolls-out-on-device-ai.html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[133] Google deploys on-device AI to thwart scams on Chrome and Android, Infosecurity. https://www.infosecurity-magazine.com/news/google-ai-gemini-nano-scams-chrome/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[134] Google's Safety Charter for India's AI-led transformation, Google India blog. https://blog.google/intl/en-in/company-news/googles-safety-charter-for-indias-ai-led-transformation/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[135] Protecting vulnerable audiences is at the heart of AI safety efforts, Google India blog. https://blog.google/intl/en-in/company-news/protecting-vulnerable-audiences-is-at-the-heart-of-ai-safety-efforts/</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[136] Google steps up fight against online fraud with India Safety Charter, Tribune. https://www.tribuneindia.com/news/india/google-steps-up-fight-against-online-ai-fraud-deepfakes-with-india-safety-charter/</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[137] Google steps up AI scam protection in India, but gaps remain, Yahoo Tech. https://tech.yahoo.com/ai/gemini/articles/google-steps-ai-scam-protection-222852933.html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[138] Microsoft SmartScreen, Wikipedia. https://en.wikipedia.org/wiki/Microsoft_SmartScreen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[139] Digital Personal Data Protection Rules 2025, PIB note. https://www.pib.gov.in/PressNoteDetails.aspx?NoteId=156054&amp;ModuleId=3&amp;reg=3&amp;lang=2</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[140] DPDP Rules 2025 notified, PIB document. https://static.pib.gov.in/WriteReadData/specificdocs/documents/2025/nov/doc20251117695301.pdf</a:t>
            </a:r>
            <a:endParaRPr lang="en-US" sz="680" dirty="0"/>
          </a:p>
        </p:txBody>
      </p:sp>
      <p:sp>
        <p:nvSpPr>
          <p:cNvPr id="36" name="Text 32"/>
          <p:cNvSpPr txBox="1"/>
          <p:nvPr/>
        </p:nvSpPr>
        <p:spPr>
          <a:xfrm>
            <a:off x="8101584" y="1234440"/>
            <a:ext cx="3822192" cy="5303520"/>
          </a:xfrm>
          <a:prstGeom prst="rect">
            <a:avLst/>
          </a:prstGeom>
          <a:noFill/>
          <a:ln/>
        </p:spPr>
        <p:txBody>
          <a:bodyPr wrap="square" lIns="381" tIns="381" rIns="381" bIns="381" rtlCol="0" anchor="t"/>
          <a:lstStyle/>
          <a:p>
            <a:pPr indent="0" marL="0">
              <a:spcAft>
                <a:spcPts val="150"/>
              </a:spcAft>
              <a:buNone/>
            </a:pPr>
            <a:r>
              <a:rPr lang="en-US" sz="680" dirty="0">
                <a:solidFill>
                  <a:srgbClr val="1C1C22"/>
                </a:solidFill>
                <a:latin typeface="Arial" pitchFamily="34" charset="0"/>
                <a:ea typeface="Arial" pitchFamily="34" charset="-122"/>
                <a:cs typeface="Arial" pitchFamily="34" charset="-120"/>
              </a:rPr>
              <a:t>[141] Digital Personal Data Protection Rules, 2025, Wikipedia. https://en.wikipedia.org/wiki/Digital_Personal_Data_Protection_Rules,_2025</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[142] DPDP Rules 2025 notified by MeitY, EY. https://www.ey.com/en_in/insights/cybersecurity/transforming-data-privacy-digital-personal-data-protection-rules-2025</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[143] DPDP Rules 2025 key highlights, SCC Online. https://www.scconline.com/blog/post/2025/12/26/digital-personal-data-protection-rules-2025-key-highlights/amp/</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[144] IDC: India's PC market grows 5.7% YoY in 1H25. https://my.idc.com/getdoc.jsp?containerId=prAP53752625</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[145] India PC shipments hit record 15.9 million in 2025, ChannelLife. https://channellife.in/story/india-pc-shipments-hit-record-15-9-million-in-2025</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[146] Indian PC market grows 10.2% YoY in 2025 (IDC), FoneArena. https://www.fonearena.com/blog/476970/indian-pc-market-2025-idc.html</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[147] HP leads India's PC market in Q3 2025 with 26.6% share, Digital Terminal. https://digitalterminal.in/trending/hp-leads-indias-pc-market-in-q3-2025-with-266-market-share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[148] HP leads Indian PC market with 29.1% share, ETV Bharat. https://www.etvbharat.com/en/!technology/hp-leads-indian-pc-market-with-29-pc-share-lenovo-grows-to-claim-second-spot-idc-enn25052701571</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[149] SnapShield (challenge entry, network security), GitHub. https://github.com/CODEwANI10/Qualcomm-AI-Build-Challenge-Snapshield</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[150] SnapStudy-AI (challenge entry, study assistant), GitHub. https://github.com/nikhilmohite120625/SnapStudy-AI</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[151] ShikshaMate (challenge entry, education), GitHub. https://github.com/infant88/ShikshaMate</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[152] OmniCare-AI (challenge entry, healthcare), GitHub. https://github.com/Advik-harsha/OmniCare-AI</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[153] SnapCareer-AI (challenge entry, careers), GitHub. https://github.com/Mukeshpadigela17/SnapCareer-AI-project</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[154] snapdragoon (challenge entry, accessibility), GitHub. https://github.com/challalokesh08/snapdragoon</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[155] Snapdragon AI Lab Challenge 2026 overview video, YouTube. https://www.youtube.com/watch?v=ZTT_be_nkv8</a:t>
            </a:r>
            <a:endParaRPr lang="en-US" sz="680" dirty="0"/>
          </a:p>
          <a:p>
            <a:pPr indent="0" marL="0">
              <a:spcAft>
                <a:spcPts val="150"/>
              </a:spcAft>
              <a:buNone/>
            </a:pPr>
            <a:r>
              <a:rPr lang="en-US" sz="680" dirty="0">
                <a:solidFill>
                  <a:srgbClr val="1C1C22"/>
                </a:solidFill>
                <a:latin typeface="Arial" pitchFamily="34" charset="0"/>
                <a:ea typeface="Arial" pitchFamily="34" charset="-122"/>
                <a:cs typeface="Arial" pitchFamily="34" charset="-120"/>
              </a:rPr>
              <a:t>[156] Qualcomm India opens Snapdragon Multiverse Hackathon registrations, The Wire. https://m.thewire.in/article/ptiprnews/qualcomm-india-opens-registrations-for-snapdragon-multiverse-hackathon-to-build-multi-device-ai-solutions</a:t>
            </a:r>
            <a:endParaRPr lang="en-US" sz="680" dirty="0"/>
          </a:p>
        </p:txBody>
      </p:sp>
      <p:sp>
        <p:nvSpPr>
          <p:cNvPr id="37" name="Text 33"/>
          <p:cNvSpPr txBox="1"/>
          <p:nvPr/>
        </p:nvSpPr>
        <p:spPr>
          <a:xfrm>
            <a:off x="11658600" y="6583680"/>
            <a:ext cx="320040" cy="219456"/>
          </a:xfrm>
          <a:prstGeom prst="rect">
            <a:avLst/>
          </a:prstGeom>
          <a:noFill/>
          <a:ln/>
        </p:spPr>
        <p:txBody>
          <a:bodyPr wrap="square" lIns="0" tIns="0" rIns="0" bIns="0" rtlCol="0" anchor="ctr"/>
          <a:lstStyle/>
          <a:p>
            <a:pPr algn="r" indent="0" marL="0">
              <a:buNone/>
            </a:pPr>
            <a:r>
              <a:rPr lang="en-US" sz="800" dirty="0">
                <a:solidFill>
                  <a:srgbClr val="8A8A92"/>
                </a:solidFill>
                <a:latin typeface="Arial" pitchFamily="34" charset="0"/>
                <a:ea typeface="Arial" pitchFamily="34" charset="-122"/>
                <a:cs typeface="Arial" pitchFamily="34" charset="-120"/>
              </a:rPr>
              <a:t>16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Sajag AI - Snapdragon AI Lab Build &amp; Present Challenge</dc:title>
  <dc:subject>PptxGenJS Presentation</dc:subject>
  <dc:creator>Tanmay Sahare</dc:creator>
  <cp:lastModifiedBy>Tanmay Sahare</cp:lastModifiedBy>
  <cp:revision>1</cp:revision>
  <dcterms:created xsi:type="dcterms:W3CDTF">2026-09-30T14:18:22Z</dcterms:created>
  <dcterms:modified xsi:type="dcterms:W3CDTF">2026-09-30T14:18:22Z</dcterms:modified>
</cp:coreProperties>
</file>