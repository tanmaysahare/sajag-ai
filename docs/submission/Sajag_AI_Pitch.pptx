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Digital-arrest cases</c:v>
                </c:pt>
              </c:strCache>
            </c:strRef>
          </c:tx>
          <c:spPr>
            <a:solidFill>
              <a:srgbClr val="C9C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5E5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39925</c:v>
                </c:pt>
                <c:pt idx="1">
                  <c:v>60676</c:v>
                </c:pt>
                <c:pt idx="2">
                  <c:v>123672</c:v>
                </c:pt>
                <c:pt idx="3">
                  <c:v>17264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5E5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E5E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 a tech-support scam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7002A"/>
              </a:solidFill>
              <a:effectLst/>
            </c:spPr>
          </c:dPt>
          <c:dPt>
            <c:idx val="1"/>
            <c:bubble3D val="0"/>
            <c:spPr>
              <a:solidFill>
                <a:srgbClr val="EDE7D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voice-clone scam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8A00"/>
              </a:solidFill>
              <a:effectLst/>
            </c:spPr>
          </c:dPt>
          <c:dPt>
            <c:idx val="1"/>
            <c:bubble3D val="0"/>
            <c:spPr>
              <a:solidFill>
                <a:srgbClr val="EDE7D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Fewer digital-arrest 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9E57"/>
              </a:solidFill>
              <a:effectLst/>
            </c:spPr>
          </c:dPt>
          <c:dPt>
            <c:idx val="1"/>
            <c:bubble3D val="0"/>
            <c:spPr>
              <a:solidFill>
                <a:srgbClr val="EDE7D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Lower digital-arrest losses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53DC"/>
              </a:solidFill>
              <a:effectLst/>
            </c:spPr>
          </c:dPt>
          <c:dPt>
            <c:idx val="1"/>
            <c:bubble3D val="0"/>
            <c:spPr>
              <a:solidFill>
                <a:srgbClr val="EDE7D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</c:v>
                </c:pt>
                <c:pt idx="1">
                  <c:v>34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7002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70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2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Sajag AI</c:v>
                  </c:pt>
                  <c:pt idx="1">
                    <c:v>Deepfake detector</c:v>
                  </c:pt>
                  <c:pt idx="2">
                    <c:v>Crop-disease kiosk</c:v>
                  </c:pt>
                  <c:pt idx="3">
                    <c:v>Drone triage</c:v>
                  </c:pt>
                  <c:pt idx="4">
                    <c:v>Medical scribe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4.76</c:v>
                </c:pt>
                <c:pt idx="1">
                  <c:v>4.06</c:v>
                </c:pt>
                <c:pt idx="2">
                  <c:v>3.74</c:v>
                </c:pt>
                <c:pt idx="3">
                  <c:v>3.67</c:v>
                </c:pt>
                <c:pt idx="4">
                  <c:v>3.57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C1C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Sajag risk %</c:v>
                </c:pt>
              </c:strCache>
            </c:strRef>
          </c:tx>
          <c:spPr>
            <a:solidFill>
              <a:srgbClr val="D7002A"/>
            </a:solidFill>
            <a:ln w="28575" cap="flat">
              <a:solidFill>
                <a:srgbClr val="D70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7002A"/>
              </a:solidFill>
              <a:ln w="9525" cap="flat">
                <a:solidFill>
                  <a:srgbClr val="D70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0s</c:v>
                  </c:pt>
                  <c:pt idx="1">
                    <c:v>4s</c:v>
                  </c:pt>
                  <c:pt idx="2">
                    <c:v>12s</c:v>
                  </c:pt>
                  <c:pt idx="3">
                    <c:v>20s</c:v>
                  </c:pt>
                  <c:pt idx="4">
                    <c:v>26s</c:v>
                  </c:pt>
                  <c:pt idx="5">
                    <c:v>34s</c:v>
                  </c:pt>
                  <c:pt idx="6">
                    <c:v>45s</c:v>
                  </c:pt>
                  <c:pt idx="7">
                    <c:v>49s</c:v>
                  </c:pt>
                  <c:pt idx="8">
                    <c:v>52s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13</c:v>
                </c:pt>
                <c:pt idx="2">
                  <c:v>46</c:v>
                </c:pt>
                <c:pt idx="3">
                  <c:v>61</c:v>
                </c:pt>
                <c:pt idx="4">
                  <c:v>96</c:v>
                </c:pt>
                <c:pt idx="5">
                  <c:v>95</c:v>
                </c:pt>
                <c:pt idx="6">
                  <c:v>94</c:v>
                </c:pt>
                <c:pt idx="7">
                  <c:v>95</c:v>
                </c:pt>
                <c:pt idx="8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WARNING 60</c:v>
                </c:pt>
              </c:strCache>
            </c:strRef>
          </c:tx>
          <c:spPr>
            <a:solidFill>
              <a:srgbClr val="E08A00"/>
            </a:solidFill>
            <a:ln w="28575" cap="flat">
              <a:solidFill>
                <a:srgbClr val="E08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8A00"/>
              </a:solidFill>
              <a:ln w="9525" cap="flat">
                <a:solidFill>
                  <a:srgbClr val="E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0s</c:v>
                  </c:pt>
                  <c:pt idx="1">
                    <c:v>4s</c:v>
                  </c:pt>
                  <c:pt idx="2">
                    <c:v>12s</c:v>
                  </c:pt>
                  <c:pt idx="3">
                    <c:v>20s</c:v>
                  </c:pt>
                  <c:pt idx="4">
                    <c:v>26s</c:v>
                  </c:pt>
                  <c:pt idx="5">
                    <c:v>34s</c:v>
                  </c:pt>
                  <c:pt idx="6">
                    <c:v>45s</c:v>
                  </c:pt>
                  <c:pt idx="7">
                    <c:v>49s</c:v>
                  </c:pt>
                  <c:pt idx="8">
                    <c:v>52s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DANGER 80</c:v>
                </c:pt>
              </c:strCache>
            </c:strRef>
          </c:tx>
          <c:spPr>
            <a:solidFill>
              <a:srgbClr val="8B0000"/>
            </a:solidFill>
            <a:ln w="28575" cap="flat">
              <a:solidFill>
                <a:srgbClr val="8B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B0000"/>
              </a:solidFill>
              <a:ln w="9525" cap="flat">
                <a:solidFill>
                  <a:srgbClr val="8B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0s</c:v>
                  </c:pt>
                  <c:pt idx="1">
                    <c:v>4s</c:v>
                  </c:pt>
                  <c:pt idx="2">
                    <c:v>12s</c:v>
                  </c:pt>
                  <c:pt idx="3">
                    <c:v>20s</c:v>
                  </c:pt>
                  <c:pt idx="4">
                    <c:v>26s</c:v>
                  </c:pt>
                  <c:pt idx="5">
                    <c:v>34s</c:v>
                  </c:pt>
                  <c:pt idx="6">
                    <c:v>45s</c:v>
                  </c:pt>
                  <c:pt idx="7">
                    <c:v>49s</c:v>
                  </c:pt>
                  <c:pt idx="8">
                    <c:v>52s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Snapdragon X Elite</c:v>
                </c:pt>
              </c:strCache>
            </c:strRef>
          </c:tx>
          <c:spPr>
            <a:solidFill>
              <a:srgbClr val="3253DC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Whisper-S encoder</c:v>
                  </c:pt>
                  <c:pt idx="1">
                    <c:v>Whisper-S decoder / token</c:v>
                  </c:pt>
                  <c:pt idx="2">
                    <c:v>Whisper-Turbo decoder / token</c:v>
                  </c:pt>
                  <c:pt idx="3">
                    <c:v>Silero-VAD / 32 ms chunk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117.1</c:v>
                </c:pt>
                <c:pt idx="1">
                  <c:v>10.47</c:v>
                </c:pt>
                <c:pt idx="2">
                  <c:v>8.53</c:v>
                </c:pt>
                <c:pt idx="3">
                  <c:v>0.068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Snapdragon X2 Elite</c:v>
                </c:pt>
              </c:strCache>
            </c:strRef>
          </c:tx>
          <c:spPr>
            <a:solidFill>
              <a:srgbClr val="D7002A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Whisper-S encoder</c:v>
                  </c:pt>
                  <c:pt idx="1">
                    <c:v>Whisper-S decoder / token</c:v>
                  </c:pt>
                  <c:pt idx="2">
                    <c:v>Whisper-Turbo decoder / token</c:v>
                  </c:pt>
                  <c:pt idx="3">
                    <c:v>Silero-VAD / 32 ms chunk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52.9</c:v>
                </c:pt>
                <c:pt idx="1">
                  <c:v>6.28</c:v>
                </c:pt>
                <c:pt idx="2">
                  <c:v>4.86</c:v>
                </c:pt>
                <c:pt idx="3">
                  <c:v>0.058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3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3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 %</c:v>
                </c:pt>
              </c:strCache>
            </c:strRef>
          </c:tx>
          <c:spPr>
            <a:solidFill>
              <a:srgbClr val="D700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Digital arrest</c:v>
                  </c:pt>
                  <c:pt idx="1">
                    <c:v>KYC / bank</c:v>
                  </c:pt>
                  <c:pt idx="2">
                    <c:v>Lottery</c:v>
                  </c:pt>
                  <c:pt idx="3">
                    <c:v>UPI refund</c:v>
                  </c:pt>
                  <c:pt idx="4">
                    <c:v>Tech support</c:v>
                  </c:pt>
                  <c:pt idx="5">
                    <c:v>Investment / job</c:v>
                  </c:pt>
                  <c:pt idx="6">
                    <c:v>SIM / electricity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84</c:v>
                </c:pt>
                <c:pt idx="5">
                  <c:v>82</c:v>
                </c:pt>
                <c:pt idx="6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%</c:v>
                </c:pt>
              </c:strCache>
            </c:strRef>
          </c:tx>
          <c:spPr>
            <a:solidFill>
              <a:srgbClr val="3253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Seen families</c:v>
                  </c:pt>
                  <c:pt idx="1">
                    <c:v>Unseen scripts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alarm %</c:v>
                </c:pt>
              </c:strCache>
            </c:strRef>
          </c:tx>
          <c:spPr>
            <a:solidFill>
              <a:srgbClr val="D70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Seen families</c:v>
                  </c:pt>
                  <c:pt idx="1">
                    <c:v>Unseen scripts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3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 protected</c:v>
                </c:pt>
              </c:strCache>
            </c:strRef>
          </c:tx>
          <c:spPr>
            <a:solidFill>
              <a:srgbClr val="D700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1,000</c:v>
                  </c:pt>
                  <c:pt idx="1">
                    <c:v>5,000</c:v>
                  </c:pt>
                  <c:pt idx="2">
                    <c:v>10,000</c:v>
                  </c:pt>
                  <c:pt idx="3">
                    <c:v>25,000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15.5</c:v>
                </c:pt>
                <c:pt idx="1">
                  <c:v>77.5</c:v>
                </c:pt>
                <c:pt idx="2">
                  <c:v>155</c:v>
                </c:pt>
                <c:pt idx="3">
                  <c:v>387.5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700" b="0" i="0" u="none" strike="noStrike">
                    <a:solidFill>
                      <a:srgbClr val="000000"/>
                    </a:solidFill>
                    <a:latin typeface="Arial"/>
                  </a:rPr>
                  <a:t>interrupted attempts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13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1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-5.png"/><Relationship Id="rId5" Type="http://schemas.openxmlformats.org/officeDocument/2006/relationships/image" Target="../media/image-11-9.png"/><Relationship Id="rId6" Type="http://schemas.openxmlformats.org/officeDocument/2006/relationships/image" Target="../media/image-11-5.png"/><Relationship Id="rId7" Type="http://schemas.openxmlformats.org/officeDocument/2006/relationships/image" Target="../media/image-15-8.png"/><Relationship Id="rId9" Type="http://schemas.openxmlformats.org/officeDocument/2006/relationships/image" Target="../media/image-1-9.png"/><Relationship Id="rId10" Type="http://schemas.openxmlformats.org/officeDocument/2006/relationships/image" Target="../media/image-1-2.png"/><Relationship Id="rId11" Type="http://schemas.openxmlformats.org/officeDocument/2006/relationships/image" Target="../media/image-2-10.png"/><Relationship Id="rId12" Type="http://schemas.openxmlformats.org/officeDocument/2006/relationships/image" Target="../media/image-11-6.png"/><Relationship Id="rId13" Type="http://schemas.openxmlformats.org/officeDocument/2006/relationships/image" Target="../media/image-11-5.png"/><Relationship Id="rId14" Type="http://schemas.openxmlformats.org/officeDocument/2006/relationships/image" Target="../media/image-1-5.png"/><Relationship Id="rId15" Type="http://schemas.openxmlformats.org/officeDocument/2006/relationships/image" Target="../media/image-12-9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14-6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1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5" Type="http://schemas.openxmlformats.org/officeDocument/2006/relationships/chart" Target="/ppt/charts/chart3.xml"/><Relationship Id="rId6" Type="http://schemas.openxmlformats.org/officeDocument/2006/relationships/chart" Target="/ppt/charts/chart4.xml"/><Relationship Id="rId7" Type="http://schemas.openxmlformats.org/officeDocument/2006/relationships/chart" Target="/ppt/charts/chart5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8" Type="http://schemas.openxmlformats.org/officeDocument/2006/relationships/image" Target="../media/image-3-4.png"/><Relationship Id="rId9" Type="http://schemas.openxmlformats.org/officeDocument/2006/relationships/image" Target="../media/image-3-5.png"/><Relationship Id="rId10" Type="http://schemas.openxmlformats.org/officeDocument/2006/relationships/image" Target="../media/image-1-16.png"/><Relationship Id="rId11" Type="http://schemas.openxmlformats.org/officeDocument/2006/relationships/image" Target="../media/image-1-18.png"/><Relationship Id="rId12" Type="http://schemas.openxmlformats.org/officeDocument/2006/relationships/image" Target="../media/image-3-8.png"/><Relationship Id="rId13" Type="http://schemas.openxmlformats.org/officeDocument/2006/relationships/image" Target="../media/image-13-10.png"/><Relationship Id="rId14" Type="http://schemas.openxmlformats.org/officeDocument/2006/relationships/image" Target="../media/image-1-12.png"/><Relationship Id="rId15" Type="http://schemas.openxmlformats.org/officeDocument/2006/relationships/image" Target="../media/image-2-15.png"/><Relationship Id="rId16" Type="http://schemas.openxmlformats.org/officeDocument/2006/relationships/image" Target="../media/image-10-6.png"/><Relationship Id="rId17" Type="http://schemas.openxmlformats.org/officeDocument/2006/relationships/image" Target="../media/image-3-13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4-6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12-6.png"/><Relationship Id="rId9" Type="http://schemas.openxmlformats.org/officeDocument/2006/relationships/image" Target="../media/image-2-10.png"/><Relationship Id="rId10" Type="http://schemas.openxmlformats.org/officeDocument/2006/relationships/image" Target="../media/image-13-6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5" Type="http://schemas.openxmlformats.org/officeDocument/2006/relationships/image" Target="../media/image-13-10.png"/><Relationship Id="rId6" Type="http://schemas.openxmlformats.org/officeDocument/2006/relationships/image" Target="../media/image-1-12.png"/><Relationship Id="rId7" Type="http://schemas.openxmlformats.org/officeDocument/2006/relationships/image" Target="../media/image-1-4.png"/><Relationship Id="rId8" Type="http://schemas.openxmlformats.org/officeDocument/2006/relationships/image" Target="../media/image-1-13.png"/><Relationship Id="rId9" Type="http://schemas.openxmlformats.org/officeDocument/2006/relationships/image" Target="../media/image-1-14.png"/><Relationship Id="rId10" Type="http://schemas.openxmlformats.org/officeDocument/2006/relationships/image" Target="../media/image-6-9.png"/><Relationship Id="rId11" Type="http://schemas.openxmlformats.org/officeDocument/2006/relationships/image" Target="../media/image-1-8.png"/><Relationship Id="rId12" Type="http://schemas.openxmlformats.org/officeDocument/2006/relationships/image" Target="../media/image-3-4.png"/><Relationship Id="rId13" Type="http://schemas.openxmlformats.org/officeDocument/2006/relationships/image" Target="../media/image-3-5.png"/><Relationship Id="rId14" Type="http://schemas.openxmlformats.org/officeDocument/2006/relationships/image" Target="../media/image-1-9.png"/><Relationship Id="rId15" Type="http://schemas.openxmlformats.org/officeDocument/2006/relationships/image" Target="../media/image-14-10.png"/><Relationship Id="rId16" Type="http://schemas.openxmlformats.org/officeDocument/2006/relationships/image" Target="../media/image-1-1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4-6.png"/><Relationship Id="rId5" Type="http://schemas.openxmlformats.org/officeDocument/2006/relationships/image" Target="../media/image-11-10.png"/><Relationship Id="rId6" Type="http://schemas.openxmlformats.org/officeDocument/2006/relationships/image" Target="../media/image-7-6.png"/><Relationship Id="rId7" Type="http://schemas.openxmlformats.org/officeDocument/2006/relationships/image" Target="../media/image-11-6.png"/><Relationship Id="rId8" Type="http://schemas.openxmlformats.org/officeDocument/2006/relationships/image" Target="../media/image-1-7.png"/><Relationship Id="rId9" Type="http://schemas.openxmlformats.org/officeDocument/2006/relationships/image" Target="../media/image-1-14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5-6.png"/><Relationship Id="rId13" Type="http://schemas.openxmlformats.org/officeDocument/2006/relationships/image" Target="../media/image-7-13.png"/><Relationship Id="rId14" Type="http://schemas.openxmlformats.org/officeDocument/2006/relationships/image" Target="../media/image-12-9.png"/><Relationship Id="rId15" Type="http://schemas.openxmlformats.org/officeDocument/2006/relationships/image" Target="../media/image-1-8.png"/><Relationship Id="rId16" Type="http://schemas.openxmlformats.org/officeDocument/2006/relationships/image" Target="../media/image-1-12.png"/><Relationship Id="rId17" Type="http://schemas.openxmlformats.org/officeDocument/2006/relationships/image" Target="../media/image-11-13.png"/><Relationship Id="rId18" Type="http://schemas.openxmlformats.org/officeDocument/2006/relationships/image" Target="../media/image-1-13.png"/><Relationship Id="rId19" Type="http://schemas.openxmlformats.org/officeDocument/2006/relationships/image" Target="../media/image-1-14.png"/><Relationship Id="rId20" Type="http://schemas.openxmlformats.org/officeDocument/2006/relationships/image" Target="../media/image-6-9.png"/><Relationship Id="rId21" Type="http://schemas.openxmlformats.org/officeDocument/2006/relationships/image" Target="../media/image-10-5.png"/><Relationship Id="rId22" Type="http://schemas.openxmlformats.org/officeDocument/2006/relationships/image" Target="../media/image-14-8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7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-9.png"/><Relationship Id="rId5" Type="http://schemas.openxmlformats.org/officeDocument/2006/relationships/image" Target="../media/image-1-2.png"/><Relationship Id="rId6" Type="http://schemas.openxmlformats.org/officeDocument/2006/relationships/image" Target="../media/image-11-10.png"/><Relationship Id="rId7" Type="http://schemas.openxmlformats.org/officeDocument/2006/relationships/image" Target="../media/image-8-7.png"/><Relationship Id="rId8" Type="http://schemas.openxmlformats.org/officeDocument/2006/relationships/image" Target="../media/image-7-6.png"/><Relationship Id="rId9" Type="http://schemas.openxmlformats.org/officeDocument/2006/relationships/image" Target="../media/image-1-5.png"/><Relationship Id="rId10" Type="http://schemas.openxmlformats.org/officeDocument/2006/relationships/image" Target="../media/image-13-7.png"/><Relationship Id="rId12" Type="http://schemas.openxmlformats.org/officeDocument/2006/relationships/image" Target="../media/image-8-11.jpg"/><Relationship Id="rId13" Type="http://schemas.openxmlformats.org/officeDocument/2006/relationships/image" Target="../media/image-8-12.jpg"/><Relationship Id="rId14" Type="http://schemas.openxmlformats.org/officeDocument/2006/relationships/image" Target="../media/image-13-4.jp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9-4.png"/><Relationship Id="rId5" Type="http://schemas.openxmlformats.org/officeDocument/2006/relationships/image" Target="../media/image-11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5-5.png"/><Relationship Id="rId9" Type="http://schemas.openxmlformats.org/officeDocument/2006/relationships/image" Target="../media/image-9-9.png"/><Relationship Id="rId10" Type="http://schemas.openxmlformats.org/officeDocument/2006/relationships/image" Target="../media/image-1-12.png"/><Relationship Id="rId11" Type="http://schemas.openxmlformats.org/officeDocument/2006/relationships/image" Target="../media/image-1-11.png"/><Relationship Id="rId12" Type="http://schemas.openxmlformats.org/officeDocument/2006/relationships/image" Target="../media/image-5-6.png"/><Relationship Id="rId13" Type="http://schemas.openxmlformats.org/officeDocument/2006/relationships/image" Target="../media/image-12-9.png"/><Relationship Id="rId14" Type="http://schemas.openxmlformats.org/officeDocument/2006/relationships/image" Target="../media/image-1-7.png"/><Relationship Id="rId15" Type="http://schemas.openxmlformats.org/officeDocument/2006/relationships/image" Target="../media/image-1-14.png"/><Relationship Id="rId16" Type="http://schemas.openxmlformats.org/officeDocument/2006/relationships/image" Target="../media/image-1-16.png"/><Relationship Id="rId17" Type="http://schemas.openxmlformats.org/officeDocument/2006/relationships/image" Target="../media/image-1-19.png"/><Relationship Id="rId18" Type="http://schemas.openxmlformats.org/officeDocument/2006/relationships/image" Target="../media/image-1-20.png"/><Relationship Id="rId19" Type="http://schemas.openxmlformats.org/officeDocument/2006/relationships/image" Target="../media/image-9-19.png"/><Relationship Id="rId20" Type="http://schemas.openxmlformats.org/officeDocument/2006/relationships/image" Target="../media/image-16-15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image" Target="../media/image-10-7.png"/><Relationship Id="rId9" Type="http://schemas.openxmlformats.org/officeDocument/2006/relationships/image" Target="../media/image-1-10.png"/><Relationship Id="rId10" Type="http://schemas.openxmlformats.org/officeDocument/2006/relationships/image" Target="../media/image-10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-5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-2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9.xml"/><Relationship Id="rId11" Type="http://schemas.openxmlformats.org/officeDocument/2006/relationships/chart" Target="/ppt/charts/chart10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1-13.png"/><Relationship Id="rId8" Type="http://schemas.openxmlformats.org/officeDocument/2006/relationships/image" Target="../media/image-12-4.png"/><Relationship Id="rId10" Type="http://schemas.openxmlformats.org/officeDocument/2006/relationships/image" Target="../media/image-12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3-4.jpg"/><Relationship Id="rId5" Type="http://schemas.openxmlformats.org/officeDocument/2006/relationships/image" Target="../media/image-10-6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-13.png"/><Relationship Id="rId9" Type="http://schemas.openxmlformats.org/officeDocument/2006/relationships/image" Target="../media/image-1-12.png"/><Relationship Id="rId10" Type="http://schemas.openxmlformats.org/officeDocument/2006/relationships/image" Target="../media/image-13-10.png"/><Relationship Id="rId11" Type="http://schemas.openxmlformats.org/officeDocument/2006/relationships/image" Target="../media/image-12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hart" Target="/ppt/charts/chart11.xml"/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-18.png"/><Relationship Id="rId5" Type="http://schemas.openxmlformats.org/officeDocument/2006/relationships/image" Target="../media/image-1-12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-4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4" Type="http://schemas.openxmlformats.org/officeDocument/2006/relationships/image" Target="../media/image-11-1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image" Target="../media/image-11-14.png"/><Relationship Id="rId5" Type="http://schemas.openxmlformats.org/officeDocument/2006/relationships/image" Target="../media/image-1-12.png"/><Relationship Id="rId6" Type="http://schemas.openxmlformats.org/officeDocument/2006/relationships/image" Target="../media/image-14-12.png"/><Relationship Id="rId7" Type="http://schemas.openxmlformats.org/officeDocument/2006/relationships/image" Target="../media/image-15-12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1-14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1-8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-13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2.png"/><Relationship Id="rId3" Type="http://schemas.openxmlformats.org/officeDocument/2006/relationships/image" Target="../media/image-1-4.png"/><Relationship Id="rId4" Type="http://schemas.openxmlformats.org/officeDocument/2006/relationships/image" Target="../media/image-1-7.png"/><Relationship Id="rId5" Type="http://schemas.openxmlformats.org/officeDocument/2006/relationships/image" Target="../media/image-1-14.png"/><Relationship Id="rId6" Type="http://schemas.openxmlformats.org/officeDocument/2006/relationships/image" Target="../media/image-16-6.png"/><Relationship Id="rId7" Type="http://schemas.openxmlformats.org/officeDocument/2006/relationships/image" Target="../media/image-1-20.png"/><Relationship Id="rId8" Type="http://schemas.openxmlformats.org/officeDocument/2006/relationships/image" Target="../media/image-1-15.png"/><Relationship Id="rId9" Type="http://schemas.openxmlformats.org/officeDocument/2006/relationships/image" Target="../media/image-1-14.png"/><Relationship Id="rId10" Type="http://schemas.openxmlformats.org/officeDocument/2006/relationships/image" Target="../media/image-1-16.png"/><Relationship Id="rId11" Type="http://schemas.openxmlformats.org/officeDocument/2006/relationships/image" Target="../media/image-1-17.png"/><Relationship Id="rId12" Type="http://schemas.openxmlformats.org/officeDocument/2006/relationships/image" Target="../media/image-1-18.png"/><Relationship Id="rId13" Type="http://schemas.openxmlformats.org/officeDocument/2006/relationships/image" Target="../media/image-1-19.png"/><Relationship Id="rId14" Type="http://schemas.openxmlformats.org/officeDocument/2006/relationships/image" Target="../media/image-1-20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-16.png"/><Relationship Id="rId3" Type="http://schemas.openxmlformats.org/officeDocument/2006/relationships/image" Target="../media/image-1-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097280"/>
            <a:ext cx="7589520" cy="758952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5120640"/>
            <a:ext cx="4023360" cy="4023360"/>
          </a:xfrm>
          <a:prstGeom prst="ellipse">
            <a:avLst/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pic>
        <p:nvPicPr>
          <p:cNvPr id="4" name="Image 0" descr="/home/claude/deck/hero_circle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4937760" cy="49377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005840" cy="10058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8640"/>
            <a:ext cx="411480" cy="4114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502920"/>
            <a:ext cx="960120" cy="96012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480560"/>
            <a:ext cx="914400" cy="91440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754880"/>
            <a:ext cx="822960" cy="82296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5440680"/>
            <a:ext cx="731520" cy="731520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5440680"/>
            <a:ext cx="868680" cy="86868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2743200"/>
            <a:ext cx="731520" cy="731520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6309360" y="41148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14" name="Text 3"/>
          <p:cNvSpPr txBox="1"/>
          <p:nvPr/>
        </p:nvSpPr>
        <p:spPr>
          <a:xfrm>
            <a:off x="6400800" y="411480"/>
            <a:ext cx="53949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AI Lab  |  Build &amp; Present Challenge 2026</a:t>
            </a:r>
            <a:endParaRPr lang="en-US" sz="1150" dirty="0"/>
          </a:p>
        </p:txBody>
      </p:sp>
      <p:sp>
        <p:nvSpPr>
          <p:cNvPr id="15" name="Text 4"/>
          <p:cNvSpPr txBox="1"/>
          <p:nvPr/>
        </p:nvSpPr>
        <p:spPr>
          <a:xfrm>
            <a:off x="6309360" y="10058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5000" dirty="0"/>
          </a:p>
        </p:txBody>
      </p:sp>
      <p:sp>
        <p:nvSpPr>
          <p:cNvPr id="16" name="Text 5"/>
          <p:cNvSpPr txBox="1"/>
          <p:nvPr/>
        </p:nvSpPr>
        <p:spPr>
          <a:xfrm>
            <a:off x="6309360" y="18288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सजग</a:t>
            </a:r>
            <a:pPr indent="0" marL="0">
              <a:buNone/>
            </a:pPr>
            <a:r>
              <a:rPr lang="en-US" sz="1500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alert, vigilant</a:t>
            </a:r>
            <a:endParaRPr lang="en-US" sz="1500" dirty="0"/>
          </a:p>
        </p:txBody>
      </p:sp>
      <p:sp>
        <p:nvSpPr>
          <p:cNvPr id="17" name="Text 6"/>
          <p:cNvSpPr txBox="1"/>
          <p:nvPr/>
        </p:nvSpPr>
        <p:spPr>
          <a:xfrm>
            <a:off x="630936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on-device, multimodal scam shield for Snapdragon-powered HP AI PCs</a:t>
            </a:r>
            <a:endParaRPr lang="en-US" sz="1900" dirty="0"/>
          </a:p>
        </p:txBody>
      </p:sp>
      <p:sp>
        <p:nvSpPr>
          <p:cNvPr id="18" name="Shape 7"/>
          <p:cNvSpPr/>
          <p:nvPr/>
        </p:nvSpPr>
        <p:spPr>
          <a:xfrm>
            <a:off x="6309360" y="3017520"/>
            <a:ext cx="5669280" cy="566928"/>
          </a:xfrm>
          <a:prstGeom prst="roundRect">
            <a:avLst>
              <a:gd name="adj" fmla="val 11290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090672"/>
            <a:ext cx="411480" cy="41148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6858000" y="3017520"/>
            <a:ext cx="50749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scam on screen.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Hears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 the call.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before money moves. Nothing leaves the PC.</a:t>
            </a:r>
            <a:endParaRPr lang="en-US" sz="1100" dirty="0"/>
          </a:p>
        </p:txBody>
      </p:sp>
      <p:sp>
        <p:nvSpPr>
          <p:cNvPr id="21" name="Shape 9"/>
          <p:cNvSpPr/>
          <p:nvPr/>
        </p:nvSpPr>
        <p:spPr>
          <a:xfrm>
            <a:off x="6309360" y="3730752"/>
            <a:ext cx="277977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822192"/>
            <a:ext cx="438912" cy="438912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6912864" y="373075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models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 path</a:t>
            </a:r>
            <a:endParaRPr lang="en-US" sz="1250" dirty="0"/>
          </a:p>
        </p:txBody>
      </p:sp>
      <p:sp>
        <p:nvSpPr>
          <p:cNvPr id="24" name="Shape 11"/>
          <p:cNvSpPr/>
          <p:nvPr/>
        </p:nvSpPr>
        <p:spPr>
          <a:xfrm>
            <a:off x="9180576" y="3730752"/>
            <a:ext cx="277977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2016" y="3822192"/>
            <a:ext cx="438912" cy="438912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9784080" y="373075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| हिन्दी | Hinglish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+ screen</a:t>
            </a:r>
            <a:endParaRPr lang="en-US" sz="1250" dirty="0"/>
          </a:p>
        </p:txBody>
      </p:sp>
      <p:sp>
        <p:nvSpPr>
          <p:cNvPr id="27" name="Shape 13"/>
          <p:cNvSpPr/>
          <p:nvPr/>
        </p:nvSpPr>
        <p:spPr>
          <a:xfrm>
            <a:off x="6309360" y="4443984"/>
            <a:ext cx="277977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535424"/>
            <a:ext cx="438912" cy="438912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6912864" y="444398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cloud, zero upload</a:t>
            </a:r>
            <a:endParaRPr lang="en-US" sz="1250" dirty="0"/>
          </a:p>
        </p:txBody>
      </p:sp>
      <p:sp>
        <p:nvSpPr>
          <p:cNvPr id="30" name="Shape 15"/>
          <p:cNvSpPr/>
          <p:nvPr/>
        </p:nvSpPr>
        <p:spPr>
          <a:xfrm>
            <a:off x="9180576" y="4443984"/>
            <a:ext cx="277977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2016" y="4535424"/>
            <a:ext cx="438912" cy="438912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9784080" y="444398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report</a:t>
            </a:r>
            <a:endParaRPr lang="en-US" sz="1250" dirty="0"/>
          </a:p>
          <a:p>
            <a:pPr indent="0" marL="0">
              <a:buNone/>
            </a:pPr>
            <a:r>
              <a:rPr lang="en-US" sz="8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complaint</a:t>
            </a:r>
            <a:endParaRPr lang="en-US" sz="1250" dirty="0"/>
          </a:p>
        </p:txBody>
      </p:sp>
      <p:sp>
        <p:nvSpPr>
          <p:cNvPr id="33" name="Shape 17"/>
          <p:cNvSpPr/>
          <p:nvPr/>
        </p:nvSpPr>
        <p:spPr>
          <a:xfrm>
            <a:off x="6309360" y="521208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9088" y="5303520"/>
            <a:ext cx="685800" cy="685800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7223760" y="5212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Sahare</a:t>
            </a:r>
            <a:endParaRPr lang="en-US" sz="1600" dirty="0"/>
          </a:p>
          <a:p>
            <a:pPr indent="0" marL="0">
              <a:buNone/>
            </a:pPr>
            <a:r>
              <a:rPr lang="en-US" sz="950" dirty="0">
                <a:solidFill>
                  <a:srgbClr val="FF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Aerospace Engineering, IIT Kanpur  |  Individual entry</a:t>
            </a:r>
            <a:endParaRPr lang="en-US" sz="160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github.com/tanmaysahare/sajag-ai</a:t>
            </a:r>
            <a:endParaRPr lang="en-US" sz="1600" dirty="0"/>
          </a:p>
        </p:txBody>
      </p:sp>
      <p:sp>
        <p:nvSpPr>
          <p:cNvPr id="36" name="Shape 19"/>
          <p:cNvSpPr/>
          <p:nvPr/>
        </p:nvSpPr>
        <p:spPr>
          <a:xfrm>
            <a:off x="6309360" y="6199632"/>
            <a:ext cx="56692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520" y="6309360"/>
            <a:ext cx="1005840" cy="237744"/>
          </a:xfrm>
          <a:prstGeom prst="rect">
            <a:avLst/>
          </a:prstGeom>
        </p:spPr>
      </p:pic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240" y="6254496"/>
            <a:ext cx="347472" cy="347472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83880" y="6291072"/>
            <a:ext cx="274320" cy="274320"/>
          </a:xfrm>
          <a:prstGeom prst="rect">
            <a:avLst/>
          </a:prstGeom>
        </p:spPr>
      </p:pic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41080" y="6272784"/>
            <a:ext cx="310896" cy="310896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25712" y="6272784"/>
            <a:ext cx="310896" cy="310896"/>
          </a:xfrm>
          <a:prstGeom prst="rect">
            <a:avLst/>
          </a:prstGeom>
        </p:spPr>
      </p:pic>
      <p:sp>
        <p:nvSpPr>
          <p:cNvPr id="42" name="Text 20"/>
          <p:cNvSpPr txBox="1"/>
          <p:nvPr/>
        </p:nvSpPr>
        <p:spPr>
          <a:xfrm>
            <a:off x="9509760" y="6199632"/>
            <a:ext cx="2423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Snapdragon X / X2 Elite HP AI PCs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now happen live, on the PC screen and the call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defence acts before or after the call. Nothing guards the moment it happens.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2862072" cy="731520"/>
          </a:xfrm>
          <a:prstGeom prst="roundRect">
            <a:avLst>
              <a:gd name="adj" fmla="val 8750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71016"/>
            <a:ext cx="566928" cy="56692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41832" y="121615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₹22,845 cr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cyber fraud in 2024, +206% vs 2023 (MHA)</a:t>
            </a:r>
            <a:endParaRPr lang="en-US" sz="1700" dirty="0"/>
          </a:p>
        </p:txBody>
      </p:sp>
      <p:sp>
        <p:nvSpPr>
          <p:cNvPr id="43" name="Shape 37"/>
          <p:cNvSpPr/>
          <p:nvPr/>
        </p:nvSpPr>
        <p:spPr>
          <a:xfrm>
            <a:off x="3163824" y="1188720"/>
            <a:ext cx="2862072" cy="731520"/>
          </a:xfrm>
          <a:prstGeom prst="roundRect">
            <a:avLst>
              <a:gd name="adj" fmla="val 8750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264" y="1271016"/>
            <a:ext cx="566928" cy="56692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3877056" y="121615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1,23,672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digital-arrest cases in 2024, ₹1,918 cr lost (I4C)</a:t>
            </a:r>
            <a:endParaRPr lang="en-US" sz="1700" dirty="0"/>
          </a:p>
        </p:txBody>
      </p:sp>
      <p:sp>
        <p:nvSpPr>
          <p:cNvPr id="46" name="Shape 39"/>
          <p:cNvSpPr/>
          <p:nvPr/>
        </p:nvSpPr>
        <p:spPr>
          <a:xfrm>
            <a:off x="6099048" y="1188720"/>
            <a:ext cx="2862072" cy="731520"/>
          </a:xfrm>
          <a:prstGeom prst="roundRect">
            <a:avLst>
              <a:gd name="adj" fmla="val 8750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271016"/>
            <a:ext cx="566928" cy="566928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6812280" y="121615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 10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met a tech-support scam in a year, highest globally (Microsoft)</a:t>
            </a:r>
            <a:endParaRPr lang="en-US" sz="1700" dirty="0"/>
          </a:p>
        </p:txBody>
      </p:sp>
      <p:sp>
        <p:nvSpPr>
          <p:cNvPr id="49" name="Shape 41"/>
          <p:cNvSpPr/>
          <p:nvPr/>
        </p:nvSpPr>
        <p:spPr>
          <a:xfrm>
            <a:off x="9034272" y="1188720"/>
            <a:ext cx="2926080" cy="731520"/>
          </a:xfrm>
          <a:prstGeom prst="roundRect">
            <a:avLst>
              <a:gd name="adj" fmla="val 8750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1271016"/>
            <a:ext cx="566928" cy="566928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9747504" y="1216152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faced or know someone who faced an AI voice-clone scam (McAfee)</a:t>
            </a:r>
            <a:endParaRPr lang="en-US" sz="1700" dirty="0"/>
          </a:p>
        </p:txBody>
      </p:sp>
      <p:sp>
        <p:nvSpPr>
          <p:cNvPr id="52" name="Shape 43"/>
          <p:cNvSpPr/>
          <p:nvPr/>
        </p:nvSpPr>
        <p:spPr>
          <a:xfrm>
            <a:off x="228600" y="2011680"/>
            <a:ext cx="292608" cy="2926080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 rot="16200000">
            <a:off x="-1088136" y="33284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548640" y="2011680"/>
            <a:ext cx="393192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640080" y="207568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640080" y="2075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arrest: fewer cases, bigger losses</a:t>
            </a:r>
            <a:endParaRPr lang="en-US" sz="9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594360" y="2377440"/>
          <a:ext cx="38404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13048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594360"/>
                <a:gridCol w="594360"/>
                <a:gridCol w="594360"/>
              </a:tblGrid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(₹ crore)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1,918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loss / case (₹ lakh)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5.59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59" name="Text 48"/>
          <p:cNvSpPr txBox="1"/>
          <p:nvPr/>
        </p:nvSpPr>
        <p:spPr>
          <a:xfrm>
            <a:off x="640080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cut 2025 cases by 86%, yet each victim lost 2.4x more. Warnings work; they must land during the call.</a:t>
            </a:r>
            <a:endParaRPr lang="en-US" sz="760" dirty="0"/>
          </a:p>
        </p:txBody>
      </p:sp>
      <p:sp>
        <p:nvSpPr>
          <p:cNvPr id="60" name="Shape 49"/>
          <p:cNvSpPr/>
          <p:nvPr/>
        </p:nvSpPr>
        <p:spPr>
          <a:xfrm>
            <a:off x="4572000" y="2011680"/>
            <a:ext cx="3611880" cy="2926080"/>
          </a:xfrm>
          <a:prstGeom prst="roundRect">
            <a:avLst>
              <a:gd name="adj" fmla="val 2188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4663440" y="2075688"/>
            <a:ext cx="342900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4663440" y="2075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 scam kill chain</a:t>
            </a:r>
            <a:endParaRPr lang="en-US" sz="9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8" y="2395728"/>
            <a:ext cx="365760" cy="365760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5102352" y="2377440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Contact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Skype video call or a full-screen browser pop-up</a:t>
            </a:r>
            <a:endParaRPr lang="en-US" sz="77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28" y="2816352"/>
            <a:ext cx="365760" cy="365760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5102352" y="2798064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Authority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'CBI', 'Mumbai Police', 'Microsoft support', fake warrant</a:t>
            </a:r>
            <a:endParaRPr lang="en-US" sz="77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1728" y="3236976"/>
            <a:ext cx="365760" cy="36576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5102352" y="3218688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Fear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drugs in your parcel, Aadhaar misused, PC infected</a:t>
            </a:r>
            <a:endParaRPr lang="en-US" sz="77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1728" y="3657600"/>
            <a:ext cx="365760" cy="365760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5102352" y="3639312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Isolation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on camera, tell no one, do not disconnect</a:t>
            </a:r>
            <a:endParaRPr lang="en-US" sz="77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81728" y="4078224"/>
            <a:ext cx="365760" cy="365760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5102352" y="4059936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Control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AnyDesk / TeamViewer, share screen</a:t>
            </a:r>
            <a:endParaRPr lang="en-US" sz="770" dirty="0"/>
          </a:p>
        </p:txBody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81728" y="4498848"/>
            <a:ext cx="365760" cy="365760"/>
          </a:xfrm>
          <a:prstGeom prst="rect">
            <a:avLst/>
          </a:prstGeom>
        </p:spPr>
      </p:pic>
      <p:sp>
        <p:nvSpPr>
          <p:cNvPr id="74" name="Text 57"/>
          <p:cNvSpPr txBox="1"/>
          <p:nvPr/>
        </p:nvSpPr>
        <p:spPr>
          <a:xfrm>
            <a:off x="5102352" y="4480560"/>
            <a:ext cx="3017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Money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savings to an 'RBI safe account', read OTP</a:t>
            </a:r>
            <a:endParaRPr lang="en-US" sz="770" dirty="0"/>
          </a:p>
        </p:txBody>
      </p:sp>
      <p:sp>
        <p:nvSpPr>
          <p:cNvPr id="75" name="Shape 58"/>
          <p:cNvSpPr/>
          <p:nvPr/>
        </p:nvSpPr>
        <p:spPr>
          <a:xfrm>
            <a:off x="8275320" y="2011680"/>
            <a:ext cx="368503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76" name="Shape 59"/>
          <p:cNvSpPr/>
          <p:nvPr/>
        </p:nvSpPr>
        <p:spPr>
          <a:xfrm>
            <a:off x="8366760" y="2075688"/>
            <a:ext cx="350215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77" name="Text 60"/>
          <p:cNvSpPr txBox="1"/>
          <p:nvPr/>
        </p:nvSpPr>
        <p:spPr>
          <a:xfrm>
            <a:off x="8366760" y="207568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defences miss it</a:t>
            </a:r>
            <a:endParaRPr lang="en-US" sz="9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414016"/>
          <a:ext cx="350215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640080"/>
                <a:gridCol w="640080"/>
                <a:gridCol w="6400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 ads, caller tunes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SMS: 'never share OTP'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Spam caller-ID apps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scareware blockers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1930 / cybercrime.gov.in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 AI (on-device)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</a:tr>
            </a:tbl>
          </a:graphicData>
        </a:graphic>
      </p:graphicFrame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6760" y="4224528"/>
            <a:ext cx="384048" cy="384048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877824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on-device AI can watch the call and the screen without uploading them. Sajag also prepares the 1930 complaint after the call.</a:t>
            </a:r>
            <a:endParaRPr lang="en-US" sz="750" dirty="0"/>
          </a:p>
        </p:txBody>
      </p:sp>
      <p:sp>
        <p:nvSpPr>
          <p:cNvPr id="81" name="Shape 62"/>
          <p:cNvSpPr/>
          <p:nvPr/>
        </p:nvSpPr>
        <p:spPr>
          <a:xfrm>
            <a:off x="228600" y="5029200"/>
            <a:ext cx="292608" cy="1508760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2" name="Text 63"/>
          <p:cNvSpPr txBox="1"/>
          <p:nvPr/>
        </p:nvSpPr>
        <p:spPr>
          <a:xfrm rot="16200000">
            <a:off x="-379476" y="563727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Victims</a:t>
            </a:r>
            <a:endParaRPr lang="en-US" sz="1050" dirty="0"/>
          </a:p>
        </p:txBody>
      </p:sp>
      <p:sp>
        <p:nvSpPr>
          <p:cNvPr id="83" name="Shape 64"/>
          <p:cNvSpPr/>
          <p:nvPr/>
        </p:nvSpPr>
        <p:spPr>
          <a:xfrm>
            <a:off x="548640" y="5029200"/>
            <a:ext cx="7635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84" name="Shape 65"/>
          <p:cNvSpPr/>
          <p:nvPr/>
        </p:nvSpPr>
        <p:spPr>
          <a:xfrm>
            <a:off x="640080" y="5084064"/>
            <a:ext cx="7452360" cy="237744"/>
          </a:xfrm>
          <a:prstGeom prst="roundRect">
            <a:avLst>
              <a:gd name="adj" fmla="val 19231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5" name="Text 66"/>
          <p:cNvSpPr txBox="1"/>
          <p:nvPr/>
        </p:nvSpPr>
        <p:spPr>
          <a:xfrm>
            <a:off x="640080" y="5084064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files: what the news reports (real cases, 2025)</a:t>
            </a:r>
            <a:endParaRPr lang="en-US" sz="850" dirty="0"/>
          </a:p>
        </p:txBody>
      </p:sp>
      <p:pic>
        <p:nvPicPr>
          <p:cNvPr id="8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5394960"/>
            <a:ext cx="420624" cy="420624"/>
          </a:xfrm>
          <a:prstGeom prst="rect">
            <a:avLst/>
          </a:prstGeom>
        </p:spPr>
      </p:pic>
      <p:sp>
        <p:nvSpPr>
          <p:cNvPr id="87" name="Text 67"/>
          <p:cNvSpPr txBox="1"/>
          <p:nvPr/>
        </p:nvSpPr>
        <p:spPr>
          <a:xfrm>
            <a:off x="1069848" y="5358384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endParaRPr lang="en-US" sz="72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lost ₹102 crore to cyber fraud in 19 months</a:t>
            </a:r>
            <a:endParaRPr lang="en-US" sz="720" dirty="0"/>
          </a:p>
        </p:txBody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39696" y="5394960"/>
            <a:ext cx="420624" cy="420624"/>
          </a:xfrm>
          <a:prstGeom prst="rect">
            <a:avLst/>
          </a:prstGeom>
        </p:spPr>
      </p:pic>
      <p:sp>
        <p:nvSpPr>
          <p:cNvPr id="89" name="Text 68"/>
          <p:cNvSpPr txBox="1"/>
          <p:nvPr/>
        </p:nvSpPr>
        <p:spPr>
          <a:xfrm>
            <a:off x="2569464" y="5358384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</a:t>
            </a:r>
            <a:endParaRPr lang="en-US" sz="72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₹1,250 crore stolen in one year; digital arrests drain savings</a:t>
            </a:r>
            <a:endParaRPr lang="en-US" sz="720" dirty="0"/>
          </a:p>
        </p:txBody>
      </p:sp>
      <p:pic>
        <p:nvPicPr>
          <p:cNvPr id="9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39312" y="5394960"/>
            <a:ext cx="420624" cy="420624"/>
          </a:xfrm>
          <a:prstGeom prst="rect">
            <a:avLst/>
          </a:prstGeom>
        </p:spPr>
      </p:pic>
      <p:sp>
        <p:nvSpPr>
          <p:cNvPr id="91" name="Text 69"/>
          <p:cNvSpPr txBox="1"/>
          <p:nvPr/>
        </p:nvSpPr>
        <p:spPr>
          <a:xfrm>
            <a:off x="4069080" y="5358384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</a:t>
            </a:r>
            <a:endParaRPr lang="en-US" sz="72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woman loses ₹2.5 crore to a digital arrest</a:t>
            </a:r>
            <a:endParaRPr lang="en-US" sz="720" dirty="0"/>
          </a:p>
        </p:txBody>
      </p:sp>
      <p:pic>
        <p:nvPicPr>
          <p:cNvPr id="92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38928" y="5394960"/>
            <a:ext cx="420624" cy="420624"/>
          </a:xfrm>
          <a:prstGeom prst="rect">
            <a:avLst/>
          </a:prstGeom>
        </p:spPr>
      </p:pic>
      <p:sp>
        <p:nvSpPr>
          <p:cNvPr id="93" name="Text 70"/>
          <p:cNvSpPr txBox="1"/>
          <p:nvPr/>
        </p:nvSpPr>
        <p:spPr>
          <a:xfrm>
            <a:off x="5568696" y="5358384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endParaRPr lang="en-US" sz="72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2025 cyber-fraud victims were senior citizens</a:t>
            </a:r>
            <a:endParaRPr lang="en-US" sz="720" dirty="0"/>
          </a:p>
        </p:txBody>
      </p:sp>
      <p:pic>
        <p:nvPicPr>
          <p:cNvPr id="94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8544" y="5394960"/>
            <a:ext cx="420624" cy="420624"/>
          </a:xfrm>
          <a:prstGeom prst="rect">
            <a:avLst/>
          </a:prstGeom>
        </p:spPr>
      </p:pic>
      <p:sp>
        <p:nvSpPr>
          <p:cNvPr id="95" name="Text 71"/>
          <p:cNvSpPr txBox="1"/>
          <p:nvPr/>
        </p:nvSpPr>
        <p:spPr>
          <a:xfrm>
            <a:off x="7068312" y="5358384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Indore</a:t>
            </a:r>
            <a:endParaRPr lang="en-US" sz="72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₹100 crore lost in 2025; seniors targeted</a:t>
            </a:r>
            <a:endParaRPr lang="en-US" sz="720" dirty="0"/>
          </a:p>
        </p:txBody>
      </p:sp>
      <p:sp>
        <p:nvSpPr>
          <p:cNvPr id="96" name="Shape 72"/>
          <p:cNvSpPr/>
          <p:nvPr/>
        </p:nvSpPr>
        <p:spPr>
          <a:xfrm>
            <a:off x="640080" y="6144768"/>
            <a:ext cx="7452360" cy="347472"/>
          </a:xfrm>
          <a:prstGeom prst="roundRect">
            <a:avLst>
              <a:gd name="adj" fmla="val 13158"/>
            </a:avLst>
          </a:prstGeom>
          <a:solidFill>
            <a:srgbClr val="FDECEF"/>
          </a:solidFill>
          <a:ln w="9525">
            <a:solidFill>
              <a:srgbClr val="D7002A"/>
            </a:solidFill>
            <a:prstDash val="solid"/>
          </a:ln>
        </p:spPr>
      </p:sp>
      <p:sp>
        <p:nvSpPr>
          <p:cNvPr id="97" name="Text 73"/>
          <p:cNvSpPr txBox="1"/>
          <p:nvPr/>
        </p:nvSpPr>
        <p:spPr>
          <a:xfrm>
            <a:off x="713232" y="6144768"/>
            <a:ext cx="73152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thread: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followed the same script of authority, fear, isolation, remote control and money, mostly against people over 60.</a:t>
            </a:r>
            <a:endParaRPr lang="en-US" sz="780" dirty="0"/>
          </a:p>
        </p:txBody>
      </p:sp>
      <p:sp>
        <p:nvSpPr>
          <p:cNvPr id="98" name="Shape 74"/>
          <p:cNvSpPr/>
          <p:nvPr/>
        </p:nvSpPr>
        <p:spPr>
          <a:xfrm>
            <a:off x="8275320" y="5029200"/>
            <a:ext cx="3685032" cy="1508760"/>
          </a:xfrm>
          <a:prstGeom prst="roundRect">
            <a:avLst>
              <a:gd name="adj" fmla="val 4242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99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66760" y="5138928"/>
            <a:ext cx="457200" cy="457200"/>
          </a:xfrm>
          <a:prstGeom prst="rect">
            <a:avLst/>
          </a:prstGeom>
        </p:spPr>
      </p:pic>
      <p:sp>
        <p:nvSpPr>
          <p:cNvPr id="100" name="Text 75"/>
          <p:cNvSpPr txBox="1"/>
          <p:nvPr/>
        </p:nvSpPr>
        <p:spPr>
          <a:xfrm>
            <a:off x="8869680" y="5074920"/>
            <a:ext cx="3044952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b="1" dirty="0">
                <a:solidFill>
                  <a:srgbClr val="F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8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are being defrauded live on their own PCs in Hindi, English and Hinglish. The victim sees and hears every signal but, isolated and afraid, cannot act. They need a private guardian that understands the call and the screen together, in real time.</a:t>
            </a:r>
            <a:endParaRPr lang="en-US" sz="860" dirty="0"/>
          </a:p>
        </p:txBody>
      </p:sp>
      <p:sp>
        <p:nvSpPr>
          <p:cNvPr id="101" name="Text 76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synthesis: 156 sources, one clear gap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research: MHA, I4C, RBI, NPCI, Microsoft, Google, McAfee, IDC, arXiv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58521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566928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exposed are Indian users?</a:t>
            </a:r>
            <a:endParaRPr lang="en-US" sz="9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320040" y="1600200"/>
          <a:ext cx="12344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4" name="Text 38"/>
          <p:cNvSpPr txBox="1"/>
          <p:nvPr/>
        </p:nvSpPr>
        <p:spPr>
          <a:xfrm>
            <a:off x="320040" y="2011680"/>
            <a:ext cx="1234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1581912" y="1737360"/>
            <a:ext cx="157276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a tech-support scam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 10 consumers in one year, highest of 16 countries surveyed (Microsoft, 2021)</a:t>
            </a:r>
            <a:endParaRPr lang="en-US" sz="760" dirty="0"/>
          </a:p>
        </p:txBody>
      </p:sp>
      <p:graphicFrame>
        <p:nvGraphicFramePr>
          <p:cNvPr id="46" name="Chart 1" descr=""/>
          <p:cNvGraphicFramePr/>
          <p:nvPr/>
        </p:nvGraphicFramePr>
        <p:xfrm>
          <a:off x="3154680" y="1600200"/>
          <a:ext cx="12344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7" name="Text 40"/>
          <p:cNvSpPr txBox="1"/>
          <p:nvPr/>
        </p:nvSpPr>
        <p:spPr>
          <a:xfrm>
            <a:off x="3154680" y="2011680"/>
            <a:ext cx="1234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500" dirty="0"/>
          </a:p>
        </p:txBody>
      </p:sp>
      <p:sp>
        <p:nvSpPr>
          <p:cNvPr id="48" name="Text 41"/>
          <p:cNvSpPr txBox="1"/>
          <p:nvPr/>
        </p:nvSpPr>
        <p:spPr>
          <a:xfrm>
            <a:off x="4416552" y="1737360"/>
            <a:ext cx="157276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voice-clone scam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faced one or know someone who did (McAfee, 2023)</a:t>
            </a:r>
            <a:endParaRPr lang="en-US" sz="760" dirty="0"/>
          </a:p>
        </p:txBody>
      </p:sp>
      <p:graphicFrame>
        <p:nvGraphicFramePr>
          <p:cNvPr id="49" name="Chart 2" descr=""/>
          <p:cNvGraphicFramePr/>
          <p:nvPr/>
        </p:nvGraphicFramePr>
        <p:xfrm>
          <a:off x="320040" y="2743200"/>
          <a:ext cx="12344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0" name="Text 42"/>
          <p:cNvSpPr txBox="1"/>
          <p:nvPr/>
        </p:nvSpPr>
        <p:spPr>
          <a:xfrm>
            <a:off x="320040" y="3154680"/>
            <a:ext cx="1234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500" dirty="0"/>
          </a:p>
        </p:txBody>
      </p:sp>
      <p:sp>
        <p:nvSpPr>
          <p:cNvPr id="51" name="Text 43"/>
          <p:cNvSpPr txBox="1"/>
          <p:nvPr/>
        </p:nvSpPr>
        <p:spPr>
          <a:xfrm>
            <a:off x="1581912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digital-arrest cases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vs 2024 after SMS and caller-tune awareness (MHA data)</a:t>
            </a:r>
            <a:endParaRPr lang="en-US" sz="760" dirty="0"/>
          </a:p>
        </p:txBody>
      </p:sp>
      <p:graphicFrame>
        <p:nvGraphicFramePr>
          <p:cNvPr id="52" name="Chart 3" descr=""/>
          <p:cNvGraphicFramePr/>
          <p:nvPr/>
        </p:nvGraphicFramePr>
        <p:xfrm>
          <a:off x="3154680" y="2743200"/>
          <a:ext cx="12344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3" name="Text 44"/>
          <p:cNvSpPr txBox="1"/>
          <p:nvPr/>
        </p:nvSpPr>
        <p:spPr>
          <a:xfrm>
            <a:off x="3154680" y="3154680"/>
            <a:ext cx="1234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500" dirty="0"/>
          </a:p>
        </p:txBody>
      </p:sp>
      <p:sp>
        <p:nvSpPr>
          <p:cNvPr id="54" name="Text 45"/>
          <p:cNvSpPr txBox="1"/>
          <p:nvPr/>
        </p:nvSpPr>
        <p:spPr>
          <a:xfrm>
            <a:off x="4416552" y="2880360"/>
            <a:ext cx="157276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digital-arrest losses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₹1,918 cr to ₹644 cr: timely warnings work (MHA data)</a:t>
            </a:r>
            <a:endParaRPr lang="en-US" sz="760" dirty="0"/>
          </a:p>
        </p:txBody>
      </p:sp>
      <p:sp>
        <p:nvSpPr>
          <p:cNvPr id="55" name="Shape 46"/>
          <p:cNvSpPr/>
          <p:nvPr/>
        </p:nvSpPr>
        <p:spPr>
          <a:xfrm>
            <a:off x="6172200" y="1188720"/>
            <a:ext cx="5788152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6263640" y="1252728"/>
            <a:ext cx="560527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6263640" y="1252728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the market is moving on-device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6263640" y="1581912"/>
            <a:ext cx="5605272" cy="402336"/>
          </a:xfrm>
          <a:prstGeom prst="roundRect">
            <a:avLst>
              <a:gd name="adj" fmla="val 15909"/>
            </a:avLst>
          </a:prstGeom>
          <a:solidFill>
            <a:srgbClr val="FFFBF5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1636776"/>
            <a:ext cx="292608" cy="292608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7178040" y="1581912"/>
            <a:ext cx="46634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Edge: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a local ML scareware blocker (2025): browser pages only</a:t>
            </a:r>
            <a:endParaRPr lang="en-US" sz="770" dirty="0"/>
          </a:p>
        </p:txBody>
      </p:sp>
      <p:sp>
        <p:nvSpPr>
          <p:cNvPr id="61" name="Shape 51"/>
          <p:cNvSpPr/>
          <p:nvPr/>
        </p:nvSpPr>
        <p:spPr>
          <a:xfrm>
            <a:off x="6263640" y="2029968"/>
            <a:ext cx="560527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2084832"/>
            <a:ext cx="292608" cy="292608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7178040" y="2029968"/>
            <a:ext cx="46634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Gemini Nano scam detection in Chrome and Android, India Safety Charter (2025)</a:t>
            </a:r>
            <a:endParaRPr lang="en-US" sz="770" dirty="0"/>
          </a:p>
        </p:txBody>
      </p:sp>
      <p:sp>
        <p:nvSpPr>
          <p:cNvPr id="64" name="Shape 53"/>
          <p:cNvSpPr/>
          <p:nvPr/>
        </p:nvSpPr>
        <p:spPr>
          <a:xfrm>
            <a:off x="6263640" y="2478024"/>
            <a:ext cx="5605272" cy="402336"/>
          </a:xfrm>
          <a:prstGeom prst="roundRect">
            <a:avLst>
              <a:gd name="adj" fmla="val 15909"/>
            </a:avLst>
          </a:prstGeom>
          <a:solidFill>
            <a:srgbClr val="FFFBF5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2532888"/>
            <a:ext cx="731520" cy="173736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7178040" y="2478024"/>
            <a:ext cx="46634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X / X2: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to 80+ TOPS Hexagon NPU in HP AI PCs; AI Hub ships Whisper, VAD, LLMs pre-compiled</a:t>
            </a:r>
            <a:endParaRPr lang="en-US" sz="770" dirty="0"/>
          </a:p>
        </p:txBody>
      </p:sp>
      <p:sp>
        <p:nvSpPr>
          <p:cNvPr id="67" name="Shape 55"/>
          <p:cNvSpPr/>
          <p:nvPr/>
        </p:nvSpPr>
        <p:spPr>
          <a:xfrm>
            <a:off x="6263640" y="2926080"/>
            <a:ext cx="560527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2980944"/>
            <a:ext cx="292608" cy="292608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7178040" y="2926080"/>
            <a:ext cx="46634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Copilot+ PCs: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AI stack expects NPU-first apps</a:t>
            </a:r>
            <a:endParaRPr lang="en-US" sz="770" dirty="0"/>
          </a:p>
        </p:txBody>
      </p:sp>
      <p:sp>
        <p:nvSpPr>
          <p:cNvPr id="70" name="Shape 57"/>
          <p:cNvSpPr/>
          <p:nvPr/>
        </p:nvSpPr>
        <p:spPr>
          <a:xfrm>
            <a:off x="6263640" y="3401568"/>
            <a:ext cx="5605272" cy="420624"/>
          </a:xfrm>
          <a:prstGeom prst="roundRect">
            <a:avLst>
              <a:gd name="adj" fmla="val 10870"/>
            </a:avLst>
          </a:prstGeom>
          <a:solidFill>
            <a:srgbClr val="FDECEF"/>
          </a:solidFill>
          <a:ln w="9525">
            <a:solidFill>
              <a:srgbClr val="D7002A"/>
            </a:solidFill>
            <a:prstDash val="solid"/>
          </a:ln>
        </p:spPr>
      </p:sp>
      <p:sp>
        <p:nvSpPr>
          <p:cNvPr id="71" name="Text 58"/>
          <p:cNvSpPr txBox="1"/>
          <p:nvPr/>
        </p:nvSpPr>
        <p:spPr>
          <a:xfrm>
            <a:off x="6309360" y="3401568"/>
            <a:ext cx="5532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guards Windows call apps (WhatsApp, Teams, Skype, Zoom) + the screen + remote-access tools together, in Indian languages.</a:t>
            </a:r>
            <a:endParaRPr lang="en-US" sz="780" dirty="0"/>
          </a:p>
        </p:txBody>
      </p:sp>
      <p:sp>
        <p:nvSpPr>
          <p:cNvPr id="72" name="Shape 59"/>
          <p:cNvSpPr/>
          <p:nvPr/>
        </p:nvSpPr>
        <p:spPr>
          <a:xfrm>
            <a:off x="228600" y="3977640"/>
            <a:ext cx="3794760" cy="2560320"/>
          </a:xfrm>
          <a:prstGeom prst="roundRect">
            <a:avLst>
              <a:gd name="adj" fmla="val 2500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73" name="Shape 60"/>
          <p:cNvSpPr/>
          <p:nvPr/>
        </p:nvSpPr>
        <p:spPr>
          <a:xfrm>
            <a:off x="320040" y="4041648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4" name="Text 61"/>
          <p:cNvSpPr txBox="1"/>
          <p:nvPr/>
        </p:nvSpPr>
        <p:spPr>
          <a:xfrm>
            <a:off x="32004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from research</a:t>
            </a:r>
            <a:endParaRPr lang="en-US" sz="900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" y="4370832"/>
            <a:ext cx="347472" cy="347472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749808" y="4343400"/>
            <a:ext cx="3200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are scripted: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6-step kill chain recurs across reported cases</a:t>
            </a:r>
            <a:endParaRPr lang="en-US" sz="790" dirty="0"/>
          </a:p>
        </p:txBody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72" y="4800600"/>
            <a:ext cx="347472" cy="347472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749808" y="4773168"/>
            <a:ext cx="3200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by design: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fake documents on screen + remote-access apps</a:t>
            </a:r>
            <a:endParaRPr lang="en-US" sz="79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" y="5230368"/>
            <a:ext cx="347472" cy="347472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749808" y="5202936"/>
            <a:ext cx="3200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matters: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mix Hindi and English in one sentence</a:t>
            </a:r>
            <a:endParaRPr lang="en-US" sz="790" dirty="0"/>
          </a:p>
        </p:txBody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" y="5660136"/>
            <a:ext cx="347472" cy="347472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749808" y="5632704"/>
            <a:ext cx="3200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lose most: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 lakh senior citizens filed fraud complaints</a:t>
            </a:r>
            <a:endParaRPr lang="en-US" sz="790" dirty="0"/>
          </a:p>
        </p:txBody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" y="6089904"/>
            <a:ext cx="347472" cy="347472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749808" y="6062472"/>
            <a:ext cx="3200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matters: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9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reports to 1930 let banks freeze funds</a:t>
            </a:r>
            <a:endParaRPr lang="en-US" sz="790" dirty="0"/>
          </a:p>
        </p:txBody>
      </p:sp>
      <p:sp>
        <p:nvSpPr>
          <p:cNvPr id="85" name="Shape 67"/>
          <p:cNvSpPr/>
          <p:nvPr/>
        </p:nvSpPr>
        <p:spPr>
          <a:xfrm>
            <a:off x="4114800" y="3977640"/>
            <a:ext cx="393192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86" name="Shape 68"/>
          <p:cNvSpPr/>
          <p:nvPr/>
        </p:nvSpPr>
        <p:spPr>
          <a:xfrm>
            <a:off x="4206240" y="404164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87" name="Text 69"/>
          <p:cNvSpPr txBox="1"/>
          <p:nvPr/>
        </p:nvSpPr>
        <p:spPr>
          <a:xfrm>
            <a:off x="420624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users care about (from advisories)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4224528" y="4407408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800" dirty="0"/>
          </a:p>
        </p:txBody>
      </p:sp>
      <p:sp>
        <p:nvSpPr>
          <p:cNvPr id="89" name="Shape 71"/>
          <p:cNvSpPr/>
          <p:nvPr/>
        </p:nvSpPr>
        <p:spPr>
          <a:xfrm>
            <a:off x="5852160" y="4471416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90" name="Shape 72"/>
          <p:cNvSpPr/>
          <p:nvPr/>
        </p:nvSpPr>
        <p:spPr>
          <a:xfrm>
            <a:off x="5852160" y="4471416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1" name="Text 73"/>
          <p:cNvSpPr txBox="1"/>
          <p:nvPr/>
        </p:nvSpPr>
        <p:spPr>
          <a:xfrm>
            <a:off x="4224528" y="4745736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my language</a:t>
            </a:r>
            <a:endParaRPr lang="en-US" sz="800" dirty="0"/>
          </a:p>
        </p:txBody>
      </p:sp>
      <p:sp>
        <p:nvSpPr>
          <p:cNvPr id="92" name="Shape 74"/>
          <p:cNvSpPr/>
          <p:nvPr/>
        </p:nvSpPr>
        <p:spPr>
          <a:xfrm>
            <a:off x="5852160" y="4809744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5852160" y="4809744"/>
            <a:ext cx="1851660" cy="146304"/>
          </a:xfrm>
          <a:prstGeom prst="roundRect">
            <a:avLst>
              <a:gd name="adj" fmla="val 3125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94" name="Text 76"/>
          <p:cNvSpPr txBox="1"/>
          <p:nvPr/>
        </p:nvSpPr>
        <p:spPr>
          <a:xfrm>
            <a:off x="4224528" y="5084064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warning</a:t>
            </a:r>
            <a:endParaRPr lang="en-US" sz="800" dirty="0"/>
          </a:p>
        </p:txBody>
      </p:sp>
      <p:sp>
        <p:nvSpPr>
          <p:cNvPr id="95" name="Shape 77"/>
          <p:cNvSpPr/>
          <p:nvPr/>
        </p:nvSpPr>
        <p:spPr>
          <a:xfrm>
            <a:off x="5852160" y="5148072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96" name="Shape 78"/>
          <p:cNvSpPr/>
          <p:nvPr/>
        </p:nvSpPr>
        <p:spPr>
          <a:xfrm>
            <a:off x="5852160" y="5148072"/>
            <a:ext cx="1954530" cy="146304"/>
          </a:xfrm>
          <a:prstGeom prst="roundRect">
            <a:avLst>
              <a:gd name="adj" fmla="val 3125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7" name="Text 79"/>
          <p:cNvSpPr txBox="1"/>
          <p:nvPr/>
        </p:nvSpPr>
        <p:spPr>
          <a:xfrm>
            <a:off x="4224528" y="5422392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false alarms</a:t>
            </a:r>
            <a:endParaRPr lang="en-US" sz="800" dirty="0"/>
          </a:p>
        </p:txBody>
      </p:sp>
      <p:sp>
        <p:nvSpPr>
          <p:cNvPr id="98" name="Shape 80"/>
          <p:cNvSpPr/>
          <p:nvPr/>
        </p:nvSpPr>
        <p:spPr>
          <a:xfrm>
            <a:off x="5852160" y="5486400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5852160" y="5486400"/>
            <a:ext cx="1748790" cy="146304"/>
          </a:xfrm>
          <a:prstGeom prst="roundRect">
            <a:avLst>
              <a:gd name="adj" fmla="val 3125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0" name="Text 82"/>
          <p:cNvSpPr txBox="1"/>
          <p:nvPr/>
        </p:nvSpPr>
        <p:spPr>
          <a:xfrm>
            <a:off x="4224528" y="5760720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800" dirty="0"/>
          </a:p>
        </p:txBody>
      </p:sp>
      <p:sp>
        <p:nvSpPr>
          <p:cNvPr id="101" name="Shape 83"/>
          <p:cNvSpPr/>
          <p:nvPr/>
        </p:nvSpPr>
        <p:spPr>
          <a:xfrm>
            <a:off x="5852160" y="5824728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102" name="Shape 84"/>
          <p:cNvSpPr/>
          <p:nvPr/>
        </p:nvSpPr>
        <p:spPr>
          <a:xfrm>
            <a:off x="5852160" y="5824728"/>
            <a:ext cx="1440180" cy="146304"/>
          </a:xfrm>
          <a:prstGeom prst="roundRect">
            <a:avLst>
              <a:gd name="adj" fmla="val 3125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3" name="Text 85"/>
          <p:cNvSpPr txBox="1"/>
          <p:nvPr/>
        </p:nvSpPr>
        <p:spPr>
          <a:xfrm>
            <a:off x="4224528" y="6099048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for elders</a:t>
            </a:r>
            <a:endParaRPr lang="en-US" sz="800" dirty="0"/>
          </a:p>
        </p:txBody>
      </p:sp>
      <p:sp>
        <p:nvSpPr>
          <p:cNvPr id="104" name="Shape 86"/>
          <p:cNvSpPr/>
          <p:nvPr/>
        </p:nvSpPr>
        <p:spPr>
          <a:xfrm>
            <a:off x="5852160" y="6163056"/>
            <a:ext cx="2057400" cy="146304"/>
          </a:xfrm>
          <a:prstGeom prst="roundRect">
            <a:avLst>
              <a:gd name="adj" fmla="val 31250"/>
            </a:avLst>
          </a:prstGeom>
          <a:solidFill>
            <a:srgbClr val="EDE7DF"/>
          </a:solidFill>
          <a:ln w="12700">
            <a:solidFill>
              <a:srgbClr val="EDE7DF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5852160" y="6163056"/>
            <a:ext cx="1851660" cy="146304"/>
          </a:xfrm>
          <a:prstGeom prst="roundRect">
            <a:avLst>
              <a:gd name="adj" fmla="val 3125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6" name="Text 88"/>
          <p:cNvSpPr txBox="1"/>
          <p:nvPr/>
        </p:nvSpPr>
        <p:spPr>
          <a:xfrm>
            <a:off x="4224528" y="6355080"/>
            <a:ext cx="3749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priority from RBI / I4C / MHA advisories and reported cases (not a survey).</a:t>
            </a:r>
            <a:endParaRPr lang="en-US" sz="650" dirty="0"/>
          </a:p>
        </p:txBody>
      </p:sp>
      <p:sp>
        <p:nvSpPr>
          <p:cNvPr id="107" name="Shape 89"/>
          <p:cNvSpPr/>
          <p:nvPr/>
        </p:nvSpPr>
        <p:spPr>
          <a:xfrm>
            <a:off x="8138160" y="3977640"/>
            <a:ext cx="3822192" cy="2560320"/>
          </a:xfrm>
          <a:prstGeom prst="roundRect">
            <a:avLst>
              <a:gd name="adj" fmla="val 2500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108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0" y="4069080"/>
            <a:ext cx="502920" cy="502920"/>
          </a:xfrm>
          <a:prstGeom prst="rect">
            <a:avLst/>
          </a:prstGeom>
        </p:spPr>
      </p:pic>
      <p:sp>
        <p:nvSpPr>
          <p:cNvPr id="109" name="Text 90"/>
          <p:cNvSpPr txBox="1"/>
          <p:nvPr/>
        </p:nvSpPr>
        <p:spPr>
          <a:xfrm>
            <a:off x="877824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that shaped Sajag</a:t>
            </a:r>
            <a:endParaRPr lang="en-US" sz="1000" dirty="0"/>
          </a:p>
        </p:txBody>
      </p:sp>
      <p:sp>
        <p:nvSpPr>
          <p:cNvPr id="110" name="Text 91"/>
          <p:cNvSpPr txBox="1"/>
          <p:nvPr/>
        </p:nvSpPr>
        <p:spPr>
          <a:xfrm>
            <a:off x="8229600" y="4645152"/>
            <a:ext cx="3657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tactic, not the keyword: 10 tactics x 3 scripts</a:t>
            </a:r>
            <a:endParaRPr lang="en-US" sz="890" dirty="0"/>
          </a:p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call + screen + system over the whole conversation</a:t>
            </a:r>
            <a:endParaRPr lang="en-US" sz="890" dirty="0"/>
          </a:p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 at WARNING with a bilingual, spoken card</a:t>
            </a:r>
            <a:endParaRPr lang="en-US" sz="890" dirty="0"/>
          </a:p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every alert with the exact phrase</a:t>
            </a:r>
            <a:endParaRPr lang="en-US" sz="890" dirty="0"/>
          </a:p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victim a ready 1930 report after the call</a:t>
            </a:r>
            <a:endParaRPr lang="en-US" sz="890" dirty="0"/>
          </a:p>
          <a:p>
            <a:pPr marL="139700" indent="-139700">
              <a:spcAft>
                <a:spcPts val="500"/>
              </a:spcAft>
              <a:buSzPct val="100000"/>
              <a:buChar char="✔"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100% on the NPU: no upload, no subscription</a:t>
            </a:r>
            <a:endParaRPr lang="en-US" sz="890" dirty="0"/>
          </a:p>
        </p:txBody>
      </p:sp>
      <p:sp>
        <p:nvSpPr>
          <p:cNvPr id="111" name="Text 92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and the scam journey Sajag interrupts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from reported cases; journey mapped to the kill chain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285292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1243584"/>
            <a:ext cx="868680" cy="86868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216152" y="1216152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parent, 60+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Video-calls children on the laptop; net banking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by: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arrest, fake CBI</a:t>
            </a:r>
            <a:endParaRPr lang="en-US" sz="780" dirty="0"/>
          </a:p>
        </p:txBody>
      </p:sp>
      <p:sp>
        <p:nvSpPr>
          <p:cNvPr id="43" name="Shape 37"/>
          <p:cNvSpPr/>
          <p:nvPr/>
        </p:nvSpPr>
        <p:spPr>
          <a:xfrm>
            <a:off x="3172968" y="1188720"/>
            <a:ext cx="285292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3253DC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243584"/>
            <a:ext cx="868680" cy="86868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4160520" y="1216152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professional, 22-35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WFH on WhatsApp Desktop and Teams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by: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FedEx parcel, task jobs</a:t>
            </a:r>
            <a:endParaRPr lang="en-US" sz="780" dirty="0"/>
          </a:p>
        </p:txBody>
      </p:sp>
      <p:sp>
        <p:nvSpPr>
          <p:cNvPr id="46" name="Shape 39"/>
          <p:cNvSpPr/>
          <p:nvPr/>
        </p:nvSpPr>
        <p:spPr>
          <a:xfrm>
            <a:off x="6117336" y="1188720"/>
            <a:ext cx="285292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E08A0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243584"/>
            <a:ext cx="868680" cy="86868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104888" y="1216152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/ CA office owner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and GST portals open all day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by: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KYC, AnyDesk 'support'</a:t>
            </a:r>
            <a:endParaRPr lang="en-US" sz="780" dirty="0"/>
          </a:p>
        </p:txBody>
      </p:sp>
      <p:sp>
        <p:nvSpPr>
          <p:cNvPr id="49" name="Shape 41"/>
          <p:cNvSpPr/>
          <p:nvPr/>
        </p:nvSpPr>
        <p:spPr>
          <a:xfrm>
            <a:off x="9061704" y="1188720"/>
            <a:ext cx="2852928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1E9E57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6" y="1243584"/>
            <a:ext cx="868680" cy="8686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0049256" y="1216152"/>
            <a:ext cx="1828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student, 18-24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laptop, Telegram, trading apps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by: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/ crypto, pay-to-withdraw</a:t>
            </a:r>
            <a:endParaRPr lang="en-US" sz="780" dirty="0"/>
          </a:p>
        </p:txBody>
      </p:sp>
      <p:sp>
        <p:nvSpPr>
          <p:cNvPr id="52" name="Shape 43"/>
          <p:cNvSpPr/>
          <p:nvPr/>
        </p:nvSpPr>
        <p:spPr>
          <a:xfrm>
            <a:off x="228600" y="2377440"/>
            <a:ext cx="292608" cy="4160520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 rot="16200000">
            <a:off x="-1705356" y="43113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journey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1783080" y="2377440"/>
            <a:ext cx="1764792" cy="310896"/>
          </a:xfrm>
          <a:prstGeom prst="chevron">
            <a:avLst/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892808" y="237744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30" dirty="0"/>
          </a:p>
        </p:txBody>
      </p:sp>
      <p:sp>
        <p:nvSpPr>
          <p:cNvPr id="56" name="Shape 47"/>
          <p:cNvSpPr/>
          <p:nvPr/>
        </p:nvSpPr>
        <p:spPr>
          <a:xfrm>
            <a:off x="3566160" y="2377440"/>
            <a:ext cx="1764792" cy="310896"/>
          </a:xfrm>
          <a:prstGeom prst="chevron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3675888" y="237744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+ fear</a:t>
            </a:r>
            <a:endParaRPr lang="en-US" sz="830" dirty="0"/>
          </a:p>
        </p:txBody>
      </p:sp>
      <p:sp>
        <p:nvSpPr>
          <p:cNvPr id="58" name="Shape 49"/>
          <p:cNvSpPr/>
          <p:nvPr/>
        </p:nvSpPr>
        <p:spPr>
          <a:xfrm>
            <a:off x="5349240" y="2377440"/>
            <a:ext cx="1764792" cy="310896"/>
          </a:xfrm>
          <a:prstGeom prst="chevron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5458968" y="237744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830" dirty="0"/>
          </a:p>
        </p:txBody>
      </p:sp>
      <p:sp>
        <p:nvSpPr>
          <p:cNvPr id="60" name="Shape 51"/>
          <p:cNvSpPr/>
          <p:nvPr/>
        </p:nvSpPr>
        <p:spPr>
          <a:xfrm>
            <a:off x="7132320" y="2377440"/>
            <a:ext cx="1764792" cy="310896"/>
          </a:xfrm>
          <a:prstGeom prst="chevron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7242048" y="237744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30" dirty="0"/>
          </a:p>
        </p:txBody>
      </p:sp>
      <p:sp>
        <p:nvSpPr>
          <p:cNvPr id="62" name="Shape 53"/>
          <p:cNvSpPr/>
          <p:nvPr/>
        </p:nvSpPr>
        <p:spPr>
          <a:xfrm>
            <a:off x="8915400" y="2377440"/>
            <a:ext cx="1764792" cy="310896"/>
          </a:xfrm>
          <a:prstGeom prst="chevron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9025128" y="237744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830" dirty="0"/>
          </a:p>
        </p:txBody>
      </p:sp>
      <p:sp>
        <p:nvSpPr>
          <p:cNvPr id="64" name="Shape 55"/>
          <p:cNvSpPr/>
          <p:nvPr/>
        </p:nvSpPr>
        <p:spPr>
          <a:xfrm>
            <a:off x="10698480" y="2377440"/>
            <a:ext cx="1289304" cy="310896"/>
          </a:xfrm>
          <a:prstGeom prst="chevron">
            <a:avLst/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10808208" y="237744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call</a:t>
            </a:r>
            <a:endParaRPr lang="en-US" sz="830" dirty="0"/>
          </a:p>
        </p:txBody>
      </p:sp>
      <p:sp>
        <p:nvSpPr>
          <p:cNvPr id="66" name="Shape 57"/>
          <p:cNvSpPr/>
          <p:nvPr/>
        </p:nvSpPr>
        <p:spPr>
          <a:xfrm>
            <a:off x="548640" y="2743200"/>
            <a:ext cx="1207008" cy="530352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566928" y="2743200"/>
            <a:ext cx="11704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scammer does</a:t>
            </a:r>
            <a:endParaRPr lang="en-US" sz="800" dirty="0"/>
          </a:p>
        </p:txBody>
      </p:sp>
      <p:sp>
        <p:nvSpPr>
          <p:cNvPr id="68" name="Shape 59"/>
          <p:cNvSpPr/>
          <p:nvPr/>
        </p:nvSpPr>
        <p:spPr>
          <a:xfrm>
            <a:off x="1783080" y="2743200"/>
            <a:ext cx="1755648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1801368" y="2743200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 or full-screen pop-up</a:t>
            </a:r>
            <a:endParaRPr lang="en-US" sz="750" dirty="0"/>
          </a:p>
        </p:txBody>
      </p:sp>
      <p:sp>
        <p:nvSpPr>
          <p:cNvPr id="70" name="Shape 61"/>
          <p:cNvSpPr/>
          <p:nvPr/>
        </p:nvSpPr>
        <p:spPr>
          <a:xfrm>
            <a:off x="3566160" y="2743200"/>
            <a:ext cx="1755648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3584448" y="2743200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'CBI / police / Microsoft', parcel, warrant</a:t>
            </a:r>
            <a:endParaRPr lang="en-US" sz="750" dirty="0"/>
          </a:p>
        </p:txBody>
      </p:sp>
      <p:sp>
        <p:nvSpPr>
          <p:cNvPr id="72" name="Shape 63"/>
          <p:cNvSpPr/>
          <p:nvPr/>
        </p:nvSpPr>
        <p:spPr>
          <a:xfrm>
            <a:off x="5349240" y="2743200"/>
            <a:ext cx="1755648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5367528" y="2743200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'Stay on camera, tell no one'</a:t>
            </a:r>
            <a:endParaRPr lang="en-US" sz="750" dirty="0"/>
          </a:p>
        </p:txBody>
      </p:sp>
      <p:sp>
        <p:nvSpPr>
          <p:cNvPr id="74" name="Shape 65"/>
          <p:cNvSpPr/>
          <p:nvPr/>
        </p:nvSpPr>
        <p:spPr>
          <a:xfrm>
            <a:off x="7132320" y="2743200"/>
            <a:ext cx="1755648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7150608" y="2743200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AnyDesk, share screen</a:t>
            </a:r>
            <a:endParaRPr lang="en-US" sz="750" dirty="0"/>
          </a:p>
        </p:txBody>
      </p:sp>
      <p:sp>
        <p:nvSpPr>
          <p:cNvPr id="76" name="Shape 67"/>
          <p:cNvSpPr/>
          <p:nvPr/>
        </p:nvSpPr>
        <p:spPr>
          <a:xfrm>
            <a:off x="8915400" y="2743200"/>
            <a:ext cx="1755648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77" name="Text 68"/>
          <p:cNvSpPr txBox="1"/>
          <p:nvPr/>
        </p:nvSpPr>
        <p:spPr>
          <a:xfrm>
            <a:off x="8933688" y="2743200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'Transfer to RBI safe account', OTP</a:t>
            </a:r>
            <a:endParaRPr lang="en-US" sz="750" dirty="0"/>
          </a:p>
        </p:txBody>
      </p:sp>
      <p:sp>
        <p:nvSpPr>
          <p:cNvPr id="78" name="Shape 69"/>
          <p:cNvSpPr/>
          <p:nvPr/>
        </p:nvSpPr>
        <p:spPr>
          <a:xfrm>
            <a:off x="10698480" y="2743200"/>
            <a:ext cx="1280160" cy="530352"/>
          </a:xfrm>
          <a:prstGeom prst="rect">
            <a:avLst/>
          </a:prstGeom>
          <a:solidFill>
            <a:srgbClr val="FFFBF5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79" name="Text 70"/>
          <p:cNvSpPr txBox="1"/>
          <p:nvPr/>
        </p:nvSpPr>
        <p:spPr>
          <a:xfrm>
            <a:off x="10716768" y="2743200"/>
            <a:ext cx="124358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Disappears with the money</a:t>
            </a:r>
            <a:endParaRPr lang="en-US" sz="750" dirty="0"/>
          </a:p>
        </p:txBody>
      </p:sp>
      <p:sp>
        <p:nvSpPr>
          <p:cNvPr id="80" name="Shape 71"/>
          <p:cNvSpPr/>
          <p:nvPr/>
        </p:nvSpPr>
        <p:spPr>
          <a:xfrm>
            <a:off x="548640" y="3310128"/>
            <a:ext cx="1207008" cy="530352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81" name="Text 72"/>
          <p:cNvSpPr txBox="1"/>
          <p:nvPr/>
        </p:nvSpPr>
        <p:spPr>
          <a:xfrm>
            <a:off x="566928" y="3310128"/>
            <a:ext cx="11704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Victim's emotion</a:t>
            </a:r>
            <a:endParaRPr lang="en-US" sz="800" dirty="0"/>
          </a:p>
        </p:txBody>
      </p:sp>
      <p:sp>
        <p:nvSpPr>
          <p:cNvPr id="82" name="Shape 73"/>
          <p:cNvSpPr/>
          <p:nvPr/>
        </p:nvSpPr>
        <p:spPr>
          <a:xfrm>
            <a:off x="1783080" y="3310128"/>
            <a:ext cx="17556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2304" y="3346704"/>
            <a:ext cx="457200" cy="457200"/>
          </a:xfrm>
          <a:prstGeom prst="rect">
            <a:avLst/>
          </a:prstGeom>
        </p:spPr>
      </p:pic>
      <p:sp>
        <p:nvSpPr>
          <p:cNvPr id="84" name="Shape 74"/>
          <p:cNvSpPr/>
          <p:nvPr/>
        </p:nvSpPr>
        <p:spPr>
          <a:xfrm>
            <a:off x="3566160" y="3310128"/>
            <a:ext cx="17556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5384" y="3346704"/>
            <a:ext cx="457200" cy="457200"/>
          </a:xfrm>
          <a:prstGeom prst="rect">
            <a:avLst/>
          </a:prstGeom>
        </p:spPr>
      </p:pic>
      <p:sp>
        <p:nvSpPr>
          <p:cNvPr id="86" name="Shape 75"/>
          <p:cNvSpPr/>
          <p:nvPr/>
        </p:nvSpPr>
        <p:spPr>
          <a:xfrm>
            <a:off x="5349240" y="3310128"/>
            <a:ext cx="17556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8464" y="3346704"/>
            <a:ext cx="457200" cy="457200"/>
          </a:xfrm>
          <a:prstGeom prst="rect">
            <a:avLst/>
          </a:prstGeom>
        </p:spPr>
      </p:pic>
      <p:sp>
        <p:nvSpPr>
          <p:cNvPr id="88" name="Shape 76"/>
          <p:cNvSpPr/>
          <p:nvPr/>
        </p:nvSpPr>
        <p:spPr>
          <a:xfrm>
            <a:off x="7132320" y="3310128"/>
            <a:ext cx="17556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8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1544" y="3346704"/>
            <a:ext cx="457200" cy="457200"/>
          </a:xfrm>
          <a:prstGeom prst="rect">
            <a:avLst/>
          </a:prstGeom>
        </p:spPr>
      </p:pic>
      <p:sp>
        <p:nvSpPr>
          <p:cNvPr id="90" name="Shape 77"/>
          <p:cNvSpPr/>
          <p:nvPr/>
        </p:nvSpPr>
        <p:spPr>
          <a:xfrm>
            <a:off x="8915400" y="3310128"/>
            <a:ext cx="175564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9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4624" y="3346704"/>
            <a:ext cx="457200" cy="457200"/>
          </a:xfrm>
          <a:prstGeom prst="rect">
            <a:avLst/>
          </a:prstGeom>
        </p:spPr>
      </p:pic>
      <p:sp>
        <p:nvSpPr>
          <p:cNvPr id="92" name="Shape 78"/>
          <p:cNvSpPr/>
          <p:nvPr/>
        </p:nvSpPr>
        <p:spPr>
          <a:xfrm>
            <a:off x="10698480" y="3310128"/>
            <a:ext cx="1280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DCD1"/>
            </a:solidFill>
            <a:prstDash val="solid"/>
          </a:ln>
        </p:spPr>
      </p:sp>
      <p:pic>
        <p:nvPicPr>
          <p:cNvPr id="9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9960" y="3346704"/>
            <a:ext cx="457200" cy="457200"/>
          </a:xfrm>
          <a:prstGeom prst="rect">
            <a:avLst/>
          </a:prstGeom>
        </p:spPr>
      </p:pic>
      <p:sp>
        <p:nvSpPr>
          <p:cNvPr id="94" name="Shape 79"/>
          <p:cNvSpPr/>
          <p:nvPr/>
        </p:nvSpPr>
        <p:spPr>
          <a:xfrm>
            <a:off x="548640" y="3877056"/>
            <a:ext cx="1207008" cy="530352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95" name="Text 80"/>
          <p:cNvSpPr txBox="1"/>
          <p:nvPr/>
        </p:nvSpPr>
        <p:spPr>
          <a:xfrm>
            <a:off x="566928" y="3877056"/>
            <a:ext cx="11704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800" dirty="0"/>
          </a:p>
        </p:txBody>
      </p:sp>
      <p:sp>
        <p:nvSpPr>
          <p:cNvPr id="96" name="Shape 81"/>
          <p:cNvSpPr/>
          <p:nvPr/>
        </p:nvSpPr>
        <p:spPr>
          <a:xfrm>
            <a:off x="1783080" y="3877056"/>
            <a:ext cx="1755648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97" name="Text 82"/>
          <p:cNvSpPr txBox="1"/>
          <p:nvPr/>
        </p:nvSpPr>
        <p:spPr>
          <a:xfrm>
            <a:off x="1801368" y="3877056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official, number unknown</a:t>
            </a:r>
            <a:endParaRPr lang="en-US" sz="750" dirty="0"/>
          </a:p>
        </p:txBody>
      </p:sp>
      <p:sp>
        <p:nvSpPr>
          <p:cNvPr id="98" name="Shape 83"/>
          <p:cNvSpPr/>
          <p:nvPr/>
        </p:nvSpPr>
        <p:spPr>
          <a:xfrm>
            <a:off x="3566160" y="3877056"/>
            <a:ext cx="1755648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99" name="Text 84"/>
          <p:cNvSpPr txBox="1"/>
          <p:nvPr/>
        </p:nvSpPr>
        <p:spPr>
          <a:xfrm>
            <a:off x="3584448" y="3877056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overrides judgement</a:t>
            </a:r>
            <a:endParaRPr lang="en-US" sz="750" dirty="0"/>
          </a:p>
        </p:txBody>
      </p:sp>
      <p:sp>
        <p:nvSpPr>
          <p:cNvPr id="100" name="Shape 85"/>
          <p:cNvSpPr/>
          <p:nvPr/>
        </p:nvSpPr>
        <p:spPr>
          <a:xfrm>
            <a:off x="5349240" y="3877056"/>
            <a:ext cx="1755648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01" name="Text 86"/>
          <p:cNvSpPr txBox="1"/>
          <p:nvPr/>
        </p:nvSpPr>
        <p:spPr>
          <a:xfrm>
            <a:off x="5367528" y="3877056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off from family</a:t>
            </a:r>
            <a:endParaRPr lang="en-US" sz="750" dirty="0"/>
          </a:p>
        </p:txBody>
      </p:sp>
      <p:sp>
        <p:nvSpPr>
          <p:cNvPr id="102" name="Shape 87"/>
          <p:cNvSpPr/>
          <p:nvPr/>
        </p:nvSpPr>
        <p:spPr>
          <a:xfrm>
            <a:off x="7132320" y="3877056"/>
            <a:ext cx="1755648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03" name="Text 88"/>
          <p:cNvSpPr txBox="1"/>
          <p:nvPr/>
        </p:nvSpPr>
        <p:spPr>
          <a:xfrm>
            <a:off x="7150608" y="3877056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control of the PC</a:t>
            </a:r>
            <a:endParaRPr lang="en-US" sz="750" dirty="0"/>
          </a:p>
        </p:txBody>
      </p:sp>
      <p:sp>
        <p:nvSpPr>
          <p:cNvPr id="104" name="Shape 89"/>
          <p:cNvSpPr/>
          <p:nvPr/>
        </p:nvSpPr>
        <p:spPr>
          <a:xfrm>
            <a:off x="8915400" y="3877056"/>
            <a:ext cx="1755648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05" name="Text 90"/>
          <p:cNvSpPr txBox="1"/>
          <p:nvPr/>
        </p:nvSpPr>
        <p:spPr>
          <a:xfrm>
            <a:off x="8933688" y="3877056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gone in minutes</a:t>
            </a:r>
            <a:endParaRPr lang="en-US" sz="750" dirty="0"/>
          </a:p>
        </p:txBody>
      </p:sp>
      <p:sp>
        <p:nvSpPr>
          <p:cNvPr id="106" name="Shape 91"/>
          <p:cNvSpPr/>
          <p:nvPr/>
        </p:nvSpPr>
        <p:spPr>
          <a:xfrm>
            <a:off x="10698480" y="3877056"/>
            <a:ext cx="1280160" cy="530352"/>
          </a:xfrm>
          <a:prstGeom prst="rect">
            <a:avLst/>
          </a:prstGeom>
          <a:solidFill>
            <a:srgbClr val="FDECE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07" name="Text 92"/>
          <p:cNvSpPr txBox="1"/>
          <p:nvPr/>
        </p:nvSpPr>
        <p:spPr>
          <a:xfrm>
            <a:off x="10716768" y="3877056"/>
            <a:ext cx="124358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recall details for 1930</a:t>
            </a:r>
            <a:endParaRPr lang="en-US" sz="750" dirty="0"/>
          </a:p>
        </p:txBody>
      </p:sp>
      <p:sp>
        <p:nvSpPr>
          <p:cNvPr id="108" name="Shape 93"/>
          <p:cNvSpPr/>
          <p:nvPr/>
        </p:nvSpPr>
        <p:spPr>
          <a:xfrm>
            <a:off x="548640" y="4443984"/>
            <a:ext cx="1207008" cy="530352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09" name="Text 94"/>
          <p:cNvSpPr txBox="1"/>
          <p:nvPr/>
        </p:nvSpPr>
        <p:spPr>
          <a:xfrm>
            <a:off x="566928" y="4443984"/>
            <a:ext cx="11704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signal</a:t>
            </a:r>
            <a:endParaRPr lang="en-US" sz="800" dirty="0"/>
          </a:p>
        </p:txBody>
      </p:sp>
      <p:sp>
        <p:nvSpPr>
          <p:cNvPr id="110" name="Shape 95"/>
          <p:cNvSpPr/>
          <p:nvPr/>
        </p:nvSpPr>
        <p:spPr>
          <a:xfrm>
            <a:off x="1783080" y="4443984"/>
            <a:ext cx="1755648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11" name="Text 96"/>
          <p:cNvSpPr txBox="1"/>
          <p:nvPr/>
        </p:nvSpPr>
        <p:spPr>
          <a:xfrm>
            <a:off x="1801368" y="4443984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app active, pop-up OCR</a:t>
            </a:r>
            <a:endParaRPr lang="en-US" sz="750" dirty="0"/>
          </a:p>
        </p:txBody>
      </p:sp>
      <p:sp>
        <p:nvSpPr>
          <p:cNvPr id="112" name="Shape 97"/>
          <p:cNvSpPr/>
          <p:nvPr/>
        </p:nvSpPr>
        <p:spPr>
          <a:xfrm>
            <a:off x="3566160" y="4443984"/>
            <a:ext cx="1755648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13" name="Text 98"/>
          <p:cNvSpPr txBox="1"/>
          <p:nvPr/>
        </p:nvSpPr>
        <p:spPr>
          <a:xfrm>
            <a:off x="3584448" y="4443984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+ threat cues</a:t>
            </a:r>
            <a:endParaRPr lang="en-US" sz="750" dirty="0"/>
          </a:p>
        </p:txBody>
      </p:sp>
      <p:sp>
        <p:nvSpPr>
          <p:cNvPr id="114" name="Shape 99"/>
          <p:cNvSpPr/>
          <p:nvPr/>
        </p:nvSpPr>
        <p:spPr>
          <a:xfrm>
            <a:off x="5349240" y="4443984"/>
            <a:ext cx="1755648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15" name="Text 100"/>
          <p:cNvSpPr txBox="1"/>
          <p:nvPr/>
        </p:nvSpPr>
        <p:spPr>
          <a:xfrm>
            <a:off x="5367528" y="4443984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secrecy cue (EN / HI)</a:t>
            </a:r>
            <a:endParaRPr lang="en-US" sz="750" dirty="0"/>
          </a:p>
        </p:txBody>
      </p:sp>
      <p:sp>
        <p:nvSpPr>
          <p:cNvPr id="116" name="Shape 101"/>
          <p:cNvSpPr/>
          <p:nvPr/>
        </p:nvSpPr>
        <p:spPr>
          <a:xfrm>
            <a:off x="7132320" y="4443984"/>
            <a:ext cx="1755648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17" name="Text 102"/>
          <p:cNvSpPr txBox="1"/>
          <p:nvPr/>
        </p:nvSpPr>
        <p:spPr>
          <a:xfrm>
            <a:off x="7150608" y="4443984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remote-access process</a:t>
            </a:r>
            <a:endParaRPr lang="en-US" sz="750" dirty="0"/>
          </a:p>
        </p:txBody>
      </p:sp>
      <p:sp>
        <p:nvSpPr>
          <p:cNvPr id="118" name="Shape 103"/>
          <p:cNvSpPr/>
          <p:nvPr/>
        </p:nvSpPr>
        <p:spPr>
          <a:xfrm>
            <a:off x="8915400" y="4443984"/>
            <a:ext cx="1755648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19" name="Text 104"/>
          <p:cNvSpPr txBox="1"/>
          <p:nvPr/>
        </p:nvSpPr>
        <p:spPr>
          <a:xfrm>
            <a:off x="8933688" y="4443984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screen + OTP ask</a:t>
            </a:r>
            <a:endParaRPr lang="en-US" sz="750" dirty="0"/>
          </a:p>
        </p:txBody>
      </p:sp>
      <p:sp>
        <p:nvSpPr>
          <p:cNvPr id="120" name="Shape 105"/>
          <p:cNvSpPr/>
          <p:nvPr/>
        </p:nvSpPr>
        <p:spPr>
          <a:xfrm>
            <a:off x="10698480" y="4443984"/>
            <a:ext cx="1280160" cy="530352"/>
          </a:xfrm>
          <a:prstGeom prst="rect">
            <a:avLst/>
          </a:prstGeom>
          <a:solidFill>
            <a:srgbClr val="EAEFFF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21" name="Text 106"/>
          <p:cNvSpPr txBox="1"/>
          <p:nvPr/>
        </p:nvSpPr>
        <p:spPr>
          <a:xfrm>
            <a:off x="10716768" y="4443984"/>
            <a:ext cx="124358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kept in RAM</a:t>
            </a:r>
            <a:endParaRPr lang="en-US" sz="750" dirty="0"/>
          </a:p>
        </p:txBody>
      </p:sp>
      <p:sp>
        <p:nvSpPr>
          <p:cNvPr id="122" name="Shape 107"/>
          <p:cNvSpPr/>
          <p:nvPr/>
        </p:nvSpPr>
        <p:spPr>
          <a:xfrm>
            <a:off x="548640" y="5010912"/>
            <a:ext cx="1207008" cy="530352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23" name="Text 108"/>
          <p:cNvSpPr txBox="1"/>
          <p:nvPr/>
        </p:nvSpPr>
        <p:spPr>
          <a:xfrm>
            <a:off x="566928" y="5010912"/>
            <a:ext cx="11704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action</a:t>
            </a:r>
            <a:endParaRPr lang="en-US" sz="800" dirty="0"/>
          </a:p>
        </p:txBody>
      </p:sp>
      <p:sp>
        <p:nvSpPr>
          <p:cNvPr id="124" name="Shape 109"/>
          <p:cNvSpPr/>
          <p:nvPr/>
        </p:nvSpPr>
        <p:spPr>
          <a:xfrm>
            <a:off x="1783080" y="5010912"/>
            <a:ext cx="1755648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25" name="Text 110"/>
          <p:cNvSpPr txBox="1"/>
          <p:nvPr/>
        </p:nvSpPr>
        <p:spPr>
          <a:xfrm>
            <a:off x="1801368" y="5010912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quietly</a:t>
            </a:r>
            <a:endParaRPr lang="en-US" sz="750" dirty="0"/>
          </a:p>
        </p:txBody>
      </p:sp>
      <p:sp>
        <p:nvSpPr>
          <p:cNvPr id="126" name="Shape 111"/>
          <p:cNvSpPr/>
          <p:nvPr/>
        </p:nvSpPr>
        <p:spPr>
          <a:xfrm>
            <a:off x="3566160" y="5010912"/>
            <a:ext cx="1755648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27" name="Text 112"/>
          <p:cNvSpPr txBox="1"/>
          <p:nvPr/>
        </p:nvSpPr>
        <p:spPr>
          <a:xfrm>
            <a:off x="3584448" y="5010912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 / WARNING</a:t>
            </a:r>
            <a:endParaRPr lang="en-US" sz="750" dirty="0"/>
          </a:p>
        </p:txBody>
      </p:sp>
      <p:sp>
        <p:nvSpPr>
          <p:cNvPr id="128" name="Shape 113"/>
          <p:cNvSpPr/>
          <p:nvPr/>
        </p:nvSpPr>
        <p:spPr>
          <a:xfrm>
            <a:off x="5349240" y="5010912"/>
            <a:ext cx="1755648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29" name="Text 114"/>
          <p:cNvSpPr txBox="1"/>
          <p:nvPr/>
        </p:nvSpPr>
        <p:spPr>
          <a:xfrm>
            <a:off x="5367528" y="5010912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interrupt</a:t>
            </a:r>
            <a:endParaRPr lang="en-US" sz="750" dirty="0"/>
          </a:p>
        </p:txBody>
      </p:sp>
      <p:sp>
        <p:nvSpPr>
          <p:cNvPr id="130" name="Shape 115"/>
          <p:cNvSpPr/>
          <p:nvPr/>
        </p:nvSpPr>
        <p:spPr>
          <a:xfrm>
            <a:off x="7132320" y="5010912"/>
            <a:ext cx="1755648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31" name="Text 116"/>
          <p:cNvSpPr txBox="1"/>
          <p:nvPr/>
        </p:nvSpPr>
        <p:spPr>
          <a:xfrm>
            <a:off x="7150608" y="5010912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+ voice</a:t>
            </a:r>
            <a:endParaRPr lang="en-US" sz="750" dirty="0"/>
          </a:p>
        </p:txBody>
      </p:sp>
      <p:sp>
        <p:nvSpPr>
          <p:cNvPr id="132" name="Shape 117"/>
          <p:cNvSpPr/>
          <p:nvPr/>
        </p:nvSpPr>
        <p:spPr>
          <a:xfrm>
            <a:off x="8915400" y="5010912"/>
            <a:ext cx="1755648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33" name="Text 118"/>
          <p:cNvSpPr txBox="1"/>
          <p:nvPr/>
        </p:nvSpPr>
        <p:spPr>
          <a:xfrm>
            <a:off x="8933688" y="5010912"/>
            <a:ext cx="171907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moment: full-screen card</a:t>
            </a:r>
            <a:endParaRPr lang="en-US" sz="750" dirty="0"/>
          </a:p>
        </p:txBody>
      </p:sp>
      <p:sp>
        <p:nvSpPr>
          <p:cNvPr id="134" name="Shape 119"/>
          <p:cNvSpPr/>
          <p:nvPr/>
        </p:nvSpPr>
        <p:spPr>
          <a:xfrm>
            <a:off x="10698480" y="5010912"/>
            <a:ext cx="1280160" cy="530352"/>
          </a:xfrm>
          <a:prstGeom prst="rect">
            <a:avLst/>
          </a:prstGeom>
          <a:solidFill>
            <a:srgbClr val="E6F6E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35" name="Text 120"/>
          <p:cNvSpPr txBox="1"/>
          <p:nvPr/>
        </p:nvSpPr>
        <p:spPr>
          <a:xfrm>
            <a:off x="10716768" y="5010912"/>
            <a:ext cx="124358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1930 report</a:t>
            </a:r>
            <a:endParaRPr lang="en-US" sz="750" dirty="0"/>
          </a:p>
        </p:txBody>
      </p:sp>
      <p:sp>
        <p:nvSpPr>
          <p:cNvPr id="136" name="Shape 121"/>
          <p:cNvSpPr/>
          <p:nvPr/>
        </p:nvSpPr>
        <p:spPr>
          <a:xfrm>
            <a:off x="548640" y="5577840"/>
            <a:ext cx="1207008" cy="466344"/>
          </a:xfrm>
          <a:prstGeom prst="rect">
            <a:avLst/>
          </a:prstGeom>
          <a:solidFill>
            <a:srgbClr val="16161C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37" name="Text 122"/>
          <p:cNvSpPr txBox="1"/>
          <p:nvPr/>
        </p:nvSpPr>
        <p:spPr>
          <a:xfrm>
            <a:off x="566928" y="5577840"/>
            <a:ext cx="117043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138" name="Shape 123"/>
          <p:cNvSpPr/>
          <p:nvPr/>
        </p:nvSpPr>
        <p:spPr>
          <a:xfrm>
            <a:off x="1783080" y="5577840"/>
            <a:ext cx="1755648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39" name="Text 124"/>
          <p:cNvSpPr txBox="1"/>
          <p:nvPr/>
        </p:nvSpPr>
        <p:spPr>
          <a:xfrm>
            <a:off x="1801368" y="5577840"/>
            <a:ext cx="171907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skipped by dHash</a:t>
            </a:r>
            <a:endParaRPr lang="en-US" sz="750" dirty="0"/>
          </a:p>
        </p:txBody>
      </p:sp>
      <p:sp>
        <p:nvSpPr>
          <p:cNvPr id="140" name="Shape 125"/>
          <p:cNvSpPr/>
          <p:nvPr/>
        </p:nvSpPr>
        <p:spPr>
          <a:xfrm>
            <a:off x="3566160" y="5577840"/>
            <a:ext cx="1755648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41" name="Text 126"/>
          <p:cNvSpPr txBox="1"/>
          <p:nvPr/>
        </p:nvSpPr>
        <p:spPr>
          <a:xfrm>
            <a:off x="3584448" y="5577840"/>
            <a:ext cx="171907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to first WARNING</a:t>
            </a:r>
            <a:endParaRPr lang="en-US" sz="750" dirty="0"/>
          </a:p>
        </p:txBody>
      </p:sp>
      <p:sp>
        <p:nvSpPr>
          <p:cNvPr id="142" name="Shape 127"/>
          <p:cNvSpPr/>
          <p:nvPr/>
        </p:nvSpPr>
        <p:spPr>
          <a:xfrm>
            <a:off x="5349240" y="5577840"/>
            <a:ext cx="1755648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43" name="Text 128"/>
          <p:cNvSpPr txBox="1"/>
          <p:nvPr/>
        </p:nvSpPr>
        <p:spPr>
          <a:xfrm>
            <a:off x="5367528" y="5577840"/>
            <a:ext cx="171907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before money ask</a:t>
            </a:r>
            <a:endParaRPr lang="en-US" sz="750" dirty="0"/>
          </a:p>
        </p:txBody>
      </p:sp>
      <p:sp>
        <p:nvSpPr>
          <p:cNvPr id="144" name="Shape 129"/>
          <p:cNvSpPr/>
          <p:nvPr/>
        </p:nvSpPr>
        <p:spPr>
          <a:xfrm>
            <a:off x="7132320" y="5577840"/>
            <a:ext cx="1755648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45" name="Text 130"/>
          <p:cNvSpPr txBox="1"/>
          <p:nvPr/>
        </p:nvSpPr>
        <p:spPr>
          <a:xfrm>
            <a:off x="7150608" y="5577840"/>
            <a:ext cx="171907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before connect</a:t>
            </a:r>
            <a:endParaRPr lang="en-US" sz="750" dirty="0"/>
          </a:p>
        </p:txBody>
      </p:sp>
      <p:sp>
        <p:nvSpPr>
          <p:cNvPr id="146" name="Shape 131"/>
          <p:cNvSpPr/>
          <p:nvPr/>
        </p:nvSpPr>
        <p:spPr>
          <a:xfrm>
            <a:off x="8915400" y="5577840"/>
            <a:ext cx="1755648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47" name="Text 132"/>
          <p:cNvSpPr txBox="1"/>
          <p:nvPr/>
        </p:nvSpPr>
        <p:spPr>
          <a:xfrm>
            <a:off x="8933688" y="5577840"/>
            <a:ext cx="1719072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requests interrupted</a:t>
            </a:r>
            <a:endParaRPr lang="en-US" sz="750" dirty="0"/>
          </a:p>
        </p:txBody>
      </p:sp>
      <p:sp>
        <p:nvSpPr>
          <p:cNvPr id="148" name="Shape 133"/>
          <p:cNvSpPr/>
          <p:nvPr/>
        </p:nvSpPr>
        <p:spPr>
          <a:xfrm>
            <a:off x="10698480" y="5577840"/>
            <a:ext cx="1280160" cy="466344"/>
          </a:xfrm>
          <a:prstGeom prst="rect">
            <a:avLst/>
          </a:prstGeom>
          <a:solidFill>
            <a:srgbClr val="FFF3DD"/>
          </a:solidFill>
          <a:ln w="6350">
            <a:solidFill>
              <a:srgbClr val="E3DCD1"/>
            </a:solidFill>
            <a:prstDash val="solid"/>
          </a:ln>
        </p:spPr>
      </p:sp>
      <p:sp>
        <p:nvSpPr>
          <p:cNvPr id="149" name="Text 134"/>
          <p:cNvSpPr txBox="1"/>
          <p:nvPr/>
        </p:nvSpPr>
        <p:spPr>
          <a:xfrm>
            <a:off x="10716768" y="5577840"/>
            <a:ext cx="1243584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fields captured</a:t>
            </a:r>
            <a:endParaRPr lang="en-US" sz="750" dirty="0"/>
          </a:p>
        </p:txBody>
      </p:sp>
      <p:sp>
        <p:nvSpPr>
          <p:cNvPr id="150" name="Text 135"/>
          <p:cNvSpPr txBox="1"/>
          <p:nvPr/>
        </p:nvSpPr>
        <p:spPr>
          <a:xfrm>
            <a:off x="548640" y="6327648"/>
            <a:ext cx="7315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emotion row is illustrative, drawn from how victims describe these calls in news reports.</a:t>
            </a:r>
            <a:endParaRPr lang="en-US" sz="650" dirty="0"/>
          </a:p>
        </p:txBody>
      </p:sp>
      <p:sp>
        <p:nvSpPr>
          <p:cNvPr id="151" name="Text 136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candidate solutions, scored against the judging criteria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1-5, weights from AHP (next slide). Green = 5, pink = 1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88720"/>
          <a:ext cx="7818120" cy="914400"/>
        </p:xfrm>
        <a:graphic>
          <a:graphicData uri="http://schemas.openxmlformats.org/drawingml/2006/table">
            <a:tbl>
              <a:tblPr/>
              <a:tblGrid>
                <a:gridCol w="256032"/>
                <a:gridCol w="3081528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solution for Snapdragon HP AI PCs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depth on NPU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(w=0.31)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(w=0.19)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impact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(w=0.17)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&amp; access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(w=0.14)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on-device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(w=0.09)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Buildability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(w=0.10)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Sajag: on-device multimodal scam shield (screen + call + system)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4.76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Deepfake video-call detector (face + voice liveness)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crop-disease + Hindi voice advisor for CSC / FPO kiosks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Drone-video triage ground station for disaster response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Rural clinic medical scribe (ASR + note LLM)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Sign Language to speech translator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DPDP-compliance PII redaction shield for SMEs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Indic KYC / form assistant for CSC operators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Low-vision scene describer (VLM on NPU)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3.29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Energy-aware AI workload router (CPU / GPU / NPU)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Always-on posture &amp; eye-strain coach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3.20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Indic live captions for classrooms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RAG second brain over personal files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meeting / lecture copilot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On-device AI exam proctor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5"/>
          <p:cNvSpPr/>
          <p:nvPr/>
        </p:nvSpPr>
        <p:spPr>
          <a:xfrm>
            <a:off x="8156448" y="1188720"/>
            <a:ext cx="3803904" cy="2487168"/>
          </a:xfrm>
          <a:prstGeom prst="roundRect">
            <a:avLst>
              <a:gd name="adj" fmla="val 2574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47888" y="1252728"/>
            <a:ext cx="3621024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247888" y="125272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funnel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 flipV="1">
            <a:off x="8321040" y="1600200"/>
            <a:ext cx="3474720" cy="438912"/>
          </a:xfrm>
          <a:prstGeom prst="trapezoid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8321040" y="1600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AI Hub models  </a:t>
            </a:r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for Indian use cases</a:t>
            </a:r>
            <a:endParaRPr lang="en-US" sz="830" dirty="0"/>
          </a:p>
        </p:txBody>
      </p:sp>
      <p:sp>
        <p:nvSpPr>
          <p:cNvPr id="46" name="Shape 40"/>
          <p:cNvSpPr/>
          <p:nvPr/>
        </p:nvSpPr>
        <p:spPr>
          <a:xfrm flipV="1">
            <a:off x="8595360" y="2103120"/>
            <a:ext cx="2926080" cy="438912"/>
          </a:xfrm>
          <a:prstGeom prst="trapezoid">
            <a:avLst/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8595360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ideas  </a:t>
            </a:r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on 6 criteria</a:t>
            </a:r>
            <a:endParaRPr lang="en-US" sz="830" dirty="0"/>
          </a:p>
        </p:txBody>
      </p:sp>
      <p:sp>
        <p:nvSpPr>
          <p:cNvPr id="48" name="Shape 42"/>
          <p:cNvSpPr/>
          <p:nvPr/>
        </p:nvSpPr>
        <p:spPr>
          <a:xfrm flipV="1">
            <a:off x="8869680" y="2606040"/>
            <a:ext cx="2377440" cy="438912"/>
          </a:xfrm>
          <a:prstGeom prst="trapezoid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8869680" y="2606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shortlisted  </a:t>
            </a:r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 &gt; 3.5</a:t>
            </a:r>
            <a:endParaRPr lang="en-US" sz="830" dirty="0"/>
          </a:p>
        </p:txBody>
      </p:sp>
      <p:sp>
        <p:nvSpPr>
          <p:cNvPr id="50" name="Shape 44"/>
          <p:cNvSpPr/>
          <p:nvPr/>
        </p:nvSpPr>
        <p:spPr>
          <a:xfrm flipV="1">
            <a:off x="9144000" y="3108960"/>
            <a:ext cx="1828800" cy="438912"/>
          </a:xfrm>
          <a:prstGeom prst="trapezoid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144000" y="3108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built: Sajag AI  </a:t>
            </a:r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4.76 / 5</a:t>
            </a:r>
            <a:endParaRPr lang="en-US" sz="830" dirty="0"/>
          </a:p>
        </p:txBody>
      </p:sp>
      <p:sp>
        <p:nvSpPr>
          <p:cNvPr id="52" name="Shape 46"/>
          <p:cNvSpPr/>
          <p:nvPr/>
        </p:nvSpPr>
        <p:spPr>
          <a:xfrm>
            <a:off x="8156448" y="3749040"/>
            <a:ext cx="380390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8247888" y="3813048"/>
            <a:ext cx="3621024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8247888" y="381304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ideas were generated</a:t>
            </a:r>
            <a:endParaRPr lang="en-US" sz="90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133088"/>
            <a:ext cx="292608" cy="292608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8577072" y="4114800"/>
            <a:ext cx="33375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AI Hub's catalogue (VAD, ASR, OCR, LLM, VLM, pose) to Indian problems</a:t>
            </a:r>
            <a:endParaRPr lang="en-US" sz="750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4471416"/>
            <a:ext cx="292608" cy="292608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8577072" y="4453128"/>
            <a:ext cx="33375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public challenge repos to avoid crowded themes</a:t>
            </a:r>
            <a:endParaRPr lang="en-US" sz="750" dirty="0"/>
          </a:p>
        </p:txBody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4809744"/>
            <a:ext cx="292608" cy="292608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8577072" y="4791456"/>
            <a:ext cx="33375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against the 4 official judging criteria</a:t>
            </a:r>
            <a:endParaRPr lang="en-US" sz="750" dirty="0"/>
          </a:p>
        </p:txBody>
      </p:sp>
      <p:sp>
        <p:nvSpPr>
          <p:cNvPr id="61" name="Shape 52"/>
          <p:cNvSpPr/>
          <p:nvPr/>
        </p:nvSpPr>
        <p:spPr>
          <a:xfrm>
            <a:off x="8156448" y="5230368"/>
            <a:ext cx="38039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8247888" y="5294376"/>
            <a:ext cx="3621024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8247888" y="52943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runner-ups lost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8247888" y="5596128"/>
            <a:ext cx="362102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detector: </a:t>
            </a:r>
            <a:pPr indent="0" marL="0">
              <a:spcAft>
                <a:spcPts val="25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validated Indian dataset</a:t>
            </a:r>
            <a:endParaRPr lang="en-US" sz="75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kiosk: </a:t>
            </a:r>
            <a:pPr indent="0" marL="0">
              <a:spcAft>
                <a:spcPts val="25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use phones, not PCs</a:t>
            </a:r>
            <a:endParaRPr lang="en-US" sz="75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triage: </a:t>
            </a:r>
            <a:pPr indent="0" marL="0">
              <a:spcAft>
                <a:spcPts val="25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aerial fine-tuning + hardware</a:t>
            </a:r>
            <a:endParaRPr lang="en-US" sz="75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/ RAG: </a:t>
            </a:r>
            <a:pPr indent="0" marL="0">
              <a:spcAft>
                <a:spcPts val="25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crowded, built into Windows</a:t>
            </a:r>
            <a:endParaRPr lang="en-US" sz="750" dirty="0"/>
          </a:p>
        </p:txBody>
      </p:sp>
      <p:sp>
        <p:nvSpPr>
          <p:cNvPr id="65" name="Text 56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Sajag: AHP-weighted choice and a clear gap in the market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consistency ratio 0.013 (&lt; 0.10 = consistent judgements)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452628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434340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pairwise comparison of criteria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81912"/>
          <a:ext cx="4343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"/>
                <a:gridCol w="429768"/>
                <a:gridCol w="429768"/>
                <a:gridCol w="429768"/>
                <a:gridCol w="429768"/>
                <a:gridCol w="429768"/>
                <a:gridCol w="57607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Tech depth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Innovation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India impact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Deploy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 On-device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0.090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C6 Build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0.101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44" name="Text 38"/>
          <p:cNvSpPr txBox="1"/>
          <p:nvPr/>
        </p:nvSpPr>
        <p:spPr>
          <a:xfrm>
            <a:off x="320040" y="3401568"/>
            <a:ext cx="43434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weighs most because Technical Implementation is the first judging criterion and the official tie-breaker.</a:t>
            </a:r>
            <a:endParaRPr lang="en-US" sz="730" dirty="0"/>
          </a:p>
        </p:txBody>
      </p:sp>
      <p:sp>
        <p:nvSpPr>
          <p:cNvPr id="45" name="Shape 39"/>
          <p:cNvSpPr/>
          <p:nvPr/>
        </p:nvSpPr>
        <p:spPr>
          <a:xfrm>
            <a:off x="4846320" y="1188720"/>
            <a:ext cx="324612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937760" y="1252728"/>
            <a:ext cx="306324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937760" y="1252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5, weighted score</a:t>
            </a:r>
            <a:endParaRPr lang="en-US" sz="90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4892040" y="1554480"/>
          <a:ext cx="3154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9" name="Shape 42"/>
          <p:cNvSpPr/>
          <p:nvPr/>
        </p:nvSpPr>
        <p:spPr>
          <a:xfrm>
            <a:off x="8183880" y="1188720"/>
            <a:ext cx="3776472" cy="2697480"/>
          </a:xfrm>
          <a:prstGeom prst="roundRect">
            <a:avLst>
              <a:gd name="adj" fmla="val 2373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8275320" y="1252728"/>
            <a:ext cx="359359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8275320" y="125272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Sajag different</a:t>
            </a:r>
            <a:endParaRPr lang="en-US" sz="900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45920"/>
            <a:ext cx="347472" cy="347472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659368" y="1600200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+ screen + system, over the whole call</a:t>
            </a:r>
            <a:endParaRPr lang="en-US" sz="73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1645920"/>
            <a:ext cx="347472" cy="347472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469880" y="1600200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Devanagari, Hinglish cues</a:t>
            </a:r>
            <a:endParaRPr lang="en-US" sz="730" dirty="0"/>
          </a:p>
        </p:txBody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395728"/>
            <a:ext cx="347472" cy="34747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659368" y="2350008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PC-native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call app via audio loopback</a:t>
            </a:r>
            <a:endParaRPr lang="en-US" sz="73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2" y="2395728"/>
            <a:ext cx="347472" cy="34747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469880" y="2350008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construction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stored, nothing uploaded</a:t>
            </a:r>
            <a:endParaRPr lang="en-US" sz="730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3145536"/>
            <a:ext cx="347472" cy="347472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8659368" y="3099816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report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complaint in one click</a:t>
            </a:r>
            <a:endParaRPr lang="en-US" sz="730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5832" y="3145536"/>
            <a:ext cx="347472" cy="34747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0469880" y="3099816"/>
            <a:ext cx="1417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tests, held-out eval, bench</a:t>
            </a:r>
            <a:endParaRPr lang="en-US" sz="730" dirty="0"/>
          </a:p>
        </p:txBody>
      </p:sp>
      <p:sp>
        <p:nvSpPr>
          <p:cNvPr id="64" name="Shape 51"/>
          <p:cNvSpPr/>
          <p:nvPr/>
        </p:nvSpPr>
        <p:spPr>
          <a:xfrm>
            <a:off x="228600" y="3977640"/>
            <a:ext cx="11731752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320040" y="4041648"/>
            <a:ext cx="1154887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66" name="Text 53"/>
          <p:cNvSpPr txBox="1"/>
          <p:nvPr/>
        </p:nvSpPr>
        <p:spPr>
          <a:xfrm>
            <a:off x="320040" y="404164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against what exists today (from public documentation, Sept 2026)</a:t>
            </a:r>
            <a:endParaRPr lang="en-US" sz="90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6160" y="4370832"/>
            <a:ext cx="274320" cy="27432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3867912" y="4352544"/>
            <a:ext cx="868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75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370832"/>
            <a:ext cx="274320" cy="274320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5102352" y="4352544"/>
            <a:ext cx="1005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Scareware</a:t>
            </a:r>
            <a:endParaRPr lang="en-US" sz="7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4370832"/>
            <a:ext cx="274320" cy="274320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6473952" y="4352544"/>
            <a:ext cx="1097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on-device</a:t>
            </a:r>
            <a:endParaRPr lang="en-US" sz="750" dirty="0"/>
          </a:p>
        </p:txBody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240" y="4370832"/>
            <a:ext cx="274320" cy="274320"/>
          </a:xfrm>
          <a:prstGeom prst="rect">
            <a:avLst/>
          </a:prstGeom>
        </p:spPr>
      </p:pic>
      <p:sp>
        <p:nvSpPr>
          <p:cNvPr id="74" name="Text 57"/>
          <p:cNvSpPr txBox="1"/>
          <p:nvPr/>
        </p:nvSpPr>
        <p:spPr>
          <a:xfrm>
            <a:off x="7936992" y="4352544"/>
            <a:ext cx="1051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Caller-ID apps</a:t>
            </a:r>
            <a:endParaRPr lang="en-US" sz="75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2560" y="4370832"/>
            <a:ext cx="274320" cy="274320"/>
          </a:xfrm>
          <a:prstGeom prst="rect">
            <a:avLst/>
          </a:prstGeom>
        </p:spPr>
      </p:pic>
      <p:sp>
        <p:nvSpPr>
          <p:cNvPr id="76" name="Text 58"/>
          <p:cNvSpPr txBox="1"/>
          <p:nvPr/>
        </p:nvSpPr>
        <p:spPr>
          <a:xfrm>
            <a:off x="9354312" y="4352544"/>
            <a:ext cx="10515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SMS / ads</a:t>
            </a:r>
            <a:endParaRPr lang="en-US" sz="750" dirty="0"/>
          </a:p>
        </p:txBody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69880" y="4370832"/>
            <a:ext cx="274320" cy="274320"/>
          </a:xfrm>
          <a:prstGeom prst="rect">
            <a:avLst/>
          </a:prstGeom>
        </p:spPr>
      </p:pic>
      <p:sp>
        <p:nvSpPr>
          <p:cNvPr id="78" name="Text 59"/>
          <p:cNvSpPr txBox="1"/>
          <p:nvPr/>
        </p:nvSpPr>
        <p:spPr>
          <a:xfrm>
            <a:off x="10771632" y="4352544"/>
            <a:ext cx="107899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/ Sanchar Saathi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115488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1371600"/>
                <a:gridCol w="1463040"/>
                <a:gridCol w="1417320"/>
                <a:gridCol w="1417320"/>
                <a:gridCol w="1444752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9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Acts during the scam, in real time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Understands call audio in Hindi / Hinglish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any screen or app, not only the browser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remote-access tools during a call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fully on-device, no upload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on Windows call apps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Prepares the 1930 complaint for the victim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Text 60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big idea: a private guardian that sees, hears and stops scams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sentinels, one fusion brain, one-click help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292608" cy="2240280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 rot="16200000">
            <a:off x="-745236" y="21625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548640" y="1188720"/>
            <a:ext cx="11411712" cy="2240280"/>
          </a:xfrm>
          <a:prstGeom prst="roundRect">
            <a:avLst>
              <a:gd name="adj" fmla="val 2857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280160"/>
            <a:ext cx="822960" cy="82296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2139696" y="1691640"/>
            <a:ext cx="347472" cy="0"/>
          </a:xfrm>
          <a:prstGeom prst="line">
            <a:avLst/>
          </a:prstGeom>
          <a:noFill/>
          <a:ln w="19050">
            <a:solidFill>
              <a:srgbClr val="D7002A"/>
            </a:solidFill>
            <a:prstDash val="solid"/>
            <a:tailEnd type="triangle"/>
          </a:ln>
        </p:spPr>
      </p:sp>
      <p:sp>
        <p:nvSpPr>
          <p:cNvPr id="45" name="Text 39"/>
          <p:cNvSpPr txBox="1"/>
          <p:nvPr/>
        </p:nvSpPr>
        <p:spPr>
          <a:xfrm>
            <a:off x="658368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Kamla ji, 67, answers a WhatsApp video call from 'Inspector Sharma, Mumbai Police'.</a:t>
            </a:r>
            <a:endParaRPr lang="en-US" sz="860" dirty="0"/>
          </a:p>
        </p:txBody>
      </p:sp>
      <p:sp>
        <p:nvSpPr>
          <p:cNvPr id="46" name="Shape 40"/>
          <p:cNvSpPr/>
          <p:nvPr/>
        </p:nvSpPr>
        <p:spPr>
          <a:xfrm>
            <a:off x="804672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804672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sentinel</a:t>
            </a:r>
            <a:endParaRPr lang="en-US" sz="75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1280160"/>
            <a:ext cx="822960" cy="82296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4023360" y="1691640"/>
            <a:ext cx="347472" cy="0"/>
          </a:xfrm>
          <a:prstGeom prst="line">
            <a:avLst/>
          </a:prstGeom>
          <a:noFill/>
          <a:ln w="19050">
            <a:solidFill>
              <a:srgbClr val="D7002A"/>
            </a:solidFill>
            <a:prstDash val="solid"/>
            <a:tailEnd type="triangle"/>
          </a:ln>
        </p:spPr>
      </p:sp>
      <p:sp>
        <p:nvSpPr>
          <p:cNvPr id="50" name="Text 43"/>
          <p:cNvSpPr txBox="1"/>
          <p:nvPr/>
        </p:nvSpPr>
        <p:spPr>
          <a:xfrm>
            <a:off x="2542032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 FedEx parcel in your name has drugs. Your Aadhaar is in a money-laundering case.'</a:t>
            </a:r>
            <a:endParaRPr lang="en-US" sz="860" dirty="0"/>
          </a:p>
        </p:txBody>
      </p:sp>
      <p:sp>
        <p:nvSpPr>
          <p:cNvPr id="51" name="Shape 44"/>
          <p:cNvSpPr/>
          <p:nvPr/>
        </p:nvSpPr>
        <p:spPr>
          <a:xfrm>
            <a:off x="2688336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2688336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sentinel (Whisper)</a:t>
            </a:r>
            <a:endParaRPr lang="en-US" sz="75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1280160"/>
            <a:ext cx="822960" cy="82296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907024" y="1691640"/>
            <a:ext cx="347472" cy="0"/>
          </a:xfrm>
          <a:prstGeom prst="line">
            <a:avLst/>
          </a:prstGeom>
          <a:noFill/>
          <a:ln w="19050">
            <a:solidFill>
              <a:srgbClr val="D7002A"/>
            </a:solidFill>
            <a:prstDash val="solid"/>
            <a:tailEnd type="triangle"/>
          </a:ln>
        </p:spPr>
      </p:sp>
      <p:sp>
        <p:nvSpPr>
          <p:cNvPr id="55" name="Text 47"/>
          <p:cNvSpPr txBox="1"/>
          <p:nvPr/>
        </p:nvSpPr>
        <p:spPr>
          <a:xfrm>
            <a:off x="4425696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'CBI arrest warrant' appears on her screen. Sajag's NPU OCR reads it: WARNING.</a:t>
            </a:r>
            <a:endParaRPr lang="en-US" sz="860" dirty="0"/>
          </a:p>
        </p:txBody>
      </p:sp>
      <p:sp>
        <p:nvSpPr>
          <p:cNvPr id="56" name="Shape 48"/>
          <p:cNvSpPr/>
          <p:nvPr/>
        </p:nvSpPr>
        <p:spPr>
          <a:xfrm>
            <a:off x="4572000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457200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sentinel (OCR)</a:t>
            </a:r>
            <a:endParaRPr lang="en-US" sz="75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1280160"/>
            <a:ext cx="822960" cy="822960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7790688" y="1691640"/>
            <a:ext cx="347472" cy="0"/>
          </a:xfrm>
          <a:prstGeom prst="line">
            <a:avLst/>
          </a:prstGeom>
          <a:noFill/>
          <a:ln w="19050">
            <a:solidFill>
              <a:srgbClr val="D7002A"/>
            </a:solidFill>
            <a:prstDash val="solid"/>
            <a:tailEnd type="triangle"/>
          </a:ln>
        </p:spPr>
      </p:sp>
      <p:sp>
        <p:nvSpPr>
          <p:cNvPr id="60" name="Text 51"/>
          <p:cNvSpPr txBox="1"/>
          <p:nvPr/>
        </p:nvSpPr>
        <p:spPr>
          <a:xfrm>
            <a:off x="6309360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'Tell no one. Stay on camera.' Sajag's fusion sees authority + threat + secrecy.</a:t>
            </a:r>
            <a:endParaRPr lang="en-US" sz="860" dirty="0"/>
          </a:p>
        </p:txBody>
      </p:sp>
      <p:sp>
        <p:nvSpPr>
          <p:cNvPr id="61" name="Shape 52"/>
          <p:cNvSpPr/>
          <p:nvPr/>
        </p:nvSpPr>
        <p:spPr>
          <a:xfrm>
            <a:off x="6455664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6455664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Fusion: 3 tactics</a:t>
            </a:r>
            <a:endParaRPr lang="en-US" sz="75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4" y="1280160"/>
            <a:ext cx="822960" cy="82296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9674352" y="1691640"/>
            <a:ext cx="347472" cy="0"/>
          </a:xfrm>
          <a:prstGeom prst="line">
            <a:avLst/>
          </a:prstGeom>
          <a:noFill/>
          <a:ln w="19050">
            <a:solidFill>
              <a:srgbClr val="D7002A"/>
            </a:solidFill>
            <a:prstDash val="solid"/>
            <a:tailEnd type="triangle"/>
          </a:ln>
        </p:spPr>
      </p:sp>
      <p:sp>
        <p:nvSpPr>
          <p:cNvPr id="65" name="Text 55"/>
          <p:cNvSpPr txBox="1"/>
          <p:nvPr/>
        </p:nvSpPr>
        <p:spPr>
          <a:xfrm>
            <a:off x="8193024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DANGER: full-screen Hindi card + voice. 'Police never arrest on video calls. Hang up. Call 1930.'</a:t>
            </a:r>
            <a:endParaRPr lang="en-US" sz="860" dirty="0"/>
          </a:p>
        </p:txBody>
      </p:sp>
      <p:sp>
        <p:nvSpPr>
          <p:cNvPr id="66" name="Shape 56"/>
          <p:cNvSpPr/>
          <p:nvPr/>
        </p:nvSpPr>
        <p:spPr>
          <a:xfrm>
            <a:off x="8339328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7" name="Text 57"/>
          <p:cNvSpPr txBox="1"/>
          <p:nvPr/>
        </p:nvSpPr>
        <p:spPr>
          <a:xfrm>
            <a:off x="8339328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Interrupt: DANGER</a:t>
            </a:r>
            <a:endParaRPr lang="en-US" sz="750" dirty="0"/>
          </a:p>
        </p:txBody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888" y="1280160"/>
            <a:ext cx="822960" cy="822960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076688" y="2148840"/>
            <a:ext cx="175564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hangs up. One click gives her a 1930 report with the caller's account, IFSC and phone number.</a:t>
            </a:r>
            <a:endParaRPr lang="en-US" sz="860" dirty="0"/>
          </a:p>
        </p:txBody>
      </p:sp>
      <p:sp>
        <p:nvSpPr>
          <p:cNvPr id="70" name="Shape 59"/>
          <p:cNvSpPr/>
          <p:nvPr/>
        </p:nvSpPr>
        <p:spPr>
          <a:xfrm>
            <a:off x="10222992" y="306324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10222992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report</a:t>
            </a:r>
            <a:endParaRPr lang="en-US" sz="750" dirty="0"/>
          </a:p>
        </p:txBody>
      </p:sp>
      <p:sp>
        <p:nvSpPr>
          <p:cNvPr id="72" name="Shape 61"/>
          <p:cNvSpPr/>
          <p:nvPr/>
        </p:nvSpPr>
        <p:spPr>
          <a:xfrm>
            <a:off x="228600" y="3520440"/>
            <a:ext cx="292608" cy="303580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 rot="16200000">
            <a:off x="-1143000" y="48920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74" name="Shape 63"/>
          <p:cNvSpPr/>
          <p:nvPr/>
        </p:nvSpPr>
        <p:spPr>
          <a:xfrm>
            <a:off x="548640" y="3520440"/>
            <a:ext cx="207568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3253DC"/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621792" y="3584448"/>
            <a:ext cx="1929384" cy="420624"/>
          </a:xfrm>
          <a:prstGeom prst="roundRect">
            <a:avLst>
              <a:gd name="adj" fmla="val 10870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pic>
        <p:nvPicPr>
          <p:cNvPr id="7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3611880"/>
            <a:ext cx="365760" cy="365760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1060704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Sense</a:t>
            </a:r>
            <a:endParaRPr lang="en-US" sz="1100" dirty="0"/>
          </a:p>
        </p:txBody>
      </p:sp>
      <p:sp>
        <p:nvSpPr>
          <p:cNvPr id="78" name="Text 66"/>
          <p:cNvSpPr txBox="1"/>
          <p:nvPr/>
        </p:nvSpPr>
        <p:spPr>
          <a:xfrm>
            <a:off x="621792" y="406908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audio: WASAPI loopback, any call app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Screen: capture every 2 s, dHash gate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14 remote tools, 9 call apps</a:t>
            </a:r>
            <a:endParaRPr lang="en-US" sz="850" dirty="0"/>
          </a:p>
        </p:txBody>
      </p:sp>
      <p:sp>
        <p:nvSpPr>
          <p:cNvPr id="79" name="Shape 67"/>
          <p:cNvSpPr/>
          <p:nvPr/>
        </p:nvSpPr>
        <p:spPr>
          <a:xfrm>
            <a:off x="640080" y="5074920"/>
            <a:ext cx="1892808" cy="274320"/>
          </a:xfrm>
          <a:prstGeom prst="roundRect">
            <a:avLst>
              <a:gd name="adj" fmla="val 16667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80" name="Text 68"/>
          <p:cNvSpPr txBox="1"/>
          <p:nvPr/>
        </p:nvSpPr>
        <p:spPr>
          <a:xfrm>
            <a:off x="640080" y="50749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on: CPU, microseconds</a:t>
            </a:r>
            <a:endParaRPr lang="en-US" sz="760" dirty="0"/>
          </a:p>
        </p:txBody>
      </p:sp>
      <p:sp>
        <p:nvSpPr>
          <p:cNvPr id="81" name="Shape 69"/>
          <p:cNvSpPr/>
          <p:nvPr/>
        </p:nvSpPr>
        <p:spPr>
          <a:xfrm>
            <a:off x="2697480" y="3520440"/>
            <a:ext cx="207568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7B3FA0"/>
            </a:solidFill>
            <a:prstDash val="solid"/>
          </a:ln>
        </p:spPr>
      </p:sp>
      <p:sp>
        <p:nvSpPr>
          <p:cNvPr id="82" name="Shape 70"/>
          <p:cNvSpPr/>
          <p:nvPr/>
        </p:nvSpPr>
        <p:spPr>
          <a:xfrm>
            <a:off x="2770632" y="3584448"/>
            <a:ext cx="1929384" cy="420624"/>
          </a:xfrm>
          <a:prstGeom prst="roundRect">
            <a:avLst>
              <a:gd name="adj" fmla="val 1087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7208" y="3611880"/>
            <a:ext cx="365760" cy="365760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3209544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Understand</a:t>
            </a:r>
            <a:endParaRPr lang="en-US" sz="1100" dirty="0"/>
          </a:p>
        </p:txBody>
      </p:sp>
      <p:sp>
        <p:nvSpPr>
          <p:cNvPr id="85" name="Text 72"/>
          <p:cNvSpPr txBox="1"/>
          <p:nvPr/>
        </p:nvSpPr>
        <p:spPr>
          <a:xfrm>
            <a:off x="2770632" y="406908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Silero-VAD + Whisper-Small on NPU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PP-OCRv4 det + rec on NPU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cues, 10 tactics, ONNX classifier</a:t>
            </a:r>
            <a:endParaRPr lang="en-US" sz="850" dirty="0"/>
          </a:p>
        </p:txBody>
      </p:sp>
      <p:sp>
        <p:nvSpPr>
          <p:cNvPr id="86" name="Shape 73"/>
          <p:cNvSpPr/>
          <p:nvPr/>
        </p:nvSpPr>
        <p:spPr>
          <a:xfrm>
            <a:off x="2788920" y="5074920"/>
            <a:ext cx="1892808" cy="274320"/>
          </a:xfrm>
          <a:prstGeom prst="roundRect">
            <a:avLst>
              <a:gd name="adj" fmla="val 16667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87" name="Text 74"/>
          <p:cNvSpPr txBox="1"/>
          <p:nvPr/>
        </p:nvSpPr>
        <p:spPr>
          <a:xfrm>
            <a:off x="2788920" y="50749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on: Hexagon NPU</a:t>
            </a:r>
            <a:endParaRPr lang="en-US" sz="760" dirty="0"/>
          </a:p>
        </p:txBody>
      </p:sp>
      <p:sp>
        <p:nvSpPr>
          <p:cNvPr id="88" name="Shape 75"/>
          <p:cNvSpPr/>
          <p:nvPr/>
        </p:nvSpPr>
        <p:spPr>
          <a:xfrm>
            <a:off x="4846320" y="3520440"/>
            <a:ext cx="207568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7002A"/>
            </a:solidFill>
            <a:prstDash val="solid"/>
          </a:ln>
        </p:spPr>
      </p:sp>
      <p:sp>
        <p:nvSpPr>
          <p:cNvPr id="89" name="Shape 76"/>
          <p:cNvSpPr/>
          <p:nvPr/>
        </p:nvSpPr>
        <p:spPr>
          <a:xfrm>
            <a:off x="4919472" y="3584448"/>
            <a:ext cx="1929384" cy="420624"/>
          </a:xfrm>
          <a:prstGeom prst="roundRect">
            <a:avLst>
              <a:gd name="adj" fmla="val 1087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6048" y="3611880"/>
            <a:ext cx="365760" cy="365760"/>
          </a:xfrm>
          <a:prstGeom prst="rect">
            <a:avLst/>
          </a:prstGeom>
        </p:spPr>
      </p:pic>
      <p:sp>
        <p:nvSpPr>
          <p:cNvPr id="91" name="Text 77"/>
          <p:cNvSpPr txBox="1"/>
          <p:nvPr/>
        </p:nvSpPr>
        <p:spPr>
          <a:xfrm>
            <a:off x="5358384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Decide</a:t>
            </a:r>
            <a:endParaRPr lang="en-US" sz="1100" dirty="0"/>
          </a:p>
        </p:txBody>
      </p:sp>
      <p:sp>
        <p:nvSpPr>
          <p:cNvPr id="92" name="Text 78"/>
          <p:cNvSpPr txBox="1"/>
          <p:nvPr/>
        </p:nvSpPr>
        <p:spPr>
          <a:xfrm>
            <a:off x="4919472" y="406908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fusion over 15 minutes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rules: remote + OTP, secrecy + money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/ CAUTION / WARNING / DANGER</a:t>
            </a:r>
            <a:endParaRPr lang="en-US" sz="850" dirty="0"/>
          </a:p>
        </p:txBody>
      </p:sp>
      <p:sp>
        <p:nvSpPr>
          <p:cNvPr id="93" name="Shape 79"/>
          <p:cNvSpPr/>
          <p:nvPr/>
        </p:nvSpPr>
        <p:spPr>
          <a:xfrm>
            <a:off x="4937760" y="5074920"/>
            <a:ext cx="1892808" cy="274320"/>
          </a:xfrm>
          <a:prstGeom prst="roundRect">
            <a:avLst>
              <a:gd name="adj" fmla="val 1666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4" name="Text 80"/>
          <p:cNvSpPr txBox="1"/>
          <p:nvPr/>
        </p:nvSpPr>
        <p:spPr>
          <a:xfrm>
            <a:off x="4937760" y="50749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on: CPU, &lt; 2 ms</a:t>
            </a:r>
            <a:endParaRPr lang="en-US" sz="760" dirty="0"/>
          </a:p>
        </p:txBody>
      </p:sp>
      <p:sp>
        <p:nvSpPr>
          <p:cNvPr id="95" name="Shape 81"/>
          <p:cNvSpPr/>
          <p:nvPr/>
        </p:nvSpPr>
        <p:spPr>
          <a:xfrm>
            <a:off x="6995160" y="3520440"/>
            <a:ext cx="207568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08A00"/>
            </a:solidFill>
            <a:prstDash val="solid"/>
          </a:ln>
        </p:spPr>
      </p:sp>
      <p:sp>
        <p:nvSpPr>
          <p:cNvPr id="96" name="Shape 82"/>
          <p:cNvSpPr/>
          <p:nvPr/>
        </p:nvSpPr>
        <p:spPr>
          <a:xfrm>
            <a:off x="7068312" y="3584448"/>
            <a:ext cx="1929384" cy="420624"/>
          </a:xfrm>
          <a:prstGeom prst="roundRect">
            <a:avLst>
              <a:gd name="adj" fmla="val 1087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pic>
        <p:nvPicPr>
          <p:cNvPr id="9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888" y="3611880"/>
            <a:ext cx="365760" cy="365760"/>
          </a:xfrm>
          <a:prstGeom prst="rect">
            <a:avLst/>
          </a:prstGeom>
        </p:spPr>
      </p:pic>
      <p:sp>
        <p:nvSpPr>
          <p:cNvPr id="98" name="Text 83"/>
          <p:cNvSpPr txBox="1"/>
          <p:nvPr/>
        </p:nvSpPr>
        <p:spPr>
          <a:xfrm>
            <a:off x="7507224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Act</a:t>
            </a:r>
            <a:endParaRPr lang="en-US" sz="1100" dirty="0"/>
          </a:p>
        </p:txBody>
      </p:sp>
      <p:sp>
        <p:nvSpPr>
          <p:cNvPr id="99" name="Text 84"/>
          <p:cNvSpPr txBox="1"/>
          <p:nvPr/>
        </p:nvSpPr>
        <p:spPr>
          <a:xfrm>
            <a:off x="7068312" y="406908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bilingual card + voice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reasons + 1930 helpline</a:t>
            </a:r>
            <a:endParaRPr lang="en-US" sz="85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Golden-hour 1930 report on request</a:t>
            </a:r>
            <a:endParaRPr lang="en-US" sz="850" dirty="0"/>
          </a:p>
        </p:txBody>
      </p:sp>
      <p:sp>
        <p:nvSpPr>
          <p:cNvPr id="100" name="Shape 85"/>
          <p:cNvSpPr/>
          <p:nvPr/>
        </p:nvSpPr>
        <p:spPr>
          <a:xfrm>
            <a:off x="7086600" y="5074920"/>
            <a:ext cx="1892808" cy="274320"/>
          </a:xfrm>
          <a:prstGeom prst="roundRect">
            <a:avLst>
              <a:gd name="adj" fmla="val 16667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01" name="Text 86"/>
          <p:cNvSpPr txBox="1"/>
          <p:nvPr/>
        </p:nvSpPr>
        <p:spPr>
          <a:xfrm>
            <a:off x="7086600" y="50749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in EN + HI</a:t>
            </a:r>
            <a:endParaRPr lang="en-US" sz="760" dirty="0"/>
          </a:p>
        </p:txBody>
      </p:sp>
      <p:sp>
        <p:nvSpPr>
          <p:cNvPr id="102" name="Shape 87"/>
          <p:cNvSpPr/>
          <p:nvPr/>
        </p:nvSpPr>
        <p:spPr>
          <a:xfrm>
            <a:off x="9144000" y="3520440"/>
            <a:ext cx="2816352" cy="1920240"/>
          </a:xfrm>
          <a:prstGeom prst="roundRect">
            <a:avLst>
              <a:gd name="adj" fmla="val 3333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17152" y="3593592"/>
            <a:ext cx="411480" cy="411480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9674352" y="3593592"/>
            <a:ext cx="2194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5" name="Text 89"/>
          <p:cNvSpPr txBox="1"/>
          <p:nvPr/>
        </p:nvSpPr>
        <p:spPr>
          <a:xfrm>
            <a:off x="9217152" y="4069080"/>
            <a:ext cx="269748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are multimodal; single-signal tools miss them</a:t>
            </a:r>
            <a:endParaRPr lang="en-US" sz="83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at the moment of fear is what worked in 2025 data</a:t>
            </a:r>
            <a:endParaRPr lang="en-US" sz="83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makes on-device mandatory, not optional</a:t>
            </a:r>
            <a:endParaRPr lang="en-US" sz="830" dirty="0"/>
          </a:p>
          <a:p>
            <a:pPr marL="127000" indent="-127000">
              <a:spcAft>
                <a:spcPts val="400"/>
              </a:spcAft>
              <a:buSzPct val="100000"/>
              <a:buChar char="►"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Victims need help after the call too</a:t>
            </a:r>
            <a:endParaRPr lang="en-US" sz="830" dirty="0"/>
          </a:p>
        </p:txBody>
      </p:sp>
      <p:sp>
        <p:nvSpPr>
          <p:cNvPr id="106" name="Shape 90"/>
          <p:cNvSpPr/>
          <p:nvPr/>
        </p:nvSpPr>
        <p:spPr>
          <a:xfrm>
            <a:off x="548640" y="5513832"/>
            <a:ext cx="1141171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5650992"/>
            <a:ext cx="420624" cy="420624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109728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mode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background</a:t>
            </a:r>
            <a:endParaRPr lang="en-US" sz="730" dirty="0"/>
          </a:p>
        </p:txBody>
      </p:sp>
      <p:pic>
        <p:nvPicPr>
          <p:cNvPr id="10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57400" y="5650992"/>
            <a:ext cx="420624" cy="420624"/>
          </a:xfrm>
          <a:prstGeom prst="rect">
            <a:avLst/>
          </a:prstGeom>
        </p:spPr>
      </p:pic>
      <p:sp>
        <p:nvSpPr>
          <p:cNvPr id="110" name="Text 92"/>
          <p:cNvSpPr txBox="1"/>
          <p:nvPr/>
        </p:nvSpPr>
        <p:spPr>
          <a:xfrm>
            <a:off x="251460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scripts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हिन्दी / Hinglish</a:t>
            </a:r>
            <a:endParaRPr lang="en-US" sz="730" dirty="0"/>
          </a:p>
        </p:txBody>
      </p:sp>
      <p:pic>
        <p:nvPicPr>
          <p:cNvPr id="11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4720" y="5650992"/>
            <a:ext cx="420624" cy="420624"/>
          </a:xfrm>
          <a:prstGeom prst="rect">
            <a:avLst/>
          </a:prstGeom>
        </p:spPr>
      </p:pic>
      <p:sp>
        <p:nvSpPr>
          <p:cNvPr id="112" name="Text 93"/>
          <p:cNvSpPr txBox="1"/>
          <p:nvPr/>
        </p:nvSpPr>
        <p:spPr>
          <a:xfrm>
            <a:off x="393192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in ~2 turns</a:t>
            </a:r>
            <a:endParaRPr lang="en-US" sz="730" dirty="0"/>
          </a:p>
        </p:txBody>
      </p:sp>
      <p:pic>
        <p:nvPicPr>
          <p:cNvPr id="11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92040" y="5650992"/>
            <a:ext cx="420624" cy="420624"/>
          </a:xfrm>
          <a:prstGeom prst="rect">
            <a:avLst/>
          </a:prstGeom>
        </p:spPr>
      </p:pic>
      <p:sp>
        <p:nvSpPr>
          <p:cNvPr id="114" name="Text 94"/>
          <p:cNvSpPr txBox="1"/>
          <p:nvPr/>
        </p:nvSpPr>
        <p:spPr>
          <a:xfrm>
            <a:off x="534924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upload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only</a:t>
            </a:r>
            <a:endParaRPr lang="en-US" sz="730" dirty="0"/>
          </a:p>
        </p:txBody>
      </p:sp>
      <p:pic>
        <p:nvPicPr>
          <p:cNvPr id="11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9360" y="5650992"/>
            <a:ext cx="420624" cy="420624"/>
          </a:xfrm>
          <a:prstGeom prst="rect">
            <a:avLst/>
          </a:prstGeom>
        </p:spPr>
      </p:pic>
      <p:sp>
        <p:nvSpPr>
          <p:cNvPr id="116" name="Text 95"/>
          <p:cNvSpPr txBox="1"/>
          <p:nvPr/>
        </p:nvSpPr>
        <p:spPr>
          <a:xfrm>
            <a:off x="676656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report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hour</a:t>
            </a:r>
            <a:endParaRPr lang="en-US" sz="730" dirty="0"/>
          </a:p>
        </p:txBody>
      </p:sp>
      <p:pic>
        <p:nvPicPr>
          <p:cNvPr id="11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26680" y="5650992"/>
            <a:ext cx="420624" cy="420624"/>
          </a:xfrm>
          <a:prstGeom prst="rect">
            <a:avLst/>
          </a:prstGeom>
        </p:spPr>
      </p:pic>
      <p:sp>
        <p:nvSpPr>
          <p:cNvPr id="118" name="Text 96"/>
          <p:cNvSpPr txBox="1"/>
          <p:nvPr/>
        </p:nvSpPr>
        <p:spPr>
          <a:xfrm>
            <a:off x="818388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127.0.0.1 only</a:t>
            </a:r>
            <a:endParaRPr lang="en-US" sz="730" dirty="0"/>
          </a:p>
        </p:txBody>
      </p:sp>
      <p:pic>
        <p:nvPicPr>
          <p:cNvPr id="11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0" y="5650992"/>
            <a:ext cx="420624" cy="420624"/>
          </a:xfrm>
          <a:prstGeom prst="rect">
            <a:avLst/>
          </a:prstGeom>
        </p:spPr>
      </p:pic>
      <p:sp>
        <p:nvSpPr>
          <p:cNvPr id="120" name="Text 97"/>
          <p:cNvSpPr txBox="1"/>
          <p:nvPr/>
        </p:nvSpPr>
        <p:spPr>
          <a:xfrm>
            <a:off x="960120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HTP power modes</a:t>
            </a:r>
            <a:endParaRPr lang="en-US" sz="730" dirty="0"/>
          </a:p>
        </p:txBody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61320" y="5650992"/>
            <a:ext cx="420624" cy="420624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11018520" y="5596128"/>
            <a:ext cx="960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</a:t>
            </a:r>
            <a:endParaRPr lang="en-US" sz="730" dirty="0"/>
          </a:p>
        </p:txBody>
      </p:sp>
      <p:sp>
        <p:nvSpPr>
          <p:cNvPr id="123" name="Text 99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in action: a digital-arrest call, second by second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Replayed by 'python -m sajag demo digital_arrest --report' (real OCR + engine)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977640" cy="5367528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379476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of the call</a:t>
            </a:r>
            <a:endParaRPr lang="en-US" sz="9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411480" cy="41148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525780" y="2029968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45" name="Text 39"/>
          <p:cNvSpPr txBox="1"/>
          <p:nvPr/>
        </p:nvSpPr>
        <p:spPr>
          <a:xfrm>
            <a:off x="777240" y="157276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video call starts; system sentinel marks a live call</a:t>
            </a:r>
            <a:endParaRPr lang="en-US" sz="770" dirty="0"/>
          </a:p>
        </p:txBody>
      </p:sp>
      <p:sp>
        <p:nvSpPr>
          <p:cNvPr id="46" name="Shape 40"/>
          <p:cNvSpPr/>
          <p:nvPr/>
        </p:nvSpPr>
        <p:spPr>
          <a:xfrm>
            <a:off x="3108960" y="1655064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108960" y="165506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75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304288"/>
            <a:ext cx="411480" cy="41148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525780" y="2734056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777240" y="227685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t=4s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'Main Mumbai police cyber crime se Inspector bol raha hoon'</a:t>
            </a:r>
            <a:endParaRPr lang="en-US" sz="770" dirty="0"/>
          </a:p>
        </p:txBody>
      </p:sp>
      <p:sp>
        <p:nvSpPr>
          <p:cNvPr id="51" name="Shape 44"/>
          <p:cNvSpPr/>
          <p:nvPr/>
        </p:nvSpPr>
        <p:spPr>
          <a:xfrm>
            <a:off x="3108960" y="2359152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1E9E57"/>
          </a:solidFill>
          <a:ln w="12700">
            <a:solidFill>
              <a:srgbClr val="1E9E57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3108960" y="2359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13%</a:t>
            </a:r>
            <a:endParaRPr lang="en-US" sz="75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008376"/>
            <a:ext cx="411480" cy="41148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25780" y="3438144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55" name="Text 47"/>
          <p:cNvSpPr txBox="1"/>
          <p:nvPr/>
        </p:nvSpPr>
        <p:spPr>
          <a:xfrm>
            <a:off x="777240" y="2980944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C9A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t=12s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'Aapke naam se FedEx parcel mein drugs mile hain'</a:t>
            </a:r>
            <a:endParaRPr lang="en-US" sz="770" dirty="0"/>
          </a:p>
        </p:txBody>
      </p:sp>
      <p:sp>
        <p:nvSpPr>
          <p:cNvPr id="56" name="Shape 48"/>
          <p:cNvSpPr/>
          <p:nvPr/>
        </p:nvSpPr>
        <p:spPr>
          <a:xfrm>
            <a:off x="3108960" y="3063240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C9A400"/>
          </a:solidFill>
          <a:ln w="12700">
            <a:solidFill>
              <a:srgbClr val="C9A400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3108960" y="3063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 46%</a:t>
            </a:r>
            <a:endParaRPr lang="en-US" sz="750" dirty="0"/>
          </a:p>
        </p:txBody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712464"/>
            <a:ext cx="411480" cy="411480"/>
          </a:xfrm>
          <a:prstGeom prst="rect">
            <a:avLst/>
          </a:prstGeom>
        </p:spPr>
      </p:pic>
      <p:sp>
        <p:nvSpPr>
          <p:cNvPr id="59" name="Shape 50"/>
          <p:cNvSpPr/>
          <p:nvPr/>
        </p:nvSpPr>
        <p:spPr>
          <a:xfrm>
            <a:off x="525780" y="4142232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60" name="Text 51"/>
          <p:cNvSpPr txBox="1"/>
          <p:nvPr/>
        </p:nvSpPr>
        <p:spPr>
          <a:xfrm>
            <a:off x="777240" y="3685032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t=20s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'Aadhaar used in money laundering, arrest warrant issued'</a:t>
            </a:r>
            <a:endParaRPr lang="en-US" sz="770" dirty="0"/>
          </a:p>
        </p:txBody>
      </p:sp>
      <p:sp>
        <p:nvSpPr>
          <p:cNvPr id="61" name="Shape 52"/>
          <p:cNvSpPr/>
          <p:nvPr/>
        </p:nvSpPr>
        <p:spPr>
          <a:xfrm>
            <a:off x="3108960" y="3767328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3108960" y="37673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61%</a:t>
            </a:r>
            <a:endParaRPr lang="en-US" sz="75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416552"/>
            <a:ext cx="411480" cy="41148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525780" y="4846320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65" name="Text 55"/>
          <p:cNvSpPr txBox="1"/>
          <p:nvPr/>
        </p:nvSpPr>
        <p:spPr>
          <a:xfrm>
            <a:off x="777240" y="4389120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t=26s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CBI warrant on screen; OCR reads 'digital arrest', 'do not tell anyone'</a:t>
            </a:r>
            <a:endParaRPr lang="en-US" sz="770" dirty="0"/>
          </a:p>
        </p:txBody>
      </p:sp>
      <p:sp>
        <p:nvSpPr>
          <p:cNvPr id="66" name="Shape 56"/>
          <p:cNvSpPr/>
          <p:nvPr/>
        </p:nvSpPr>
        <p:spPr>
          <a:xfrm>
            <a:off x="3108960" y="4471416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7" name="Text 57"/>
          <p:cNvSpPr txBox="1"/>
          <p:nvPr/>
        </p:nvSpPr>
        <p:spPr>
          <a:xfrm>
            <a:off x="3108960" y="447141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96%</a:t>
            </a:r>
            <a:endParaRPr lang="en-US" sz="750" dirty="0"/>
          </a:p>
        </p:txBody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5120640"/>
            <a:ext cx="411480" cy="411480"/>
          </a:xfrm>
          <a:prstGeom prst="rect">
            <a:avLst/>
          </a:prstGeom>
        </p:spPr>
      </p:pic>
      <p:sp>
        <p:nvSpPr>
          <p:cNvPr id="69" name="Shape 58"/>
          <p:cNvSpPr/>
          <p:nvPr/>
        </p:nvSpPr>
        <p:spPr>
          <a:xfrm>
            <a:off x="525780" y="5550408"/>
            <a:ext cx="0" cy="256032"/>
          </a:xfrm>
          <a:prstGeom prst="line">
            <a:avLst/>
          </a:prstGeom>
          <a:noFill/>
          <a:ln w="19050">
            <a:solidFill>
              <a:srgbClr val="E3DCD1"/>
            </a:solidFill>
            <a:prstDash val="dash"/>
          </a:ln>
        </p:spPr>
      </p:sp>
      <p:sp>
        <p:nvSpPr>
          <p:cNvPr id="70" name="Text 59"/>
          <p:cNvSpPr txBox="1"/>
          <p:nvPr/>
        </p:nvSpPr>
        <p:spPr>
          <a:xfrm>
            <a:off x="777240" y="509320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t=45s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'Transfer to RBI safe account': Sajag interrupted 19 s earlier</a:t>
            </a:r>
            <a:endParaRPr lang="en-US" sz="770" dirty="0"/>
          </a:p>
        </p:txBody>
      </p:sp>
      <p:sp>
        <p:nvSpPr>
          <p:cNvPr id="71" name="Shape 60"/>
          <p:cNvSpPr/>
          <p:nvPr/>
        </p:nvSpPr>
        <p:spPr>
          <a:xfrm>
            <a:off x="3108960" y="5175504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3108960" y="51755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94%</a:t>
            </a:r>
            <a:endParaRPr lang="en-US" sz="75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5824728"/>
            <a:ext cx="411480" cy="411480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777240" y="579729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t=49s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reads out account, IFSC, phone: captured for the 1930 report</a:t>
            </a:r>
            <a:endParaRPr lang="en-US" sz="770" dirty="0"/>
          </a:p>
        </p:txBody>
      </p:sp>
      <p:sp>
        <p:nvSpPr>
          <p:cNvPr id="75" name="Shape 63"/>
          <p:cNvSpPr/>
          <p:nvPr/>
        </p:nvSpPr>
        <p:spPr>
          <a:xfrm>
            <a:off x="3108960" y="5879592"/>
            <a:ext cx="1024128" cy="274320"/>
          </a:xfrm>
          <a:prstGeom prst="roundRect">
            <a:avLst>
              <a:gd name="adj" fmla="val 20000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3108960" y="58795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750" dirty="0"/>
          </a:p>
        </p:txBody>
      </p:sp>
      <p:sp>
        <p:nvSpPr>
          <p:cNvPr id="77" name="Shape 65"/>
          <p:cNvSpPr/>
          <p:nvPr/>
        </p:nvSpPr>
        <p:spPr>
          <a:xfrm>
            <a:off x="4297680" y="1188720"/>
            <a:ext cx="37490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4389120" y="1252728"/>
            <a:ext cx="356616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4389120" y="1252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through the call</a:t>
            </a:r>
            <a:endParaRPr lang="en-US" sz="900" dirty="0"/>
          </a:p>
        </p:txBody>
      </p:sp>
      <p:graphicFrame>
        <p:nvGraphicFramePr>
          <p:cNvPr id="80" name="Chart 0" descr=""/>
          <p:cNvGraphicFramePr/>
          <p:nvPr/>
        </p:nvGraphicFramePr>
        <p:xfrm>
          <a:off x="4343400" y="1536192"/>
          <a:ext cx="3657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81" name="Shape 68"/>
          <p:cNvSpPr/>
          <p:nvPr/>
        </p:nvSpPr>
        <p:spPr>
          <a:xfrm>
            <a:off x="8138160" y="1188720"/>
            <a:ext cx="3822192" cy="2651760"/>
          </a:xfrm>
          <a:prstGeom prst="roundRect">
            <a:avLst>
              <a:gd name="adj" fmla="val 2414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8229600" y="1252728"/>
            <a:ext cx="363931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3" name="Text 70"/>
          <p:cNvSpPr txBox="1"/>
          <p:nvPr/>
        </p:nvSpPr>
        <p:spPr>
          <a:xfrm>
            <a:off x="8229600" y="12527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interrupt (DANGER)</a:t>
            </a:r>
            <a:endParaRPr lang="en-US" sz="900" dirty="0"/>
          </a:p>
        </p:txBody>
      </p:sp>
      <p:pic>
        <p:nvPicPr>
          <p:cNvPr id="84" name="Image 10" descr="/home/claude/deck/laptop_alert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5320" y="1572768"/>
            <a:ext cx="3547872" cy="2048256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8229600" y="3593592"/>
            <a:ext cx="363931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Full-screen, bilingual, spoken aloud</a:t>
            </a:r>
            <a:endParaRPr lang="en-US" sz="750" dirty="0"/>
          </a:p>
        </p:txBody>
      </p:sp>
      <p:sp>
        <p:nvSpPr>
          <p:cNvPr id="86" name="Shape 72"/>
          <p:cNvSpPr/>
          <p:nvPr/>
        </p:nvSpPr>
        <p:spPr>
          <a:xfrm>
            <a:off x="4297680" y="3913632"/>
            <a:ext cx="7662672" cy="2642616"/>
          </a:xfrm>
          <a:prstGeom prst="roundRect">
            <a:avLst>
              <a:gd name="adj" fmla="val 2422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4389120" y="3977640"/>
            <a:ext cx="747979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88" name="Text 74"/>
          <p:cNvSpPr txBox="1"/>
          <p:nvPr/>
        </p:nvSpPr>
        <p:spPr>
          <a:xfrm>
            <a:off x="4389120" y="3977640"/>
            <a:ext cx="7479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and golden-hour report (127.0.0.1, offline)</a:t>
            </a:r>
            <a:endParaRPr lang="en-US" sz="900" dirty="0"/>
          </a:p>
        </p:txBody>
      </p:sp>
      <p:pic>
        <p:nvPicPr>
          <p:cNvPr id="89" name="Image 11" descr="/home/claude/deck/laptop_dashboard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0832" y="4297680"/>
            <a:ext cx="3611880" cy="2185416"/>
          </a:xfrm>
          <a:prstGeom prst="rect">
            <a:avLst/>
          </a:prstGeom>
        </p:spPr>
      </p:pic>
      <p:pic>
        <p:nvPicPr>
          <p:cNvPr id="90" name="Image 12" descr="/home/claude/deck/laptop_report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46720" y="4297680"/>
            <a:ext cx="2103120" cy="1271016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10168128" y="4315968"/>
            <a:ext cx="176479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3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gauge, family, reasons in EN + HI</a:t>
            </a:r>
            <a:endParaRPr lang="en-US" sz="73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3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 with matched cues</a:t>
            </a:r>
            <a:endParaRPr lang="en-US" sz="73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3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Model-to-unit map (NPU / CPU) + latency</a:t>
            </a:r>
            <a:endParaRPr lang="en-US" sz="73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3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account, IFSC, phone, amounts, timeline</a:t>
            </a:r>
            <a:endParaRPr lang="en-US" sz="730" dirty="0"/>
          </a:p>
        </p:txBody>
      </p:sp>
      <p:sp>
        <p:nvSpPr>
          <p:cNvPr id="92" name="Text 76"/>
          <p:cNvSpPr txBox="1"/>
          <p:nvPr/>
        </p:nvSpPr>
        <p:spPr>
          <a:xfrm>
            <a:off x="8046720" y="5596128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click: 'Prepare 1930 report'</a:t>
            </a:r>
            <a:endParaRPr lang="en-US" sz="730" dirty="0"/>
          </a:p>
        </p:txBody>
      </p:sp>
      <p:sp>
        <p:nvSpPr>
          <p:cNvPr id="93" name="Text 77"/>
          <p:cNvSpPr txBox="1"/>
          <p:nvPr/>
        </p:nvSpPr>
        <p:spPr>
          <a:xfrm>
            <a:off x="8046720" y="5870448"/>
            <a:ext cx="2103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scenarios replay on any laptop for judges without a Snapdragon PC</a:t>
            </a:r>
            <a:endParaRPr lang="en-US" sz="720" dirty="0"/>
          </a:p>
        </p:txBody>
      </p:sp>
      <p:sp>
        <p:nvSpPr>
          <p:cNvPr id="94" name="Text 78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three sentinels, one fusion brain, all on the device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compute: each stage runs where it is cheapest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28600" y="1188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Sentinels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2606040" y="118872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2606040" y="1188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Perception (NPU)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983480" y="118872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983480" y="11887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Understanding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7360920" y="118872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360920" y="11887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Fusion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9646920" y="1188720"/>
            <a:ext cx="2313432" cy="310896"/>
          </a:xfrm>
          <a:prstGeom prst="roundRect">
            <a:avLst>
              <a:gd name="adj" fmla="val 14706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9646920" y="11887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Action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228600" y="160020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2A2A33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673352"/>
            <a:ext cx="420624" cy="420624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740664" y="161848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audio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WASAPI loopback + mic, 16 kHz, RAM only, any call app</a:t>
            </a:r>
            <a:endParaRPr lang="en-US" sz="810" dirty="0"/>
          </a:p>
        </p:txBody>
      </p:sp>
      <p:sp>
        <p:nvSpPr>
          <p:cNvPr id="53" name="Shape 47"/>
          <p:cNvSpPr/>
          <p:nvPr/>
        </p:nvSpPr>
        <p:spPr>
          <a:xfrm>
            <a:off x="228600" y="260604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2A2A33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679192"/>
            <a:ext cx="420624" cy="420624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740664" y="262432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 capture every 2 s; dHash change gate skips static screens</a:t>
            </a:r>
            <a:endParaRPr lang="en-US" sz="810" dirty="0"/>
          </a:p>
        </p:txBody>
      </p:sp>
      <p:sp>
        <p:nvSpPr>
          <p:cNvPr id="56" name="Shape 49"/>
          <p:cNvSpPr/>
          <p:nvPr/>
        </p:nvSpPr>
        <p:spPr>
          <a:xfrm>
            <a:off x="228600" y="361188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2A2A33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685032"/>
            <a:ext cx="420624" cy="420624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740664" y="363016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remote-access tools, 9 call apps, payment screens</a:t>
            </a:r>
            <a:endParaRPr lang="en-US" sz="810" dirty="0"/>
          </a:p>
        </p:txBody>
      </p:sp>
      <p:sp>
        <p:nvSpPr>
          <p:cNvPr id="59" name="Shape 51"/>
          <p:cNvSpPr/>
          <p:nvPr/>
        </p:nvSpPr>
        <p:spPr>
          <a:xfrm>
            <a:off x="2606040" y="160020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EAEFFF"/>
          </a:solidFill>
          <a:ln w="11430">
            <a:solidFill>
              <a:srgbClr val="3253DC"/>
            </a:solidFill>
            <a:prstDash val="solid"/>
          </a:ln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048" y="1673352"/>
            <a:ext cx="420624" cy="420624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3118104" y="161848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Silero-VAD + Whisper-Small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precompiled QNN; forced &lt;|hi|&gt; keeps Hinglish</a:t>
            </a:r>
            <a:endParaRPr lang="en-US" sz="810" dirty="0"/>
          </a:p>
        </p:txBody>
      </p:sp>
      <p:sp>
        <p:nvSpPr>
          <p:cNvPr id="62" name="Shape 53"/>
          <p:cNvSpPr/>
          <p:nvPr/>
        </p:nvSpPr>
        <p:spPr>
          <a:xfrm>
            <a:off x="2606040" y="260604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EAEFFF"/>
          </a:solidFill>
          <a:ln w="11430">
            <a:solidFill>
              <a:srgbClr val="3253DC"/>
            </a:solidFill>
            <a:prstDash val="solid"/>
          </a:ln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0048" y="2679192"/>
            <a:ext cx="420624" cy="420624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3118104" y="262432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PP-OCRv4 det + rec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static-shape graphs, fp16 on HTP, padding adapter</a:t>
            </a:r>
            <a:endParaRPr lang="en-US" sz="810" dirty="0"/>
          </a:p>
        </p:txBody>
      </p:sp>
      <p:sp>
        <p:nvSpPr>
          <p:cNvPr id="65" name="Shape 55"/>
          <p:cNvSpPr/>
          <p:nvPr/>
        </p:nvSpPr>
        <p:spPr>
          <a:xfrm>
            <a:off x="2606040" y="361188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EAEFFF"/>
          </a:solidFill>
          <a:ln w="11430">
            <a:solidFill>
              <a:srgbClr val="3253DC"/>
            </a:solidFill>
            <a:prstDash val="solid"/>
          </a:ln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0048" y="3685032"/>
            <a:ext cx="420624" cy="420624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3118104" y="3630168"/>
            <a:ext cx="16916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+ window matching (CPU, microseconds)</a:t>
            </a:r>
            <a:endParaRPr lang="en-US" sz="810" dirty="0"/>
          </a:p>
        </p:txBody>
      </p:sp>
      <p:sp>
        <p:nvSpPr>
          <p:cNvPr id="68" name="Shape 57"/>
          <p:cNvSpPr/>
          <p:nvPr/>
        </p:nvSpPr>
        <p:spPr>
          <a:xfrm>
            <a:off x="4983480" y="1600200"/>
            <a:ext cx="2240280" cy="1417320"/>
          </a:xfrm>
          <a:prstGeom prst="roundRect">
            <a:avLst>
              <a:gd name="adj" fmla="val 4516"/>
            </a:avLst>
          </a:prstGeom>
          <a:solidFill>
            <a:srgbClr val="F3EAFB"/>
          </a:solidFill>
          <a:ln w="11430">
            <a:solidFill>
              <a:srgbClr val="7B3FA0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1673352"/>
            <a:ext cx="420624" cy="420624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5495544" y="1618488"/>
            <a:ext cx="1691640" cy="1380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pattern engine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cues x 10 tactics in English, Devanagari and Hinglish; longest-phrase evidence; awareness damping</a:t>
            </a:r>
            <a:endParaRPr lang="en-US" sz="810" dirty="0"/>
          </a:p>
        </p:txBody>
      </p:sp>
      <p:sp>
        <p:nvSpPr>
          <p:cNvPr id="71" name="Shape 59"/>
          <p:cNvSpPr/>
          <p:nvPr/>
        </p:nvSpPr>
        <p:spPr>
          <a:xfrm>
            <a:off x="4983480" y="3108960"/>
            <a:ext cx="2240280" cy="1417320"/>
          </a:xfrm>
          <a:prstGeom prst="roundRect">
            <a:avLst>
              <a:gd name="adj" fmla="val 4516"/>
            </a:avLst>
          </a:prstGeom>
          <a:solidFill>
            <a:srgbClr val="F3EAFB"/>
          </a:solidFill>
          <a:ln w="11430">
            <a:solidFill>
              <a:srgbClr val="7B3FA0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7488" y="3182112"/>
            <a:ext cx="420624" cy="420624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5495544" y="3127248"/>
            <a:ext cx="1691640" cy="1380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intent classifier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16,384 hashed char n-grams to Gemm + Softmax, 8 classes, static shape, 0.5 MB</a:t>
            </a:r>
            <a:endParaRPr lang="en-US" sz="810" dirty="0"/>
          </a:p>
        </p:txBody>
      </p:sp>
      <p:sp>
        <p:nvSpPr>
          <p:cNvPr id="74" name="Shape 61"/>
          <p:cNvSpPr/>
          <p:nvPr/>
        </p:nvSpPr>
        <p:spPr>
          <a:xfrm>
            <a:off x="7360920" y="1600200"/>
            <a:ext cx="2148840" cy="2926080"/>
          </a:xfrm>
          <a:prstGeom prst="roundRect">
            <a:avLst>
              <a:gd name="adj" fmla="val 2979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4928" y="1673352"/>
            <a:ext cx="420624" cy="420624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7872984" y="1618488"/>
            <a:ext cx="1600200" cy="2889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cross-modal fusion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Decaying tactic memory (4-min half-life, 15-min window). Noisy-OR over tactics. Escalation rules: remote + OTP, secrecy + authority + money, pay-to-receive. Hysteresis on levels.</a:t>
            </a:r>
            <a:endParaRPr lang="en-US" sz="810" dirty="0"/>
          </a:p>
        </p:txBody>
      </p:sp>
      <p:sp>
        <p:nvSpPr>
          <p:cNvPr id="77" name="Shape 63"/>
          <p:cNvSpPr/>
          <p:nvPr/>
        </p:nvSpPr>
        <p:spPr>
          <a:xfrm>
            <a:off x="9646920" y="1600200"/>
            <a:ext cx="231343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0928" y="1673352"/>
            <a:ext cx="420624" cy="420624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10158984" y="1618488"/>
            <a:ext cx="1764792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reasons; optional Llama-3.2-3B via Genie</a:t>
            </a:r>
            <a:endParaRPr lang="en-US" sz="810" dirty="0"/>
          </a:p>
        </p:txBody>
      </p:sp>
      <p:sp>
        <p:nvSpPr>
          <p:cNvPr id="80" name="Shape 65"/>
          <p:cNvSpPr/>
          <p:nvPr/>
        </p:nvSpPr>
        <p:spPr>
          <a:xfrm>
            <a:off x="9646920" y="2578608"/>
            <a:ext cx="231343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8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0928" y="2651760"/>
            <a:ext cx="420624" cy="420624"/>
          </a:xfrm>
          <a:prstGeom prst="rect">
            <a:avLst/>
          </a:prstGeom>
        </p:spPr>
      </p:pic>
      <p:sp>
        <p:nvSpPr>
          <p:cNvPr id="82" name="Text 66"/>
          <p:cNvSpPr txBox="1"/>
          <p:nvPr/>
        </p:nvSpPr>
        <p:spPr>
          <a:xfrm>
            <a:off x="10158984" y="2596896"/>
            <a:ext cx="1764792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card, voice, toast</a:t>
            </a:r>
            <a:endParaRPr lang="en-US" sz="810" dirty="0"/>
          </a:p>
        </p:txBody>
      </p:sp>
      <p:sp>
        <p:nvSpPr>
          <p:cNvPr id="83" name="Shape 67"/>
          <p:cNvSpPr/>
          <p:nvPr/>
        </p:nvSpPr>
        <p:spPr>
          <a:xfrm>
            <a:off x="9646920" y="3557016"/>
            <a:ext cx="231343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0928" y="3630168"/>
            <a:ext cx="420624" cy="420624"/>
          </a:xfrm>
          <a:prstGeom prst="rect">
            <a:avLst/>
          </a:prstGeom>
        </p:spPr>
      </p:pic>
      <p:sp>
        <p:nvSpPr>
          <p:cNvPr id="85" name="Text 68"/>
          <p:cNvSpPr txBox="1"/>
          <p:nvPr/>
        </p:nvSpPr>
        <p:spPr>
          <a:xfrm>
            <a:off x="10158984" y="3575304"/>
            <a:ext cx="176479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report + dashboard</a:t>
            </a:r>
            <a:endParaRPr lang="en-US" sz="81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1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 + timeline; FastAPI on 127.0.0.1</a:t>
            </a:r>
            <a:endParaRPr lang="en-US" sz="810" dirty="0"/>
          </a:p>
        </p:txBody>
      </p:sp>
      <p:sp>
        <p:nvSpPr>
          <p:cNvPr id="86" name="Shape 69"/>
          <p:cNvSpPr/>
          <p:nvPr/>
        </p:nvSpPr>
        <p:spPr>
          <a:xfrm>
            <a:off x="2468880" y="205740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87" name="Shape 70"/>
          <p:cNvSpPr/>
          <p:nvPr/>
        </p:nvSpPr>
        <p:spPr>
          <a:xfrm>
            <a:off x="4846320" y="205740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88" name="Shape 71"/>
          <p:cNvSpPr/>
          <p:nvPr/>
        </p:nvSpPr>
        <p:spPr>
          <a:xfrm>
            <a:off x="2468880" y="306324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89" name="Shape 72"/>
          <p:cNvSpPr/>
          <p:nvPr/>
        </p:nvSpPr>
        <p:spPr>
          <a:xfrm>
            <a:off x="4846320" y="306324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0" name="Shape 73"/>
          <p:cNvSpPr/>
          <p:nvPr/>
        </p:nvSpPr>
        <p:spPr>
          <a:xfrm>
            <a:off x="2468880" y="406908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1" name="Shape 74"/>
          <p:cNvSpPr/>
          <p:nvPr/>
        </p:nvSpPr>
        <p:spPr>
          <a:xfrm>
            <a:off x="4846320" y="406908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2" name="Shape 75"/>
          <p:cNvSpPr/>
          <p:nvPr/>
        </p:nvSpPr>
        <p:spPr>
          <a:xfrm>
            <a:off x="7223760" y="228600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3" name="Shape 76"/>
          <p:cNvSpPr/>
          <p:nvPr/>
        </p:nvSpPr>
        <p:spPr>
          <a:xfrm>
            <a:off x="7223760" y="379476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4" name="Shape 77"/>
          <p:cNvSpPr/>
          <p:nvPr/>
        </p:nvSpPr>
        <p:spPr>
          <a:xfrm>
            <a:off x="9509760" y="205740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5" name="Shape 78"/>
          <p:cNvSpPr/>
          <p:nvPr/>
        </p:nvSpPr>
        <p:spPr>
          <a:xfrm>
            <a:off x="9509760" y="301752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6" name="Shape 79"/>
          <p:cNvSpPr/>
          <p:nvPr/>
        </p:nvSpPr>
        <p:spPr>
          <a:xfrm>
            <a:off x="9509760" y="4023360"/>
            <a:ext cx="128016" cy="0"/>
          </a:xfrm>
          <a:prstGeom prst="line">
            <a:avLst/>
          </a:prstGeom>
          <a:noFill/>
          <a:ln w="19050">
            <a:solidFill>
              <a:srgbClr val="5E5E66"/>
            </a:solidFill>
            <a:prstDash val="solid"/>
            <a:tailEnd type="triangle"/>
          </a:ln>
        </p:spPr>
      </p:sp>
      <p:sp>
        <p:nvSpPr>
          <p:cNvPr id="97" name="Shape 80"/>
          <p:cNvSpPr/>
          <p:nvPr/>
        </p:nvSpPr>
        <p:spPr>
          <a:xfrm>
            <a:off x="228600" y="4636008"/>
            <a:ext cx="598932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98" name="Shape 81"/>
          <p:cNvSpPr/>
          <p:nvPr/>
        </p:nvSpPr>
        <p:spPr>
          <a:xfrm>
            <a:off x="320040" y="4700016"/>
            <a:ext cx="58064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99" name="Text 82"/>
          <p:cNvSpPr txBox="1"/>
          <p:nvPr/>
        </p:nvSpPr>
        <p:spPr>
          <a:xfrm>
            <a:off x="320040" y="4700016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compute map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010912"/>
          <a:ext cx="5806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1280160"/>
                <a:gridCol w="164592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HTP power mode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when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Silero-VAD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low_power_saver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active, every 32 ms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PP-OCRv4 det + rec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high_performance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changed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Whisper-Small enc + dec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VAD speech segment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classifier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 / CPU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power_saver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segment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Llama-3.2-3B (optional)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 (Genie)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 WARNING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Capture, rules, fusion, report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microseconds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101" name="Shape 83"/>
          <p:cNvSpPr/>
          <p:nvPr/>
        </p:nvSpPr>
        <p:spPr>
          <a:xfrm>
            <a:off x="6309360" y="4636008"/>
            <a:ext cx="2834640" cy="1920240"/>
          </a:xfrm>
          <a:prstGeom prst="roundRect">
            <a:avLst>
              <a:gd name="adj" fmla="val 3333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102" name="Shape 84"/>
          <p:cNvSpPr/>
          <p:nvPr/>
        </p:nvSpPr>
        <p:spPr>
          <a:xfrm>
            <a:off x="6400800" y="470001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3" name="Text 85"/>
          <p:cNvSpPr txBox="1"/>
          <p:nvPr/>
        </p:nvSpPr>
        <p:spPr>
          <a:xfrm>
            <a:off x="6400800" y="4700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900" dirty="0"/>
          </a:p>
        </p:txBody>
      </p:sp>
      <p:sp>
        <p:nvSpPr>
          <p:cNvPr id="104" name="Text 86"/>
          <p:cNvSpPr txBox="1"/>
          <p:nvPr/>
        </p:nvSpPr>
        <p:spPr>
          <a:xfrm>
            <a:off x="6400800" y="5029200"/>
            <a:ext cx="265176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at runtime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+ frames in RAM only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runs only during calls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bound to 127.0.0.1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built only on request</a:t>
            </a:r>
            <a:endParaRPr lang="en-US" sz="780" dirty="0"/>
          </a:p>
        </p:txBody>
      </p:sp>
      <p:sp>
        <p:nvSpPr>
          <p:cNvPr id="105" name="Shape 87"/>
          <p:cNvSpPr/>
          <p:nvPr/>
        </p:nvSpPr>
        <p:spPr>
          <a:xfrm>
            <a:off x="9235440" y="4636008"/>
            <a:ext cx="27249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106" name="Shape 88"/>
          <p:cNvSpPr/>
          <p:nvPr/>
        </p:nvSpPr>
        <p:spPr>
          <a:xfrm>
            <a:off x="9326880" y="4700016"/>
            <a:ext cx="254203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107" name="Text 89"/>
          <p:cNvSpPr txBox="1"/>
          <p:nvPr/>
        </p:nvSpPr>
        <p:spPr>
          <a:xfrm>
            <a:off x="9326880" y="47000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900" dirty="0"/>
          </a:p>
        </p:txBody>
      </p:sp>
      <p:pic>
        <p:nvPicPr>
          <p:cNvPr id="10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600" y="5166360"/>
            <a:ext cx="822960" cy="192024"/>
          </a:xfrm>
          <a:prstGeom prst="rect">
            <a:avLst/>
          </a:prstGeom>
        </p:spPr>
      </p:pic>
      <p:pic>
        <p:nvPicPr>
          <p:cNvPr id="10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24160" y="5074920"/>
            <a:ext cx="365760" cy="365760"/>
          </a:xfrm>
          <a:prstGeom prst="rect">
            <a:avLst/>
          </a:prstGeom>
        </p:spPr>
      </p:pic>
      <p:pic>
        <p:nvPicPr>
          <p:cNvPr id="11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92840" y="5074920"/>
            <a:ext cx="365760" cy="365760"/>
          </a:xfrm>
          <a:prstGeom prst="rect">
            <a:avLst/>
          </a:prstGeom>
        </p:spPr>
      </p:pic>
      <p:pic>
        <p:nvPicPr>
          <p:cNvPr id="11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55480" y="5550408"/>
            <a:ext cx="365760" cy="365760"/>
          </a:xfrm>
          <a:prstGeom prst="rect">
            <a:avLst/>
          </a:prstGeom>
        </p:spPr>
      </p:pic>
      <p:pic>
        <p:nvPicPr>
          <p:cNvPr id="11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4160" y="5550408"/>
            <a:ext cx="365760" cy="365760"/>
          </a:xfrm>
          <a:prstGeom prst="rect">
            <a:avLst/>
          </a:prstGeom>
        </p:spPr>
      </p:pic>
      <p:pic>
        <p:nvPicPr>
          <p:cNvPr id="11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92840" y="5550408"/>
            <a:ext cx="365760" cy="365760"/>
          </a:xfrm>
          <a:prstGeom prst="rect">
            <a:avLst/>
          </a:prstGeom>
        </p:spPr>
      </p:pic>
      <p:pic>
        <p:nvPicPr>
          <p:cNvPr id="11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55480" y="6025896"/>
            <a:ext cx="365760" cy="365760"/>
          </a:xfrm>
          <a:prstGeom prst="rect">
            <a:avLst/>
          </a:prstGeom>
        </p:spPr>
      </p:pic>
      <p:pic>
        <p:nvPicPr>
          <p:cNvPr id="11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24160" y="6025896"/>
            <a:ext cx="365760" cy="365760"/>
          </a:xfrm>
          <a:prstGeom prst="rect">
            <a:avLst/>
          </a:prstGeom>
        </p:spPr>
      </p:pic>
      <p:pic>
        <p:nvPicPr>
          <p:cNvPr id="11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92840" y="6025896"/>
            <a:ext cx="365760" cy="365760"/>
          </a:xfrm>
          <a:prstGeom prst="rect">
            <a:avLst/>
          </a:prstGeom>
        </p:spPr>
      </p:pic>
      <p:sp>
        <p:nvSpPr>
          <p:cNvPr id="117" name="Text 90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implementation: engineered for the Hexagon NPU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Qualcomm AI Hub profiles, Snapdragon X Elite / X2 Elite CRD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5212080" cy="256032"/>
          </a:xfrm>
          <a:prstGeom prst="roundRect">
            <a:avLst>
              <a:gd name="adj" fmla="val 17857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latency per inference (ms, lower is better)</a:t>
            </a:r>
            <a:endParaRPr lang="en-US" sz="9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274320" y="1536192"/>
          <a:ext cx="5303520" cy="22677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4" name="Shape 38"/>
          <p:cNvSpPr/>
          <p:nvPr/>
        </p:nvSpPr>
        <p:spPr>
          <a:xfrm>
            <a:off x="5715000" y="1188720"/>
            <a:ext cx="6245352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806440" y="1252728"/>
            <a:ext cx="606247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5806440" y="1252728"/>
            <a:ext cx="6062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stack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572768"/>
          <a:ext cx="60624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868680"/>
                <a:gridCol w="23591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 evidence (AI Hub)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gate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Silero-VAD (w8a16)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Hub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51/51 layers NPU, 0.068 ms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to text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Whisper-Small, multilingual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Hub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1582 + 2277 layers, 100% NPU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(X2)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Whisper-Large-v3-Turbo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Hub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 251 ms, dec 4.9 ms/tok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text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PP-OCRv4 det + rec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PaddleOCR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shapes, fp16 on HTP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Scam intent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 classifier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trained here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 + Softmax, static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Explanation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Llama-3.2-3B (w4a16)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Hub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 tok/s X Elite, 42.5 on X2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48" name="Shape 41"/>
          <p:cNvSpPr/>
          <p:nvPr/>
        </p:nvSpPr>
        <p:spPr>
          <a:xfrm>
            <a:off x="228600" y="3931920"/>
            <a:ext cx="292608" cy="2624328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 rot="16200000">
            <a:off x="-937260" y="509778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techniques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548640" y="3931920"/>
            <a:ext cx="7086600" cy="2624328"/>
          </a:xfrm>
          <a:prstGeom prst="roundRect">
            <a:avLst>
              <a:gd name="adj" fmla="val 2439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475488" cy="47548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170432" y="4023360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Static-shape adapter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 OCR inputs into a compiled [1,3,736,1280] canvas, crops outputs; CPU only for oversize lines</a:t>
            </a:r>
            <a:endParaRPr lang="en-US" sz="83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4069080"/>
            <a:ext cx="475488" cy="47548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4690872" y="4023360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Per-workload power modes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low_power_saver for sentinels, burst only while a call is live</a:t>
            </a:r>
            <a:endParaRPr lang="en-US" sz="83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910328"/>
            <a:ext cx="475488" cy="47548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170432" y="4864608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context caching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HTP graph compiled once, context binary reloaded on every launch</a:t>
            </a:r>
            <a:endParaRPr lang="en-US" sz="83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4910328"/>
            <a:ext cx="475488" cy="47548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4690872" y="4864608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NPU mode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SAJAG_NPU_STRICT=1 disables silent CPU fallback in development</a:t>
            </a:r>
            <a:endParaRPr lang="en-US" sz="83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751576"/>
            <a:ext cx="475488" cy="475488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170432" y="5705856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gating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dHash screen gate + call gate + VAD gate keep the NPU idle most of the time</a:t>
            </a:r>
            <a:endParaRPr lang="en-US" sz="830" dirty="0"/>
          </a:p>
        </p:txBody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5751576"/>
            <a:ext cx="475488" cy="47548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4690872" y="5705856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Torch-free Whisper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Hub decode loop ported to NumPy, 200-slot static KV cache</a:t>
            </a:r>
            <a:endParaRPr lang="en-US" sz="830" dirty="0"/>
          </a:p>
        </p:txBody>
      </p:sp>
      <p:sp>
        <p:nvSpPr>
          <p:cNvPr id="63" name="Shape 50"/>
          <p:cNvSpPr/>
          <p:nvPr/>
        </p:nvSpPr>
        <p:spPr>
          <a:xfrm>
            <a:off x="7726680" y="3931920"/>
            <a:ext cx="4233672" cy="2624328"/>
          </a:xfrm>
          <a:prstGeom prst="roundRect">
            <a:avLst>
              <a:gd name="adj" fmla="val 2439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sp>
        <p:nvSpPr>
          <p:cNvPr id="64" name="Text 51"/>
          <p:cNvSpPr txBox="1"/>
          <p:nvPr/>
        </p:nvSpPr>
        <p:spPr>
          <a:xfrm>
            <a:off x="7818120" y="3986784"/>
            <a:ext cx="4069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sajag/npu.py: one factory, any device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7818120" y="4279392"/>
            <a:ext cx="40690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= [("QNNExecutionProvider", {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"backend_path": "QnnHtp.dll",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"htp_performance_mode": POWER[workload],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"htp_graph_finalization_optimization_mode": "3",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"enable_htp_fp16_precision": "1"}),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"CPUExecutionProvider"]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so.add_session_config_entry("ep.context_enable", "1")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so.add_session_config_entry(</a:t>
            </a:r>
            <a:endParaRPr lang="en-US" sz="7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"session.disable_cpu_ep_fallback", STRICT)</a:t>
            </a:r>
            <a:endParaRPr lang="en-US" sz="730" dirty="0"/>
          </a:p>
        </p:txBody>
      </p:sp>
      <p:sp>
        <p:nvSpPr>
          <p:cNvPr id="66" name="Text 53"/>
          <p:cNvSpPr txBox="1"/>
          <p:nvPr/>
        </p:nvSpPr>
        <p:spPr>
          <a:xfrm>
            <a:off x="7818120" y="5989320"/>
            <a:ext cx="4069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30" i="1" dirty="0">
                <a:solidFill>
                  <a:srgbClr val="D9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runs on the NPU on Snapdragon and on the CPU anywhere else, so judges can run the demo on any laptop.</a:t>
            </a:r>
            <a:endParaRPr lang="en-US" sz="730" dirty="0"/>
          </a:p>
        </p:txBody>
      </p:sp>
      <p:sp>
        <p:nvSpPr>
          <p:cNvPr id="67" name="Text 54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engine: from a sentence to a verdict you can trust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explainable, tunable. The LLM never decides the verdict.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931920" cy="5367528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tactics, weighted (x 3 scripts)</a:t>
            </a:r>
            <a:endParaRPr lang="en-US" sz="9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91056"/>
            <a:ext cx="365760" cy="36576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31520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PIN, CVV</a:t>
            </a:r>
            <a:endParaRPr lang="en-US" sz="760" dirty="0"/>
          </a:p>
        </p:txBody>
      </p:sp>
      <p:sp>
        <p:nvSpPr>
          <p:cNvPr id="45" name="Shape 39"/>
          <p:cNvSpPr/>
          <p:nvPr/>
        </p:nvSpPr>
        <p:spPr>
          <a:xfrm>
            <a:off x="2377440" y="1700784"/>
            <a:ext cx="1290918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3686646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</a:t>
            </a:r>
            <a:endParaRPr lang="en-US" sz="72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80260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31520" y="2043684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remote_access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AnyDesk, screen share</a:t>
            </a:r>
            <a:endParaRPr lang="en-US" sz="760" dirty="0"/>
          </a:p>
        </p:txBody>
      </p:sp>
      <p:sp>
        <p:nvSpPr>
          <p:cNvPr id="49" name="Shape 42"/>
          <p:cNvSpPr/>
          <p:nvPr/>
        </p:nvSpPr>
        <p:spPr>
          <a:xfrm>
            <a:off x="2377440" y="2189988"/>
            <a:ext cx="1371600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3767328" y="2135124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</a:t>
            </a:r>
            <a:endParaRPr lang="en-US" sz="72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69464"/>
            <a:ext cx="365760" cy="36576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31520" y="2532888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secrecy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no one, stay on call</a:t>
            </a:r>
            <a:endParaRPr lang="en-US" sz="760" dirty="0"/>
          </a:p>
        </p:txBody>
      </p:sp>
      <p:sp>
        <p:nvSpPr>
          <p:cNvPr id="53" name="Shape 45"/>
          <p:cNvSpPr/>
          <p:nvPr/>
        </p:nvSpPr>
        <p:spPr>
          <a:xfrm>
            <a:off x="2377440" y="2679192"/>
            <a:ext cx="1129553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3525281" y="2624328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72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058668"/>
            <a:ext cx="365760" cy="36576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31520" y="3022092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account, UPI, fees</a:t>
            </a:r>
            <a:endParaRPr lang="en-US" sz="760" dirty="0"/>
          </a:p>
        </p:txBody>
      </p:sp>
      <p:sp>
        <p:nvSpPr>
          <p:cNvPr id="57" name="Shape 48"/>
          <p:cNvSpPr/>
          <p:nvPr/>
        </p:nvSpPr>
        <p:spPr>
          <a:xfrm>
            <a:off x="2377440" y="3168396"/>
            <a:ext cx="1048871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3444599" y="3113532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</a:t>
            </a:r>
            <a:endParaRPr lang="en-US" sz="72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547872"/>
            <a:ext cx="365760" cy="365760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731520" y="3511296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fake_error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 detected, PC blocked</a:t>
            </a:r>
            <a:endParaRPr lang="en-US" sz="760" dirty="0"/>
          </a:p>
        </p:txBody>
      </p:sp>
      <p:sp>
        <p:nvSpPr>
          <p:cNvPr id="61" name="Shape 51"/>
          <p:cNvSpPr/>
          <p:nvPr/>
        </p:nvSpPr>
        <p:spPr>
          <a:xfrm>
            <a:off x="2377440" y="3657600"/>
            <a:ext cx="968188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2" name="Text 52"/>
          <p:cNvSpPr txBox="1"/>
          <p:nvPr/>
        </p:nvSpPr>
        <p:spPr>
          <a:xfrm>
            <a:off x="3363916" y="3602736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</a:t>
            </a:r>
            <a:endParaRPr lang="en-US" sz="720" dirty="0"/>
          </a:p>
        </p:txBody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4037076"/>
            <a:ext cx="365760" cy="36576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731520" y="4000500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 warrant, account blocked</a:t>
            </a:r>
            <a:endParaRPr lang="en-US" sz="760" dirty="0"/>
          </a:p>
        </p:txBody>
      </p:sp>
      <p:sp>
        <p:nvSpPr>
          <p:cNvPr id="65" name="Shape 54"/>
          <p:cNvSpPr/>
          <p:nvPr/>
        </p:nvSpPr>
        <p:spPr>
          <a:xfrm>
            <a:off x="2377440" y="4146804"/>
            <a:ext cx="887506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3283234" y="4091940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</a:t>
            </a:r>
            <a:endParaRPr lang="en-US" sz="72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526280"/>
            <a:ext cx="365760" cy="365760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731520" y="4489704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identity_bait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Aadhaar / parcel misused</a:t>
            </a:r>
            <a:endParaRPr lang="en-US" sz="760" dirty="0"/>
          </a:p>
        </p:txBody>
      </p:sp>
      <p:sp>
        <p:nvSpPr>
          <p:cNvPr id="69" name="Shape 57"/>
          <p:cNvSpPr/>
          <p:nvPr/>
        </p:nvSpPr>
        <p:spPr>
          <a:xfrm>
            <a:off x="2377440" y="4636008"/>
            <a:ext cx="806824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0" name="Text 58"/>
          <p:cNvSpPr txBox="1"/>
          <p:nvPr/>
        </p:nvSpPr>
        <p:spPr>
          <a:xfrm>
            <a:off x="3202552" y="4581144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720" dirty="0"/>
          </a:p>
        </p:txBody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5015484"/>
            <a:ext cx="365760" cy="365760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731520" y="4978908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CBI, police, RBI, Microsoft</a:t>
            </a:r>
            <a:endParaRPr lang="en-US" sz="760" dirty="0"/>
          </a:p>
        </p:txBody>
      </p:sp>
      <p:sp>
        <p:nvSpPr>
          <p:cNvPr id="73" name="Shape 60"/>
          <p:cNvSpPr/>
          <p:nvPr/>
        </p:nvSpPr>
        <p:spPr>
          <a:xfrm>
            <a:off x="2377440" y="5125212"/>
            <a:ext cx="726141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4" name="Text 61"/>
          <p:cNvSpPr txBox="1"/>
          <p:nvPr/>
        </p:nvSpPr>
        <p:spPr>
          <a:xfrm>
            <a:off x="3121869" y="5070348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720" dirty="0"/>
          </a:p>
        </p:txBody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5504688"/>
            <a:ext cx="365760" cy="36576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731520" y="5468112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lure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lottery, refund, sure return</a:t>
            </a:r>
            <a:endParaRPr lang="en-US" sz="760" dirty="0"/>
          </a:p>
        </p:txBody>
      </p:sp>
      <p:sp>
        <p:nvSpPr>
          <p:cNvPr id="77" name="Shape 63"/>
          <p:cNvSpPr/>
          <p:nvPr/>
        </p:nvSpPr>
        <p:spPr>
          <a:xfrm>
            <a:off x="2377440" y="5614416"/>
            <a:ext cx="645459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3041187" y="5559552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</a:t>
            </a:r>
            <a:endParaRPr lang="en-US" sz="720" dirty="0"/>
          </a:p>
        </p:txBody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5993892"/>
            <a:ext cx="365760" cy="365760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731520" y="5957316"/>
            <a:ext cx="1600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7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2 hours, turant</a:t>
            </a:r>
            <a:endParaRPr lang="en-US" sz="760" dirty="0"/>
          </a:p>
        </p:txBody>
      </p:sp>
      <p:sp>
        <p:nvSpPr>
          <p:cNvPr id="81" name="Shape 66"/>
          <p:cNvSpPr/>
          <p:nvPr/>
        </p:nvSpPr>
        <p:spPr>
          <a:xfrm>
            <a:off x="2377440" y="6103620"/>
            <a:ext cx="484094" cy="164592"/>
          </a:xfrm>
          <a:prstGeom prst="roundRect">
            <a:avLst>
              <a:gd name="adj" fmla="val 22222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2879822" y="6048756"/>
            <a:ext cx="365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720" dirty="0"/>
          </a:p>
        </p:txBody>
      </p:sp>
      <p:sp>
        <p:nvSpPr>
          <p:cNvPr id="83" name="Shape 68"/>
          <p:cNvSpPr/>
          <p:nvPr/>
        </p:nvSpPr>
        <p:spPr>
          <a:xfrm>
            <a:off x="4251960" y="1188720"/>
            <a:ext cx="3794760" cy="2240280"/>
          </a:xfrm>
          <a:prstGeom prst="roundRect">
            <a:avLst>
              <a:gd name="adj" fmla="val 2857"/>
            </a:avLst>
          </a:prstGeom>
          <a:solidFill>
            <a:srgbClr val="F3EAFB"/>
          </a:solidFill>
          <a:ln w="11430">
            <a:solidFill>
              <a:srgbClr val="D9C3EE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4343400" y="1252728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85" name="Text 70"/>
          <p:cNvSpPr txBox="1"/>
          <p:nvPr/>
        </p:nvSpPr>
        <p:spPr>
          <a:xfrm>
            <a:off x="4343400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sentence (segment score)</a:t>
            </a:r>
            <a:endParaRPr lang="en-US" sz="900" dirty="0"/>
          </a:p>
        </p:txBody>
      </p:sp>
      <p:sp>
        <p:nvSpPr>
          <p:cNvPr id="86" name="Text 71"/>
          <p:cNvSpPr txBox="1"/>
          <p:nvPr/>
        </p:nvSpPr>
        <p:spPr>
          <a:xfrm>
            <a:off x="4343400" y="1572768"/>
            <a:ext cx="36118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Normalise: NFKC, case, punctuation, ASR/OCR confusions ('any desk' to 'anydesk')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300+ cues: Latin on word boundaries, Devanagari as substrings; keep the longest phrase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= 1 - PRODUCT(1 - w_tactic)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= 1 - (1 - pattern)(1 - 0.6 p_scam)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damping x0.35: 'police never ask...', bank SMS footers</a:t>
            </a:r>
            <a:endParaRPr lang="en-US" sz="820" dirty="0"/>
          </a:p>
        </p:txBody>
      </p:sp>
      <p:sp>
        <p:nvSpPr>
          <p:cNvPr id="87" name="Shape 72"/>
          <p:cNvSpPr/>
          <p:nvPr/>
        </p:nvSpPr>
        <p:spPr>
          <a:xfrm>
            <a:off x="8138160" y="1188720"/>
            <a:ext cx="3822192" cy="2240280"/>
          </a:xfrm>
          <a:prstGeom prst="roundRect">
            <a:avLst>
              <a:gd name="adj" fmla="val 2857"/>
            </a:avLst>
          </a:prstGeom>
          <a:solidFill>
            <a:srgbClr val="FDECEF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8229600" y="1252728"/>
            <a:ext cx="363931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9" name="Text 74"/>
          <p:cNvSpPr txBox="1"/>
          <p:nvPr/>
        </p:nvSpPr>
        <p:spPr>
          <a:xfrm>
            <a:off x="8229600" y="12527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conversation (fusion)</a:t>
            </a:r>
            <a:endParaRPr lang="en-US" sz="900" dirty="0"/>
          </a:p>
        </p:txBody>
      </p:sp>
      <p:sp>
        <p:nvSpPr>
          <p:cNvPr id="90" name="Text 75"/>
          <p:cNvSpPr txBox="1"/>
          <p:nvPr/>
        </p:nvSpPr>
        <p:spPr>
          <a:xfrm>
            <a:off x="8229600" y="1572768"/>
            <a:ext cx="3639312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decays with a 4-minute half-life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classifier confidence; OTP, remote-access and secrecy asks keep 60% during a live call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Noisy-OR over the strongest evidence per tactic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+0.08 when 2+ modalities agree during a call</a:t>
            </a:r>
            <a:endParaRPr lang="en-US" sz="82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alert per upward level change (hysteresis)</a:t>
            </a:r>
            <a:endParaRPr lang="en-US" sz="820" dirty="0"/>
          </a:p>
        </p:txBody>
      </p:sp>
      <p:sp>
        <p:nvSpPr>
          <p:cNvPr id="91" name="Shape 76"/>
          <p:cNvSpPr/>
          <p:nvPr/>
        </p:nvSpPr>
        <p:spPr>
          <a:xfrm>
            <a:off x="4251960" y="3520440"/>
            <a:ext cx="7708392" cy="3035808"/>
          </a:xfrm>
          <a:prstGeom prst="roundRect">
            <a:avLst>
              <a:gd name="adj" fmla="val 2108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4343400" y="3584448"/>
            <a:ext cx="752551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93" name="Text 78"/>
          <p:cNvSpPr txBox="1"/>
          <p:nvPr/>
        </p:nvSpPr>
        <p:spPr>
          <a:xfrm>
            <a:off x="4343400" y="3584448"/>
            <a:ext cx="7525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rules encode what investigators describe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3904488"/>
          <a:ext cx="75255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1097280"/>
                <a:gridCol w="158191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 (decayed evidence)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control + money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remote_access &gt;= 0.20 and (payment or credential) &gt;= 0.15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 DANGER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support, KYC + AnyDesk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arrest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secrecy &gt;= 0.12, payment &gt;= 0.12, authority &gt;= 0.08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 DANGER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fake CBI / police / customs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 fee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lure &gt;= 0.08 and payment &gt;= 0.12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 WARNING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lottery, task job, IPO, refund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Cross-modal agreement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live, 2+ sources, score &gt;= 0.5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+0.08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confirms the call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95" name="Shape 79"/>
          <p:cNvSpPr/>
          <p:nvPr/>
        </p:nvSpPr>
        <p:spPr>
          <a:xfrm>
            <a:off x="4343400" y="5257800"/>
            <a:ext cx="5029200" cy="1234440"/>
          </a:xfrm>
          <a:prstGeom prst="roundRect">
            <a:avLst>
              <a:gd name="adj" fmla="val 5185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pic>
        <p:nvPicPr>
          <p:cNvPr id="9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6552" y="5321808"/>
            <a:ext cx="411480" cy="411480"/>
          </a:xfrm>
          <a:prstGeom prst="rect">
            <a:avLst/>
          </a:prstGeom>
        </p:spPr>
      </p:pic>
      <p:sp>
        <p:nvSpPr>
          <p:cNvPr id="97" name="Text 80"/>
          <p:cNvSpPr txBox="1"/>
          <p:nvPr/>
        </p:nvSpPr>
        <p:spPr>
          <a:xfrm>
            <a:off x="4873752" y="5285232"/>
            <a:ext cx="443484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 </a:t>
            </a:r>
            <a:endParaRPr lang="en-US" sz="77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'main CBI se bol raha hoon' (authority) + 'kisi ko mat batana' (secrecy) + 'RBI safe account mein transfer karo' (payment) = digital-arrest signature, floor 0.90: DANGER. Any single line alone stays below WARNING.</a:t>
            </a:r>
            <a:endParaRPr lang="en-US" sz="770" dirty="0"/>
          </a:p>
        </p:txBody>
      </p:sp>
      <p:sp>
        <p:nvSpPr>
          <p:cNvPr id="98" name="Shape 81"/>
          <p:cNvSpPr/>
          <p:nvPr/>
        </p:nvSpPr>
        <p:spPr>
          <a:xfrm>
            <a:off x="9464040" y="5257800"/>
            <a:ext cx="2404872" cy="1234440"/>
          </a:xfrm>
          <a:prstGeom prst="roundRect">
            <a:avLst>
              <a:gd name="adj" fmla="val 5185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sp>
        <p:nvSpPr>
          <p:cNvPr id="99" name="Text 82"/>
          <p:cNvSpPr txBox="1"/>
          <p:nvPr/>
        </p:nvSpPr>
        <p:spPr>
          <a:xfrm>
            <a:off x="9555480" y="5303520"/>
            <a:ext cx="2240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result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22% to 0.5%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65.5% to 91%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synthetic calls</a:t>
            </a:r>
            <a:endParaRPr lang="en-US" sz="830" dirty="0"/>
          </a:p>
        </p:txBody>
      </p:sp>
      <p:sp>
        <p:nvSpPr>
          <p:cNvPr id="100" name="Text 83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catches scams early, stays quiet on normal calls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Reproduce: python scripts/evaluate.py and python -m pytest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DECE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93876"/>
            <a:ext cx="566928" cy="56692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41832" y="1216152"/>
            <a:ext cx="15179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200 synthetic scam calls reach WARNING</a:t>
            </a:r>
            <a:endParaRPr lang="en-US" sz="1700" dirty="0"/>
          </a:p>
        </p:txBody>
      </p:sp>
      <p:sp>
        <p:nvSpPr>
          <p:cNvPr id="43" name="Shape 37"/>
          <p:cNvSpPr/>
          <p:nvPr/>
        </p:nvSpPr>
        <p:spPr>
          <a:xfrm>
            <a:off x="2587752" y="11887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E6F6EC"/>
          </a:solidFill>
          <a:ln w="11430">
            <a:solidFill>
              <a:srgbClr val="1E9E57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1293876"/>
            <a:ext cx="566928" cy="56692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3300984" y="1216152"/>
            <a:ext cx="15179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200 benign calls with hard negatives</a:t>
            </a:r>
            <a:endParaRPr lang="en-US" sz="1700" dirty="0"/>
          </a:p>
        </p:txBody>
      </p:sp>
      <p:sp>
        <p:nvSpPr>
          <p:cNvPr id="46" name="Shape 39"/>
          <p:cNvSpPr/>
          <p:nvPr/>
        </p:nvSpPr>
        <p:spPr>
          <a:xfrm>
            <a:off x="4946904" y="11887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FF3DD"/>
          </a:solidFill>
          <a:ln w="11430">
            <a:solidFill>
              <a:srgbClr val="E08A0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1293876"/>
            <a:ext cx="566928" cy="566928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5660136" y="1216152"/>
            <a:ext cx="15179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scripts the classifier never saw (0.5% false alarms)</a:t>
            </a:r>
            <a:endParaRPr lang="en-US" sz="1700" dirty="0"/>
          </a:p>
        </p:txBody>
      </p:sp>
      <p:sp>
        <p:nvSpPr>
          <p:cNvPr id="49" name="Shape 41"/>
          <p:cNvSpPr/>
          <p:nvPr/>
        </p:nvSpPr>
        <p:spPr>
          <a:xfrm>
            <a:off x="7306056" y="11887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EAEFFF"/>
          </a:solidFill>
          <a:ln w="11430">
            <a:solidFill>
              <a:srgbClr val="3253DC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496" y="1293876"/>
            <a:ext cx="566928" cy="566928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8019288" y="1216152"/>
            <a:ext cx="15179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turns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to the first WARNING</a:t>
            </a:r>
            <a:endParaRPr lang="en-US" sz="1700" dirty="0"/>
          </a:p>
        </p:txBody>
      </p:sp>
      <p:sp>
        <p:nvSpPr>
          <p:cNvPr id="52" name="Shape 43"/>
          <p:cNvSpPr/>
          <p:nvPr/>
        </p:nvSpPr>
        <p:spPr>
          <a:xfrm>
            <a:off x="9665208" y="1188720"/>
            <a:ext cx="2295144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6648" y="1293876"/>
            <a:ext cx="566928" cy="566928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0378440" y="1216152"/>
            <a:ext cx="15270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1700" dirty="0"/>
          </a:p>
          <a:p>
            <a:pPr indent="0" marL="0">
              <a:buNone/>
            </a:pPr>
            <a:r>
              <a:rPr lang="en-US" sz="7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pass, 5 / 5 scenarios</a:t>
            </a:r>
            <a:endParaRPr lang="en-US" sz="1700" dirty="0"/>
          </a:p>
        </p:txBody>
      </p:sp>
      <p:sp>
        <p:nvSpPr>
          <p:cNvPr id="55" name="Shape 45"/>
          <p:cNvSpPr/>
          <p:nvPr/>
        </p:nvSpPr>
        <p:spPr>
          <a:xfrm>
            <a:off x="228600" y="2057400"/>
            <a:ext cx="384048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320040" y="2121408"/>
            <a:ext cx="365760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32004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by scam family</a:t>
            </a:r>
            <a:endParaRPr lang="en-US" sz="900" dirty="0"/>
          </a:p>
        </p:txBody>
      </p:sp>
      <p:graphicFrame>
        <p:nvGraphicFramePr>
          <p:cNvPr id="58" name="Chart 0" descr=""/>
          <p:cNvGraphicFramePr/>
          <p:nvPr/>
        </p:nvGraphicFramePr>
        <p:xfrm>
          <a:off x="274320" y="2423160"/>
          <a:ext cx="3749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9" name="Shape 48"/>
          <p:cNvSpPr/>
          <p:nvPr/>
        </p:nvSpPr>
        <p:spPr>
          <a:xfrm>
            <a:off x="4160520" y="2057400"/>
            <a:ext cx="393192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251960" y="212140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425196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replays (real OCR)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2450592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7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7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7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1st warning</a:t>
                      </a:r>
                      <a:endParaRPr lang="en-US" sz="7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arrest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support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DANGER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otp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call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960" y="4160520"/>
            <a:ext cx="365760" cy="36576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4663440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arrest: WARNING at 20 s; the money ask comes at 45 s. Tech support: WARNING at 27 s, DANGER the moment AnyDesk starts.</a:t>
            </a:r>
            <a:endParaRPr lang="en-US" sz="750" dirty="0"/>
          </a:p>
        </p:txBody>
      </p:sp>
      <p:sp>
        <p:nvSpPr>
          <p:cNvPr id="65" name="Shape 52"/>
          <p:cNvSpPr/>
          <p:nvPr/>
        </p:nvSpPr>
        <p:spPr>
          <a:xfrm>
            <a:off x="8183880" y="2057400"/>
            <a:ext cx="3776472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8275320" y="2121408"/>
            <a:ext cx="3593592" cy="256032"/>
          </a:xfrm>
          <a:prstGeom prst="roundRect">
            <a:avLst>
              <a:gd name="adj" fmla="val 17857"/>
            </a:avLst>
          </a:prstGeom>
          <a:solidFill>
            <a:srgbClr val="3253DC"/>
          </a:solidFill>
          <a:ln w="12700">
            <a:solidFill>
              <a:srgbClr val="3253DC"/>
            </a:solidFill>
            <a:prstDash val="solid"/>
          </a:ln>
        </p:spPr>
      </p:sp>
      <p:sp>
        <p:nvSpPr>
          <p:cNvPr id="67" name="Text 54"/>
          <p:cNvSpPr txBox="1"/>
          <p:nvPr/>
        </p:nvSpPr>
        <p:spPr>
          <a:xfrm>
            <a:off x="8275320" y="212140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vs unseen scam scripts</a:t>
            </a:r>
            <a:endParaRPr lang="en-US" sz="900" dirty="0"/>
          </a:p>
        </p:txBody>
      </p:sp>
      <p:graphicFrame>
        <p:nvGraphicFramePr>
          <p:cNvPr id="68" name="Chart 1" descr=""/>
          <p:cNvGraphicFramePr/>
          <p:nvPr/>
        </p:nvGraphicFramePr>
        <p:xfrm>
          <a:off x="8229600" y="2423160"/>
          <a:ext cx="368503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69" name="Shape 55"/>
          <p:cNvSpPr/>
          <p:nvPr/>
        </p:nvSpPr>
        <p:spPr>
          <a:xfrm>
            <a:off x="228600" y="4937760"/>
            <a:ext cx="5760720" cy="1618488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320040" y="5001768"/>
            <a:ext cx="55778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71" name="Text 57"/>
          <p:cNvSpPr txBox="1"/>
          <p:nvPr/>
        </p:nvSpPr>
        <p:spPr>
          <a:xfrm>
            <a:off x="320040" y="50017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latency here (x86 laptop CPU, fallback path)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21808"/>
          <a:ext cx="5577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21031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classifier (ONNX)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 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[1,16384] Gemm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text analysis (patterns + classifier)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 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sentence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Golden-hour report build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 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extraction + timeline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OCR det + rec (CPU)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~730 ms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moves to NPU on Snapdragon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73" name="Shape 58"/>
          <p:cNvSpPr/>
          <p:nvPr/>
        </p:nvSpPr>
        <p:spPr>
          <a:xfrm>
            <a:off x="6080760" y="4937760"/>
            <a:ext cx="5879592" cy="1618488"/>
          </a:xfrm>
          <a:prstGeom prst="roundRect">
            <a:avLst>
              <a:gd name="adj" fmla="val 3955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6172200" y="5001768"/>
            <a:ext cx="569671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5" name="Text 60"/>
          <p:cNvSpPr txBox="1"/>
          <p:nvPr/>
        </p:nvSpPr>
        <p:spPr>
          <a:xfrm>
            <a:off x="6172200" y="500176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limitations</a:t>
            </a:r>
            <a:endParaRPr lang="en-US" sz="900" dirty="0"/>
          </a:p>
        </p:txBody>
      </p:sp>
      <p:sp>
        <p:nvSpPr>
          <p:cNvPr id="76" name="Text 61"/>
          <p:cNvSpPr txBox="1"/>
          <p:nvPr/>
        </p:nvSpPr>
        <p:spPr>
          <a:xfrm>
            <a:off x="6172200" y="5303520"/>
            <a:ext cx="569671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1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is synthetic; 91% uses templates that overlap training (upper bound)</a:t>
            </a:r>
            <a:endParaRPr lang="en-US" sz="81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1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on never-seen scripts is the honest lower estimate; real-call data closes the gap</a:t>
            </a:r>
            <a:endParaRPr lang="en-US" sz="81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1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latencies are AI Hub's published profiles; 'python -m sajag bench' measures on-device</a:t>
            </a:r>
            <a:endParaRPr lang="en-US" sz="810" dirty="0"/>
          </a:p>
          <a:p>
            <a:pPr marL="127000" indent="-127000">
              <a:spcAft>
                <a:spcPts val="300"/>
              </a:spcAft>
              <a:buSzPct val="100000"/>
              <a:buChar char="►"/>
            </a:pPr>
            <a:r>
              <a:rPr lang="en-US" sz="81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alone on held-out templates: precision 1.00, recall 0.40 (why rules + fusion exist)</a:t>
            </a:r>
            <a:endParaRPr lang="en-US" sz="810" dirty="0"/>
          </a:p>
        </p:txBody>
      </p:sp>
      <p:sp>
        <p:nvSpPr>
          <p:cNvPr id="77" name="Text 62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call: the golden-hour 1930 report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v1.1: built only on request, never uploaded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4754880" cy="5367528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457200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on the dashboard</a:t>
            </a:r>
            <a:endParaRPr lang="en-US" sz="900" dirty="0"/>
          </a:p>
        </p:txBody>
      </p:sp>
      <p:pic>
        <p:nvPicPr>
          <p:cNvPr id="43" name="Image 3" descr="/home/claude/deck/laptop_repor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4572000" cy="2770632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320040" y="4370832"/>
            <a:ext cx="4572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00" i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 from the digital-arrest replay (demo data).</a:t>
            </a:r>
            <a:endParaRPr lang="en-US" sz="7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645152"/>
            <a:ext cx="420624" cy="420624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22960" y="4617720"/>
            <a:ext cx="4114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can often be frozen if fraud is reported within the first hours (the 'golden hour' police and banks stress)</a:t>
            </a:r>
            <a:endParaRPr lang="en-US" sz="77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5266944"/>
            <a:ext cx="420624" cy="420624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22960" y="5239512"/>
            <a:ext cx="4114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Victims under stress forget the caller's claims, account numbers and times</a:t>
            </a:r>
            <a:endParaRPr lang="en-US" sz="77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5888736"/>
            <a:ext cx="420624" cy="42062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22960" y="5861304"/>
            <a:ext cx="4114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Sajag does: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7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15 minutes of in-memory evidence into a ready-to-read complaint</a:t>
            </a:r>
            <a:endParaRPr lang="en-US" sz="770" dirty="0"/>
          </a:p>
        </p:txBody>
      </p:sp>
      <p:sp>
        <p:nvSpPr>
          <p:cNvPr id="51" name="Shape 42"/>
          <p:cNvSpPr/>
          <p:nvPr/>
        </p:nvSpPr>
        <p:spPr>
          <a:xfrm>
            <a:off x="5074920" y="1188720"/>
            <a:ext cx="347472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5166360" y="1252728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5166360" y="1252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extracts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572768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(demo)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Claimed identity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authority cues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crime branch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numbers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+91 98765 43210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 IDs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winsupport.desk@ybl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50100234567891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IFSC codes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HDFC0001234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lakh 80 thousand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refund-help.xyz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apps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AnyDesk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55" name="Shape 45"/>
          <p:cNvSpPr/>
          <p:nvPr/>
        </p:nvSpPr>
        <p:spPr>
          <a:xfrm>
            <a:off x="8641080" y="1188720"/>
            <a:ext cx="3319272" cy="3063240"/>
          </a:xfrm>
          <a:prstGeom prst="roundRect">
            <a:avLst>
              <a:gd name="adj" fmla="val 2090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732520" y="1252728"/>
            <a:ext cx="313639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8732520" y="125272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it prints (EN + HI)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8732520" y="1572768"/>
            <a:ext cx="3136392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 up, do not call back</a:t>
            </a:r>
            <a:endParaRPr lang="en-US" sz="860" dirty="0"/>
          </a:p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1930 now and read out the details</a:t>
            </a:r>
            <a:endParaRPr lang="en-US" sz="860" dirty="0"/>
          </a:p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at cybercrime.gov.in, keep the acknowledgement</a:t>
            </a:r>
            <a:endParaRPr lang="en-US" sz="860" dirty="0"/>
          </a:p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bank's official number to block cards, UPI, net banking</a:t>
            </a:r>
            <a:endParaRPr lang="en-US" sz="860" dirty="0"/>
          </a:p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Uninstall the remote app, change passwords</a:t>
            </a:r>
            <a:endParaRPr lang="en-US" sz="860" dirty="0"/>
          </a:p>
          <a:p>
            <a:pPr marL="152400" indent="-1524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8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family member</a:t>
            </a:r>
            <a:endParaRPr lang="en-US" sz="860" dirty="0"/>
          </a:p>
        </p:txBody>
      </p:sp>
      <p:sp>
        <p:nvSpPr>
          <p:cNvPr id="59" name="Shape 49"/>
          <p:cNvSpPr/>
          <p:nvPr/>
        </p:nvSpPr>
        <p:spPr>
          <a:xfrm>
            <a:off x="8732520" y="3291840"/>
            <a:ext cx="3136392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9525">
            <a:solidFill>
              <a:srgbClr val="D7002A"/>
            </a:solidFill>
            <a:prstDash val="solid"/>
          </a:ln>
        </p:spPr>
      </p:sp>
      <p:sp>
        <p:nvSpPr>
          <p:cNvPr id="60" name="Text 50"/>
          <p:cNvSpPr txBox="1"/>
          <p:nvPr/>
        </p:nvSpPr>
        <p:spPr>
          <a:xfrm>
            <a:off x="8778240" y="3291840"/>
            <a:ext cx="306324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हिन्दी में भी: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कॉल काटें, अभी 1930 पर कॉल करें, cybercrime.gov.in पर शिकायत करें, बैंक को सूचित करें, परिवार को बताएं।</a:t>
            </a:r>
            <a:endParaRPr lang="en-US" sz="820" dirty="0"/>
          </a:p>
        </p:txBody>
      </p:sp>
      <p:sp>
        <p:nvSpPr>
          <p:cNvPr id="61" name="Shape 51"/>
          <p:cNvSpPr/>
          <p:nvPr/>
        </p:nvSpPr>
        <p:spPr>
          <a:xfrm>
            <a:off x="5074920" y="4343400"/>
            <a:ext cx="6885432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166360" y="4407408"/>
            <a:ext cx="670255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5166360" y="4407408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900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4754880"/>
            <a:ext cx="548640" cy="54864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5788152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only</a:t>
            </a:r>
            <a:endParaRPr lang="en-US" sz="8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saved until the user clicks; copy or save as .txt</a:t>
            </a:r>
            <a:endParaRPr lang="en-US" sz="86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4754880"/>
            <a:ext cx="548640" cy="54864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9153144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</a:t>
            </a:r>
            <a:endParaRPr lang="en-US" sz="8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and Hindi steps for the victim and family</a:t>
            </a:r>
            <a:endParaRPr lang="en-US" sz="860" dirty="0"/>
          </a:p>
        </p:txBody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5623560"/>
            <a:ext cx="548640" cy="54864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5788152" y="5596128"/>
            <a:ext cx="2697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Evidence-linked</a:t>
            </a:r>
            <a:endParaRPr lang="en-US" sz="8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traces to a timestamped call or screen event</a:t>
            </a:r>
            <a:endParaRPr lang="en-US" sz="860" dirty="0"/>
          </a:p>
        </p:txBody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1352" y="5623560"/>
            <a:ext cx="548640" cy="548640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9153144" y="5596128"/>
            <a:ext cx="26974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86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6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 and report order covered by unit tests</a:t>
            </a:r>
            <a:endParaRPr lang="en-US" sz="860" dirty="0"/>
          </a:p>
        </p:txBody>
      </p:sp>
      <p:sp>
        <p:nvSpPr>
          <p:cNvPr id="72" name="Text 58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accessibility: one command, works for anyone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(Apache-2.0), offline, bilingual, elderly-first UX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840480" cy="2606040"/>
          </a:xfrm>
          <a:prstGeom prst="roundRect">
            <a:avLst>
              <a:gd name="adj" fmla="val 2456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61872"/>
            <a:ext cx="292608" cy="29260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58368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on a Snapdragon HP PC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320040" y="1627632"/>
            <a:ext cx="36576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8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git clone github.com/tanmaysahare/sajag-ai</a:t>
            </a:r>
            <a:endParaRPr lang="en-US" sz="8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8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powershell -File install.ps1</a:t>
            </a:r>
            <a:endParaRPr lang="en-US" sz="8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8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python -m sajag doctor    # QNN NPU found</a:t>
            </a:r>
            <a:endParaRPr lang="en-US" sz="8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8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python -m sajag run       # guardian + dashboard</a:t>
            </a:r>
            <a:endParaRPr lang="en-US" sz="8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8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python -m sajag demo --report</a:t>
            </a:r>
            <a:endParaRPr lang="en-US" sz="880" dirty="0"/>
          </a:p>
        </p:txBody>
      </p:sp>
      <p:sp>
        <p:nvSpPr>
          <p:cNvPr id="44" name="Text 38"/>
          <p:cNvSpPr txBox="1"/>
          <p:nvPr/>
        </p:nvSpPr>
        <p:spPr>
          <a:xfrm>
            <a:off x="32004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install.ps1: Python 3.11 ARM64 venv, onnxruntime-qnn, AI Hub models (qai_hub_models_cli), NPU OCR prep</a:t>
            </a:r>
            <a:endParaRPr lang="en-US" sz="750" dirty="0"/>
          </a:p>
          <a:p>
            <a:pPr marL="127000" indent="-127000">
              <a:spcAft>
                <a:spcPts val="250"/>
              </a:spcAft>
              <a:buSzPct val="100000"/>
              <a:buChar char="►"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on any laptop: python -m sajag demo / ui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4160520" y="1188720"/>
            <a:ext cx="3931920" cy="2606040"/>
          </a:xfrm>
          <a:prstGeom prst="roundRect">
            <a:avLst>
              <a:gd name="adj" fmla="val 2456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251960" y="125272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251960" y="1252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by design</a:t>
            </a:r>
            <a:endParaRPr lang="en-US" sz="9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600200"/>
            <a:ext cx="438912" cy="438912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4773168" y="1563624"/>
            <a:ext cx="3246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languages, three scripts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हिन्दी, Hinglish in speech, screen, alerts</a:t>
            </a:r>
            <a:endParaRPr lang="en-US" sz="78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2148840"/>
            <a:ext cx="438912" cy="43891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4773168" y="2112264"/>
            <a:ext cx="3246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Elderly-first alerts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full-screen, large type, spoken aloud, one button</a:t>
            </a:r>
            <a:endParaRPr lang="en-US" sz="78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2697480"/>
            <a:ext cx="438912" cy="438912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773168" y="2660904"/>
            <a:ext cx="3246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 after install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account, no sign-in, no subscription</a:t>
            </a:r>
            <a:endParaRPr lang="en-US" sz="78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392" y="3246120"/>
            <a:ext cx="438912" cy="438912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4773168" y="3209544"/>
            <a:ext cx="32461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after the one-time model download</a:t>
            </a:r>
            <a:endParaRPr lang="en-US" sz="780" dirty="0"/>
          </a:p>
        </p:txBody>
      </p:sp>
      <p:sp>
        <p:nvSpPr>
          <p:cNvPr id="56" name="Shape 46"/>
          <p:cNvSpPr/>
          <p:nvPr/>
        </p:nvSpPr>
        <p:spPr>
          <a:xfrm>
            <a:off x="8183880" y="1188720"/>
            <a:ext cx="377647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8275320" y="1252728"/>
            <a:ext cx="359359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8275320" y="125272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vs a cloud scam detector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572768"/>
          <a:ext cx="359359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1051560"/>
                <a:gridCol w="10515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 (NPU)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AI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+ screen data leaves PC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to warning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sub-second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bound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offline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D70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user per month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ASR + LLM fees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DPDP data minimisation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E08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to millions of PCs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E9E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cost grows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60" name="Shape 49"/>
          <p:cNvSpPr/>
          <p:nvPr/>
        </p:nvSpPr>
        <p:spPr>
          <a:xfrm>
            <a:off x="228600" y="3886200"/>
            <a:ext cx="292608" cy="2670048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 rot="16200000">
            <a:off x="-960120" y="50749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62" name="Shape 51"/>
          <p:cNvSpPr/>
          <p:nvPr/>
        </p:nvSpPr>
        <p:spPr>
          <a:xfrm>
            <a:off x="548640" y="3886200"/>
            <a:ext cx="5577840" cy="267004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977640"/>
            <a:ext cx="566928" cy="566928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1261872" y="3950208"/>
            <a:ext cx="20574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preload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leads India's PC market (26.6% in Q3 2025, IDC); a safety feature on Snapdragon HP AI PCs</a:t>
            </a:r>
            <a:endParaRPr lang="en-US" sz="78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3977640"/>
            <a:ext cx="566928" cy="56692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4005072" y="3950208"/>
            <a:ext cx="20574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&amp; NBFCs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to retail and senior customers in fraud-prevention programmes</a:t>
            </a:r>
            <a:endParaRPr lang="en-US" sz="78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5257800"/>
            <a:ext cx="566928" cy="566928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1261872" y="5230368"/>
            <a:ext cx="20574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I4C / 1930 &amp; police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offline tool for awareness partners; 1930 in every alert</a:t>
            </a:r>
            <a:endParaRPr lang="en-US" sz="78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280" y="5257800"/>
            <a:ext cx="566928" cy="566928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4005072" y="5230368"/>
            <a:ext cx="20574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78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senior-citizen groups, colleges, CSCs, CA offices</a:t>
            </a:r>
            <a:endParaRPr lang="en-US" sz="780" dirty="0"/>
          </a:p>
        </p:txBody>
      </p:sp>
      <p:sp>
        <p:nvSpPr>
          <p:cNvPr id="71" name="Shape 56"/>
          <p:cNvSpPr/>
          <p:nvPr/>
        </p:nvSpPr>
        <p:spPr>
          <a:xfrm>
            <a:off x="6217920" y="3886200"/>
            <a:ext cx="5742432" cy="267004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72" name="Shape 57"/>
          <p:cNvSpPr/>
          <p:nvPr/>
        </p:nvSpPr>
        <p:spPr>
          <a:xfrm>
            <a:off x="6309360" y="3950208"/>
            <a:ext cx="5559552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73" name="Text 58"/>
          <p:cNvSpPr txBox="1"/>
          <p:nvPr/>
        </p:nvSpPr>
        <p:spPr>
          <a:xfrm>
            <a:off x="6309360" y="3950208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model (illustrative, 2024 I4C averages)</a:t>
            </a:r>
            <a:endParaRPr lang="en-US" sz="900" dirty="0"/>
          </a:p>
        </p:txBody>
      </p:sp>
      <p:graphicFrame>
        <p:nvGraphicFramePr>
          <p:cNvPr id="74" name="Chart 0" descr=""/>
          <p:cNvGraphicFramePr/>
          <p:nvPr/>
        </p:nvGraphicFramePr>
        <p:xfrm>
          <a:off x="6263640" y="4251960"/>
          <a:ext cx="30632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8320" y="4315968"/>
            <a:ext cx="502920" cy="502920"/>
          </a:xfrm>
          <a:prstGeom prst="rect">
            <a:avLst/>
          </a:prstGeom>
        </p:spPr>
      </p:pic>
      <p:sp>
        <p:nvSpPr>
          <p:cNvPr id="76" name="Text 59"/>
          <p:cNvSpPr txBox="1"/>
          <p:nvPr/>
        </p:nvSpPr>
        <p:spPr>
          <a:xfrm>
            <a:off x="9948672" y="4279392"/>
            <a:ext cx="19659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₹1.55 lakh</a:t>
            </a:r>
            <a:endParaRPr lang="en-US" sz="75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per digital-arrest case in 2024 (₹1,918 cr / 1,23,672); ₹3.73 lakh in 2025</a:t>
            </a:r>
            <a:endParaRPr lang="en-US" sz="750" dirty="0"/>
          </a:p>
        </p:txBody>
      </p:sp>
      <p:sp>
        <p:nvSpPr>
          <p:cNvPr id="77" name="Text 60"/>
          <p:cNvSpPr txBox="1"/>
          <p:nvPr/>
        </p:nvSpPr>
        <p:spPr>
          <a:xfrm>
            <a:off x="9418320" y="5349240"/>
            <a:ext cx="248716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1,000 interrupted digital-arrest attempts protect about ₹15.5 crore at 2024 averages, before counting tech-support, KYC and investment fraud.</a:t>
            </a:r>
            <a:endParaRPr lang="en-US" sz="780" dirty="0"/>
          </a:p>
        </p:txBody>
      </p:sp>
      <p:sp>
        <p:nvSpPr>
          <p:cNvPr id="78" name="Text 61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D700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RICE-prioritised, with risks named up front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= Reach x Impact x Confidence / Effort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653796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635508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features, ranked by RICE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86868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760" dirty="0"/>
          </a:p>
        </p:txBody>
      </p:sp>
      <p:sp>
        <p:nvSpPr>
          <p:cNvPr id="44" name="Text 39"/>
          <p:cNvSpPr txBox="1"/>
          <p:nvPr/>
        </p:nvSpPr>
        <p:spPr>
          <a:xfrm>
            <a:off x="3703320" y="1554480"/>
            <a:ext cx="548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60" dirty="0"/>
          </a:p>
        </p:txBody>
      </p:sp>
      <p:sp>
        <p:nvSpPr>
          <p:cNvPr id="45" name="Text 40"/>
          <p:cNvSpPr txBox="1"/>
          <p:nvPr/>
        </p:nvSpPr>
        <p:spPr>
          <a:xfrm>
            <a:off x="4288536" y="1554480"/>
            <a:ext cx="548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60" dirty="0"/>
          </a:p>
        </p:txBody>
      </p:sp>
      <p:sp>
        <p:nvSpPr>
          <p:cNvPr id="46" name="Text 41"/>
          <p:cNvSpPr txBox="1"/>
          <p:nvPr/>
        </p:nvSpPr>
        <p:spPr>
          <a:xfrm>
            <a:off x="4873752" y="1554480"/>
            <a:ext cx="548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</a:t>
            </a:r>
            <a:endParaRPr lang="en-US" sz="760" dirty="0"/>
          </a:p>
        </p:txBody>
      </p:sp>
      <p:sp>
        <p:nvSpPr>
          <p:cNvPr id="47" name="Text 42"/>
          <p:cNvSpPr txBox="1"/>
          <p:nvPr/>
        </p:nvSpPr>
        <p:spPr>
          <a:xfrm>
            <a:off x="5458968" y="1554480"/>
            <a:ext cx="548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760" dirty="0"/>
          </a:p>
        </p:txBody>
      </p:sp>
      <p:sp>
        <p:nvSpPr>
          <p:cNvPr id="48" name="Text 43"/>
          <p:cNvSpPr txBox="1"/>
          <p:nvPr/>
        </p:nvSpPr>
        <p:spPr>
          <a:xfrm>
            <a:off x="6044184" y="1554480"/>
            <a:ext cx="548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</a:t>
            </a:r>
            <a:endParaRPr lang="en-US" sz="760" dirty="0"/>
          </a:p>
        </p:txBody>
      </p:sp>
      <p:sp>
        <p:nvSpPr>
          <p:cNvPr id="49" name="Shape 44"/>
          <p:cNvSpPr/>
          <p:nvPr/>
        </p:nvSpPr>
        <p:spPr>
          <a:xfrm>
            <a:off x="320040" y="1810512"/>
            <a:ext cx="6355080" cy="384048"/>
          </a:xfrm>
          <a:prstGeom prst="roundRect">
            <a:avLst>
              <a:gd name="adj" fmla="val 16667"/>
            </a:avLst>
          </a:prstGeom>
          <a:solidFill>
            <a:srgbClr val="FDECE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47088"/>
            <a:ext cx="310896" cy="310896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749808" y="1810512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Real-call validation with bank / I4C partners</a:t>
            </a:r>
            <a:endParaRPr lang="en-US" sz="760" dirty="0"/>
          </a:p>
        </p:txBody>
      </p:sp>
      <p:sp>
        <p:nvSpPr>
          <p:cNvPr id="52" name="Shape 46"/>
          <p:cNvSpPr/>
          <p:nvPr/>
        </p:nvSpPr>
        <p:spPr>
          <a:xfrm>
            <a:off x="3858768" y="19019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858768" y="1901952"/>
            <a:ext cx="201168" cy="201168"/>
          </a:xfrm>
          <a:prstGeom prst="pie">
            <a:avLst>
              <a:gd name="adj1" fmla="val 16200000"/>
              <a:gd name="adj2" fmla="val 1404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4443984" y="19019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443984" y="1901952"/>
            <a:ext cx="201168" cy="201168"/>
          </a:xfrm>
          <a:prstGeom prst="ellipse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029200" y="19019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029200" y="1901952"/>
            <a:ext cx="201168" cy="201168"/>
          </a:xfrm>
          <a:prstGeom prst="pie">
            <a:avLst>
              <a:gd name="adj1" fmla="val 16200000"/>
              <a:gd name="adj2" fmla="val 1188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5504688" y="1810512"/>
            <a:ext cx="548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</a:t>
            </a:r>
            <a:endParaRPr lang="en-US" sz="750" dirty="0"/>
          </a:p>
        </p:txBody>
      </p:sp>
      <p:sp>
        <p:nvSpPr>
          <p:cNvPr id="59" name="Shape 53"/>
          <p:cNvSpPr/>
          <p:nvPr/>
        </p:nvSpPr>
        <p:spPr>
          <a:xfrm>
            <a:off x="6108192" y="187452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108192" y="1874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750" dirty="0"/>
          </a:p>
        </p:txBody>
      </p:sp>
      <p:sp>
        <p:nvSpPr>
          <p:cNvPr id="61" name="Shape 55"/>
          <p:cNvSpPr/>
          <p:nvPr/>
        </p:nvSpPr>
        <p:spPr>
          <a:xfrm>
            <a:off x="320040" y="2240280"/>
            <a:ext cx="6355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276856"/>
            <a:ext cx="310896" cy="310896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49808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Marathi, Tamil, Telugu, Bengali cue libraries</a:t>
            </a:r>
            <a:endParaRPr lang="en-US" sz="760" dirty="0"/>
          </a:p>
        </p:txBody>
      </p:sp>
      <p:sp>
        <p:nvSpPr>
          <p:cNvPr id="64" name="Shape 57"/>
          <p:cNvSpPr/>
          <p:nvPr/>
        </p:nvSpPr>
        <p:spPr>
          <a:xfrm>
            <a:off x="3858768" y="23317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3858768" y="2331720"/>
            <a:ext cx="201168" cy="201168"/>
          </a:xfrm>
          <a:prstGeom prst="pie">
            <a:avLst>
              <a:gd name="adj1" fmla="val 16200000"/>
              <a:gd name="adj2" fmla="val 972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4443984" y="23317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4443984" y="2331720"/>
            <a:ext cx="201168" cy="201168"/>
          </a:xfrm>
          <a:prstGeom prst="pie">
            <a:avLst>
              <a:gd name="adj1" fmla="val 16200000"/>
              <a:gd name="adj2" fmla="val 900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5029200" y="233172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5029200" y="2331720"/>
            <a:ext cx="201168" cy="201168"/>
          </a:xfrm>
          <a:prstGeom prst="pie">
            <a:avLst>
              <a:gd name="adj1" fmla="val 16200000"/>
              <a:gd name="adj2" fmla="val 1188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5504688" y="2240280"/>
            <a:ext cx="548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wk</a:t>
            </a:r>
            <a:endParaRPr lang="en-US" sz="750" dirty="0"/>
          </a:p>
        </p:txBody>
      </p:sp>
      <p:sp>
        <p:nvSpPr>
          <p:cNvPr id="71" name="Shape 64"/>
          <p:cNvSpPr/>
          <p:nvPr/>
        </p:nvSpPr>
        <p:spPr>
          <a:xfrm>
            <a:off x="6108192" y="230428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6108192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</a:t>
            </a:r>
            <a:endParaRPr lang="en-US" sz="750" dirty="0"/>
          </a:p>
        </p:txBody>
      </p:sp>
      <p:sp>
        <p:nvSpPr>
          <p:cNvPr id="73" name="Shape 66"/>
          <p:cNvSpPr/>
          <p:nvPr/>
        </p:nvSpPr>
        <p:spPr>
          <a:xfrm>
            <a:off x="320040" y="2670048"/>
            <a:ext cx="6355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706624"/>
            <a:ext cx="310896" cy="310896"/>
          </a:xfrm>
          <a:prstGeom prst="rect">
            <a:avLst/>
          </a:prstGeom>
        </p:spPr>
      </p:pic>
      <p:sp>
        <p:nvSpPr>
          <p:cNvPr id="75" name="Text 67"/>
          <p:cNvSpPr txBox="1"/>
          <p:nvPr/>
        </p:nvSpPr>
        <p:spPr>
          <a:xfrm>
            <a:off x="749808" y="2670048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guardian: consented alert to a trusted contact</a:t>
            </a:r>
            <a:endParaRPr lang="en-US" sz="760" dirty="0"/>
          </a:p>
        </p:txBody>
      </p:sp>
      <p:sp>
        <p:nvSpPr>
          <p:cNvPr id="76" name="Shape 68"/>
          <p:cNvSpPr/>
          <p:nvPr/>
        </p:nvSpPr>
        <p:spPr>
          <a:xfrm>
            <a:off x="3858768" y="27614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3858768" y="2761488"/>
            <a:ext cx="201168" cy="2011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4443984" y="27614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4443984" y="2761488"/>
            <a:ext cx="201168" cy="201168"/>
          </a:xfrm>
          <a:prstGeom prst="pie">
            <a:avLst>
              <a:gd name="adj1" fmla="val 16200000"/>
              <a:gd name="adj2" fmla="val 900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5029200" y="27614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5029200" y="2761488"/>
            <a:ext cx="201168" cy="201168"/>
          </a:xfrm>
          <a:prstGeom prst="pie">
            <a:avLst>
              <a:gd name="adj1" fmla="val 16200000"/>
              <a:gd name="adj2" fmla="val 1188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5504688" y="2670048"/>
            <a:ext cx="548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wk</a:t>
            </a:r>
            <a:endParaRPr lang="en-US" sz="750" dirty="0"/>
          </a:p>
        </p:txBody>
      </p:sp>
      <p:sp>
        <p:nvSpPr>
          <p:cNvPr id="83" name="Shape 75"/>
          <p:cNvSpPr/>
          <p:nvPr/>
        </p:nvSpPr>
        <p:spPr>
          <a:xfrm>
            <a:off x="6108192" y="273405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84" name="Text 76"/>
          <p:cNvSpPr txBox="1"/>
          <p:nvPr/>
        </p:nvSpPr>
        <p:spPr>
          <a:xfrm>
            <a:off x="6108192" y="2734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</a:t>
            </a:r>
            <a:endParaRPr lang="en-US" sz="750" dirty="0"/>
          </a:p>
        </p:txBody>
      </p:sp>
      <p:sp>
        <p:nvSpPr>
          <p:cNvPr id="85" name="Shape 77"/>
          <p:cNvSpPr/>
          <p:nvPr/>
        </p:nvSpPr>
        <p:spPr>
          <a:xfrm>
            <a:off x="320040" y="3099816"/>
            <a:ext cx="6355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136392"/>
            <a:ext cx="310896" cy="310896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49808" y="3099816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models on Snapdragon 8 Elite phones</a:t>
            </a:r>
            <a:endParaRPr lang="en-US" sz="760" dirty="0"/>
          </a:p>
        </p:txBody>
      </p:sp>
      <p:sp>
        <p:nvSpPr>
          <p:cNvPr id="88" name="Shape 79"/>
          <p:cNvSpPr/>
          <p:nvPr/>
        </p:nvSpPr>
        <p:spPr>
          <a:xfrm>
            <a:off x="3858768" y="31912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3858768" y="3191256"/>
            <a:ext cx="201168" cy="201168"/>
          </a:xfrm>
          <a:prstGeom prst="pie">
            <a:avLst>
              <a:gd name="adj1" fmla="val 16200000"/>
              <a:gd name="adj2" fmla="val 1512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4443984" y="31912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4443984" y="3191256"/>
            <a:ext cx="201168" cy="201168"/>
          </a:xfrm>
          <a:prstGeom prst="ellipse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5029200" y="31912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5029200" y="3191256"/>
            <a:ext cx="201168" cy="201168"/>
          </a:xfrm>
          <a:prstGeom prst="pie">
            <a:avLst>
              <a:gd name="adj1" fmla="val 16200000"/>
              <a:gd name="adj2" fmla="val 756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94" name="Text 85"/>
          <p:cNvSpPr txBox="1"/>
          <p:nvPr/>
        </p:nvSpPr>
        <p:spPr>
          <a:xfrm>
            <a:off x="5504688" y="3099816"/>
            <a:ext cx="548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wk</a:t>
            </a:r>
            <a:endParaRPr lang="en-US" sz="750" dirty="0"/>
          </a:p>
        </p:txBody>
      </p:sp>
      <p:sp>
        <p:nvSpPr>
          <p:cNvPr id="95" name="Shape 86"/>
          <p:cNvSpPr/>
          <p:nvPr/>
        </p:nvSpPr>
        <p:spPr>
          <a:xfrm>
            <a:off x="6108192" y="316382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96" name="Text 87"/>
          <p:cNvSpPr txBox="1"/>
          <p:nvPr/>
        </p:nvSpPr>
        <p:spPr>
          <a:xfrm>
            <a:off x="6108192" y="3163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</a:t>
            </a:r>
            <a:endParaRPr lang="en-US" sz="750" dirty="0"/>
          </a:p>
        </p:txBody>
      </p:sp>
      <p:sp>
        <p:nvSpPr>
          <p:cNvPr id="97" name="Shape 88"/>
          <p:cNvSpPr/>
          <p:nvPr/>
        </p:nvSpPr>
        <p:spPr>
          <a:xfrm>
            <a:off x="320040" y="3529584"/>
            <a:ext cx="6355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566160"/>
            <a:ext cx="310896" cy="310896"/>
          </a:xfrm>
          <a:prstGeom prst="rect">
            <a:avLst/>
          </a:prstGeom>
        </p:spPr>
      </p:pic>
      <p:sp>
        <p:nvSpPr>
          <p:cNvPr id="99" name="Text 89"/>
          <p:cNvSpPr txBox="1"/>
          <p:nvPr/>
        </p:nvSpPr>
        <p:spPr>
          <a:xfrm>
            <a:off x="749808" y="3529584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Voice-clone detector on NPU (WavLM, AI Hub)</a:t>
            </a:r>
            <a:endParaRPr lang="en-US" sz="760" dirty="0"/>
          </a:p>
        </p:txBody>
      </p:sp>
      <p:sp>
        <p:nvSpPr>
          <p:cNvPr id="100" name="Shape 90"/>
          <p:cNvSpPr/>
          <p:nvPr/>
        </p:nvSpPr>
        <p:spPr>
          <a:xfrm>
            <a:off x="3858768" y="362102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1" name="Shape 91"/>
          <p:cNvSpPr/>
          <p:nvPr/>
        </p:nvSpPr>
        <p:spPr>
          <a:xfrm>
            <a:off x="3858768" y="3621024"/>
            <a:ext cx="201168" cy="201168"/>
          </a:xfrm>
          <a:prstGeom prst="pie">
            <a:avLst>
              <a:gd name="adj1" fmla="val 16200000"/>
              <a:gd name="adj2" fmla="val 756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4443984" y="362102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3" name="Shape 93"/>
          <p:cNvSpPr/>
          <p:nvPr/>
        </p:nvSpPr>
        <p:spPr>
          <a:xfrm>
            <a:off x="4443984" y="3621024"/>
            <a:ext cx="201168" cy="201168"/>
          </a:xfrm>
          <a:prstGeom prst="ellipse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5029200" y="362102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5" name="Shape 95"/>
          <p:cNvSpPr/>
          <p:nvPr/>
        </p:nvSpPr>
        <p:spPr>
          <a:xfrm>
            <a:off x="5029200" y="3621024"/>
            <a:ext cx="201168" cy="2011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06" name="Text 96"/>
          <p:cNvSpPr txBox="1"/>
          <p:nvPr/>
        </p:nvSpPr>
        <p:spPr>
          <a:xfrm>
            <a:off x="5504688" y="3529584"/>
            <a:ext cx="548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wk</a:t>
            </a:r>
            <a:endParaRPr lang="en-US" sz="750" dirty="0"/>
          </a:p>
        </p:txBody>
      </p:sp>
      <p:sp>
        <p:nvSpPr>
          <p:cNvPr id="107" name="Shape 97"/>
          <p:cNvSpPr/>
          <p:nvPr/>
        </p:nvSpPr>
        <p:spPr>
          <a:xfrm>
            <a:off x="6108192" y="35935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08" name="Text 98"/>
          <p:cNvSpPr txBox="1"/>
          <p:nvPr/>
        </p:nvSpPr>
        <p:spPr>
          <a:xfrm>
            <a:off x="6108192" y="3593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50" dirty="0"/>
          </a:p>
        </p:txBody>
      </p:sp>
      <p:sp>
        <p:nvSpPr>
          <p:cNvPr id="109" name="Shape 99"/>
          <p:cNvSpPr/>
          <p:nvPr/>
        </p:nvSpPr>
        <p:spPr>
          <a:xfrm>
            <a:off x="6858000" y="1188720"/>
            <a:ext cx="5102352" cy="2788920"/>
          </a:xfrm>
          <a:prstGeom prst="roundRect">
            <a:avLst>
              <a:gd name="adj" fmla="val 2295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110" name="Shape 100"/>
          <p:cNvSpPr/>
          <p:nvPr/>
        </p:nvSpPr>
        <p:spPr>
          <a:xfrm>
            <a:off x="6949440" y="1252728"/>
            <a:ext cx="491947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11" name="Text 101"/>
          <p:cNvSpPr txBox="1"/>
          <p:nvPr/>
        </p:nvSpPr>
        <p:spPr>
          <a:xfrm>
            <a:off x="6949440" y="125272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900" dirty="0"/>
          </a:p>
        </p:txBody>
      </p:sp>
      <p:pic>
        <p:nvPicPr>
          <p:cNvPr id="1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7728" y="1600200"/>
            <a:ext cx="411480" cy="411480"/>
          </a:xfrm>
          <a:prstGeom prst="rect">
            <a:avLst/>
          </a:prstGeom>
        </p:spPr>
      </p:pic>
      <p:sp>
        <p:nvSpPr>
          <p:cNvPr id="113" name="Shape 102"/>
          <p:cNvSpPr/>
          <p:nvPr/>
        </p:nvSpPr>
        <p:spPr>
          <a:xfrm>
            <a:off x="7173468" y="2029968"/>
            <a:ext cx="0" cy="137160"/>
          </a:xfrm>
          <a:prstGeom prst="line">
            <a:avLst/>
          </a:prstGeom>
          <a:noFill/>
          <a:ln w="19050">
            <a:solidFill>
              <a:srgbClr val="E3DCD1"/>
            </a:solidFill>
            <a:prstDash val="solid"/>
          </a:ln>
        </p:spPr>
      </p:sp>
      <p:sp>
        <p:nvSpPr>
          <p:cNvPr id="114" name="Text 103"/>
          <p:cNvSpPr txBox="1"/>
          <p:nvPr/>
        </p:nvSpPr>
        <p:spPr>
          <a:xfrm>
            <a:off x="7424928" y="1600200"/>
            <a:ext cx="4434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(v1.1)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sentinels, 5 NPU-ready models, fusion, 1930 report, 29 tests</a:t>
            </a:r>
            <a:endParaRPr lang="en-US" sz="820" dirty="0"/>
          </a:p>
        </p:txBody>
      </p:sp>
      <p:pic>
        <p:nvPicPr>
          <p:cNvPr id="1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728" y="2176272"/>
            <a:ext cx="411480" cy="411480"/>
          </a:xfrm>
          <a:prstGeom prst="rect">
            <a:avLst/>
          </a:prstGeom>
        </p:spPr>
      </p:pic>
      <p:sp>
        <p:nvSpPr>
          <p:cNvPr id="116" name="Shape 104"/>
          <p:cNvSpPr/>
          <p:nvPr/>
        </p:nvSpPr>
        <p:spPr>
          <a:xfrm>
            <a:off x="7173468" y="2606040"/>
            <a:ext cx="0" cy="137160"/>
          </a:xfrm>
          <a:prstGeom prst="line">
            <a:avLst/>
          </a:prstGeom>
          <a:noFill/>
          <a:ln w="19050">
            <a:solidFill>
              <a:srgbClr val="E3DCD1"/>
            </a:solidFill>
            <a:prstDash val="solid"/>
          </a:ln>
        </p:spPr>
      </p:sp>
      <p:sp>
        <p:nvSpPr>
          <p:cNvPr id="117" name="Text 105"/>
          <p:cNvSpPr txBox="1"/>
          <p:nvPr/>
        </p:nvSpPr>
        <p:spPr>
          <a:xfrm>
            <a:off x="7424928" y="2176272"/>
            <a:ext cx="4434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month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 on X Elite, real-call pilot, Marathi</a:t>
            </a:r>
            <a:endParaRPr lang="en-US" sz="820" dirty="0"/>
          </a:p>
        </p:txBody>
      </p:sp>
      <p:pic>
        <p:nvPicPr>
          <p:cNvPr id="1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7728" y="2752344"/>
            <a:ext cx="411480" cy="411480"/>
          </a:xfrm>
          <a:prstGeom prst="rect">
            <a:avLst/>
          </a:prstGeom>
        </p:spPr>
      </p:pic>
      <p:sp>
        <p:nvSpPr>
          <p:cNvPr id="119" name="Shape 106"/>
          <p:cNvSpPr/>
          <p:nvPr/>
        </p:nvSpPr>
        <p:spPr>
          <a:xfrm>
            <a:off x="7173468" y="3182112"/>
            <a:ext cx="0" cy="137160"/>
          </a:xfrm>
          <a:prstGeom prst="line">
            <a:avLst/>
          </a:prstGeom>
          <a:noFill/>
          <a:ln w="19050">
            <a:solidFill>
              <a:srgbClr val="E3DCD1"/>
            </a:solidFill>
            <a:prstDash val="solid"/>
          </a:ln>
        </p:spPr>
      </p:sp>
      <p:sp>
        <p:nvSpPr>
          <p:cNvPr id="120" name="Text 107"/>
          <p:cNvSpPr txBox="1"/>
          <p:nvPr/>
        </p:nvSpPr>
        <p:spPr>
          <a:xfrm>
            <a:off x="7424928" y="2752344"/>
            <a:ext cx="4434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b="1" dirty="0">
                <a:solidFill>
                  <a:srgbClr val="325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months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voice-clone detector, family guardian, MSIX installer</a:t>
            </a:r>
            <a:endParaRPr lang="en-US" sz="820" dirty="0"/>
          </a:p>
        </p:txBody>
      </p:sp>
      <p:pic>
        <p:nvPicPr>
          <p:cNvPr id="1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7728" y="3328416"/>
            <a:ext cx="411480" cy="411480"/>
          </a:xfrm>
          <a:prstGeom prst="rect">
            <a:avLst/>
          </a:prstGeom>
        </p:spPr>
      </p:pic>
      <p:sp>
        <p:nvSpPr>
          <p:cNvPr id="122" name="Text 108"/>
          <p:cNvSpPr txBox="1"/>
          <p:nvPr/>
        </p:nvSpPr>
        <p:spPr>
          <a:xfrm>
            <a:off x="7424928" y="3328416"/>
            <a:ext cx="4434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b="1" dirty="0">
                <a:solidFill>
                  <a:srgbClr val="1E9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months 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2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on Snapdragon 8 Elite; bank and OEM pilots</a:t>
            </a:r>
            <a:endParaRPr lang="en-US" sz="820" dirty="0"/>
          </a:p>
        </p:txBody>
      </p:sp>
      <p:sp>
        <p:nvSpPr>
          <p:cNvPr id="123" name="Shape 109"/>
          <p:cNvSpPr/>
          <p:nvPr/>
        </p:nvSpPr>
        <p:spPr>
          <a:xfrm>
            <a:off x="228600" y="4069080"/>
            <a:ext cx="6537960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124" name="Shape 110"/>
          <p:cNvSpPr/>
          <p:nvPr/>
        </p:nvSpPr>
        <p:spPr>
          <a:xfrm>
            <a:off x="320040" y="4133088"/>
            <a:ext cx="635508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125" name="Text 111"/>
          <p:cNvSpPr txBox="1"/>
          <p:nvPr/>
        </p:nvSpPr>
        <p:spPr>
          <a:xfrm>
            <a:off x="320040" y="41330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pitfalls and mitigation</a:t>
            </a:r>
            <a:endParaRPr lang="en-US" sz="900" dirty="0"/>
          </a:p>
        </p:txBody>
      </p:sp>
      <p:pic>
        <p:nvPicPr>
          <p:cNvPr id="1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72" y="4480560"/>
            <a:ext cx="384048" cy="384048"/>
          </a:xfrm>
          <a:prstGeom prst="rect">
            <a:avLst/>
          </a:prstGeom>
        </p:spPr>
      </p:pic>
      <p:sp>
        <p:nvSpPr>
          <p:cNvPr id="127" name="Text 112"/>
          <p:cNvSpPr txBox="1"/>
          <p:nvPr/>
        </p:nvSpPr>
        <p:spPr>
          <a:xfrm>
            <a:off x="804672" y="4453128"/>
            <a:ext cx="5897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erode trust: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damping, confidence-weighted evidence, hard-negative corpus; 0.5% synthetic false alarms</a:t>
            </a:r>
            <a:endParaRPr lang="en-US" sz="780" dirty="0"/>
          </a:p>
        </p:txBody>
      </p:sp>
      <p:pic>
        <p:nvPicPr>
          <p:cNvPr id="1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472" y="4992624"/>
            <a:ext cx="384048" cy="384048"/>
          </a:xfrm>
          <a:prstGeom prst="rect">
            <a:avLst/>
          </a:prstGeom>
        </p:spPr>
      </p:pic>
      <p:sp>
        <p:nvSpPr>
          <p:cNvPr id="129" name="Text 113"/>
          <p:cNvSpPr txBox="1"/>
          <p:nvPr/>
        </p:nvSpPr>
        <p:spPr>
          <a:xfrm>
            <a:off x="804672" y="4965192"/>
            <a:ext cx="5897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errors on noisy calls: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and system evidence confirm or replace audio; forced language prompt</a:t>
            </a:r>
            <a:endParaRPr lang="en-US" sz="780" dirty="0"/>
          </a:p>
        </p:txBody>
      </p:sp>
      <p:pic>
        <p:nvPicPr>
          <p:cNvPr id="1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" y="5504688"/>
            <a:ext cx="384048" cy="384048"/>
          </a:xfrm>
          <a:prstGeom prst="rect">
            <a:avLst/>
          </a:prstGeom>
        </p:spPr>
      </p:pic>
      <p:sp>
        <p:nvSpPr>
          <p:cNvPr id="131" name="Text 114"/>
          <p:cNvSpPr txBox="1"/>
          <p:nvPr/>
        </p:nvSpPr>
        <p:spPr>
          <a:xfrm>
            <a:off x="804672" y="5477256"/>
            <a:ext cx="5897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Scammers change scripts: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tactic-level model; cue library and classifier update offline</a:t>
            </a:r>
            <a:endParaRPr lang="en-US" sz="780" dirty="0"/>
          </a:p>
        </p:txBody>
      </p:sp>
      <p:pic>
        <p:nvPicPr>
          <p:cNvPr id="1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472" y="6016752"/>
            <a:ext cx="384048" cy="384048"/>
          </a:xfrm>
          <a:prstGeom prst="rect">
            <a:avLst/>
          </a:prstGeom>
        </p:spPr>
      </p:pic>
      <p:sp>
        <p:nvSpPr>
          <p:cNvPr id="133" name="Text 115"/>
          <p:cNvSpPr txBox="1"/>
          <p:nvPr/>
        </p:nvSpPr>
        <p:spPr>
          <a:xfrm>
            <a:off x="804672" y="5989320"/>
            <a:ext cx="5897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perception: </a:t>
            </a:r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no network at runtime, nothing stored, verifiable by anyone</a:t>
            </a:r>
            <a:endParaRPr lang="en-US" sz="780" dirty="0"/>
          </a:p>
        </p:txBody>
      </p:sp>
      <p:sp>
        <p:nvSpPr>
          <p:cNvPr id="134" name="Shape 116"/>
          <p:cNvSpPr/>
          <p:nvPr/>
        </p:nvSpPr>
        <p:spPr>
          <a:xfrm>
            <a:off x="6858000" y="4069080"/>
            <a:ext cx="5102352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6949440" y="4133088"/>
            <a:ext cx="491947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36" name="Text 118"/>
          <p:cNvSpPr txBox="1"/>
          <p:nvPr/>
        </p:nvSpPr>
        <p:spPr>
          <a:xfrm>
            <a:off x="6949440" y="41330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vs effort</a:t>
            </a:r>
            <a:endParaRPr lang="en-US" sz="900" dirty="0"/>
          </a:p>
        </p:txBody>
      </p:sp>
      <p:sp>
        <p:nvSpPr>
          <p:cNvPr id="137" name="Shape 119"/>
          <p:cNvSpPr/>
          <p:nvPr/>
        </p:nvSpPr>
        <p:spPr>
          <a:xfrm>
            <a:off x="7269480" y="4462272"/>
            <a:ext cx="2286000" cy="960120"/>
          </a:xfrm>
          <a:prstGeom prst="rect">
            <a:avLst/>
          </a:prstGeom>
          <a:solidFill>
            <a:srgbClr val="E6F6EC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38" name="Text 120"/>
          <p:cNvSpPr txBox="1"/>
          <p:nvPr/>
        </p:nvSpPr>
        <p:spPr>
          <a:xfrm>
            <a:off x="731520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650" dirty="0"/>
          </a:p>
        </p:txBody>
      </p:sp>
      <p:sp>
        <p:nvSpPr>
          <p:cNvPr id="139" name="Shape 121"/>
          <p:cNvSpPr/>
          <p:nvPr/>
        </p:nvSpPr>
        <p:spPr>
          <a:xfrm>
            <a:off x="9555480" y="4462272"/>
            <a:ext cx="2286000" cy="960120"/>
          </a:xfrm>
          <a:prstGeom prst="rect">
            <a:avLst/>
          </a:prstGeom>
          <a:solidFill>
            <a:srgbClr val="FFF3DD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0" name="Text 122"/>
          <p:cNvSpPr txBox="1"/>
          <p:nvPr/>
        </p:nvSpPr>
        <p:spPr>
          <a:xfrm>
            <a:off x="960120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bets</a:t>
            </a:r>
            <a:endParaRPr lang="en-US" sz="650" dirty="0"/>
          </a:p>
        </p:txBody>
      </p:sp>
      <p:sp>
        <p:nvSpPr>
          <p:cNvPr id="141" name="Shape 123"/>
          <p:cNvSpPr/>
          <p:nvPr/>
        </p:nvSpPr>
        <p:spPr>
          <a:xfrm>
            <a:off x="7269480" y="5422392"/>
            <a:ext cx="2286000" cy="960120"/>
          </a:xfrm>
          <a:prstGeom prst="rect">
            <a:avLst/>
          </a:prstGeom>
          <a:solidFill>
            <a:srgbClr val="F4F1EC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2" name="Text 124"/>
          <p:cNvSpPr txBox="1"/>
          <p:nvPr/>
        </p:nvSpPr>
        <p:spPr>
          <a:xfrm>
            <a:off x="73152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Fill-ins</a:t>
            </a:r>
            <a:endParaRPr lang="en-US" sz="650" dirty="0"/>
          </a:p>
        </p:txBody>
      </p:sp>
      <p:sp>
        <p:nvSpPr>
          <p:cNvPr id="143" name="Shape 125"/>
          <p:cNvSpPr/>
          <p:nvPr/>
        </p:nvSpPr>
        <p:spPr>
          <a:xfrm>
            <a:off x="9555480" y="5422392"/>
            <a:ext cx="2286000" cy="960120"/>
          </a:xfrm>
          <a:prstGeom prst="rect">
            <a:avLst/>
          </a:prstGeom>
          <a:solidFill>
            <a:srgbClr val="FDECEF"/>
          </a:solidFill>
          <a:ln w="12700">
            <a:solidFill>
              <a:srgbClr val="E3DCD1"/>
            </a:solidFill>
            <a:prstDash val="solid"/>
          </a:ln>
        </p:spPr>
      </p:sp>
      <p:sp>
        <p:nvSpPr>
          <p:cNvPr id="144" name="Text 126"/>
          <p:cNvSpPr txBox="1"/>
          <p:nvPr/>
        </p:nvSpPr>
        <p:spPr>
          <a:xfrm>
            <a:off x="96012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650" dirty="0"/>
          </a:p>
        </p:txBody>
      </p:sp>
      <p:sp>
        <p:nvSpPr>
          <p:cNvPr id="145" name="Text 127"/>
          <p:cNvSpPr txBox="1"/>
          <p:nvPr/>
        </p:nvSpPr>
        <p:spPr>
          <a:xfrm rot="16200000">
            <a:off x="6565392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146" name="Shape 128"/>
          <p:cNvSpPr/>
          <p:nvPr/>
        </p:nvSpPr>
        <p:spPr>
          <a:xfrm>
            <a:off x="7360920" y="466344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47" name="Text 129"/>
          <p:cNvSpPr txBox="1"/>
          <p:nvPr/>
        </p:nvSpPr>
        <p:spPr>
          <a:xfrm>
            <a:off x="7360920" y="4663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Real-call validation</a:t>
            </a:r>
            <a:endParaRPr lang="en-US" sz="750" dirty="0"/>
          </a:p>
        </p:txBody>
      </p:sp>
      <p:sp>
        <p:nvSpPr>
          <p:cNvPr id="148" name="Shape 130"/>
          <p:cNvSpPr/>
          <p:nvPr/>
        </p:nvSpPr>
        <p:spPr>
          <a:xfrm>
            <a:off x="7360920" y="502920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49" name="Text 131"/>
          <p:cNvSpPr txBox="1"/>
          <p:nvPr/>
        </p:nvSpPr>
        <p:spPr>
          <a:xfrm>
            <a:off x="736092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</a:t>
            </a:r>
            <a:endParaRPr lang="en-US" sz="750" dirty="0"/>
          </a:p>
        </p:txBody>
      </p:sp>
      <p:sp>
        <p:nvSpPr>
          <p:cNvPr id="150" name="Shape 132"/>
          <p:cNvSpPr/>
          <p:nvPr/>
        </p:nvSpPr>
        <p:spPr>
          <a:xfrm>
            <a:off x="9646920" y="466344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51" name="Text 133"/>
          <p:cNvSpPr txBox="1"/>
          <p:nvPr/>
        </p:nvSpPr>
        <p:spPr>
          <a:xfrm>
            <a:off x="9646920" y="4663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port</a:t>
            </a:r>
            <a:endParaRPr lang="en-US" sz="750" dirty="0"/>
          </a:p>
        </p:txBody>
      </p:sp>
      <p:sp>
        <p:nvSpPr>
          <p:cNvPr id="152" name="Shape 134"/>
          <p:cNvSpPr/>
          <p:nvPr/>
        </p:nvSpPr>
        <p:spPr>
          <a:xfrm>
            <a:off x="9646920" y="502920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53" name="Text 135"/>
          <p:cNvSpPr txBox="1"/>
          <p:nvPr/>
        </p:nvSpPr>
        <p:spPr>
          <a:xfrm>
            <a:off x="964692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Voice-clone detector</a:t>
            </a:r>
            <a:endParaRPr lang="en-US" sz="750" dirty="0"/>
          </a:p>
        </p:txBody>
      </p:sp>
      <p:sp>
        <p:nvSpPr>
          <p:cNvPr id="154" name="Shape 136"/>
          <p:cNvSpPr/>
          <p:nvPr/>
        </p:nvSpPr>
        <p:spPr>
          <a:xfrm>
            <a:off x="7360920" y="562356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55" name="Text 137"/>
          <p:cNvSpPr txBox="1"/>
          <p:nvPr/>
        </p:nvSpPr>
        <p:spPr>
          <a:xfrm>
            <a:off x="7360920" y="5623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guardian</a:t>
            </a:r>
            <a:endParaRPr lang="en-US" sz="750" dirty="0"/>
          </a:p>
        </p:txBody>
      </p:sp>
      <p:sp>
        <p:nvSpPr>
          <p:cNvPr id="156" name="Shape 138"/>
          <p:cNvSpPr/>
          <p:nvPr/>
        </p:nvSpPr>
        <p:spPr>
          <a:xfrm>
            <a:off x="7360920" y="598932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57" name="Text 139"/>
          <p:cNvSpPr txBox="1"/>
          <p:nvPr/>
        </p:nvSpPr>
        <p:spPr>
          <a:xfrm>
            <a:off x="7360920" y="5989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MSIX installer</a:t>
            </a:r>
            <a:endParaRPr lang="en-US" sz="750" dirty="0"/>
          </a:p>
        </p:txBody>
      </p:sp>
      <p:sp>
        <p:nvSpPr>
          <p:cNvPr id="158" name="Shape 140"/>
          <p:cNvSpPr/>
          <p:nvPr/>
        </p:nvSpPr>
        <p:spPr>
          <a:xfrm>
            <a:off x="9646920" y="5623560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159" name="Text 141"/>
          <p:cNvSpPr txBox="1"/>
          <p:nvPr/>
        </p:nvSpPr>
        <p:spPr>
          <a:xfrm>
            <a:off x="9646920" y="5623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preload pilot</a:t>
            </a:r>
            <a:endParaRPr lang="en-US" sz="750" dirty="0"/>
          </a:p>
        </p:txBody>
      </p:sp>
      <p:sp>
        <p:nvSpPr>
          <p:cNvPr id="160" name="Text 142"/>
          <p:cNvSpPr txBox="1"/>
          <p:nvPr/>
        </p:nvSpPr>
        <p:spPr>
          <a:xfrm>
            <a:off x="7269480" y="6382512"/>
            <a:ext cx="4572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ctr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effort                              EFFORT                              High effort</a:t>
            </a:r>
            <a:endParaRPr lang="en-US" sz="650" dirty="0"/>
          </a:p>
        </p:txBody>
      </p:sp>
      <p:sp>
        <p:nvSpPr>
          <p:cNvPr id="161" name="Text 143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5669280" cy="566928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754880"/>
            <a:ext cx="3474720" cy="3474720"/>
          </a:xfrm>
          <a:prstGeom prst="ellipse">
            <a:avLst/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457200"/>
            <a:ext cx="1463040" cy="14630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37360"/>
            <a:ext cx="822960" cy="8229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920240"/>
            <a:ext cx="868680" cy="8686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731520" cy="73152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502920"/>
            <a:ext cx="685800" cy="6858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548640" y="914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धन्यवाद</a:t>
            </a:r>
            <a:endParaRPr lang="en-US" sz="32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turns every Snapdragon AI PC into a private, always-alert guardian against the scams costing Indians thousands of crores a year, and helps victims act in the golden hour.</a:t>
            </a:r>
            <a:endParaRPr lang="en-US" sz="1500" dirty="0"/>
          </a:p>
        </p:txBody>
      </p:sp>
      <p:sp>
        <p:nvSpPr>
          <p:cNvPr id="12" name="Shape 5"/>
          <p:cNvSpPr/>
          <p:nvPr/>
        </p:nvSpPr>
        <p:spPr>
          <a:xfrm>
            <a:off x="548640" y="4297680"/>
            <a:ext cx="2697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526280"/>
            <a:ext cx="548640" cy="54864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325880" y="43159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github.com/tanmaysahare/sajag-ai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3383280" y="4297680"/>
            <a:ext cx="2697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4526280"/>
            <a:ext cx="548640" cy="5486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4160520" y="43159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sajag demo --report</a:t>
            </a:r>
            <a:endParaRPr lang="en-US" sz="1000" dirty="0"/>
          </a:p>
        </p:txBody>
      </p:sp>
      <p:sp>
        <p:nvSpPr>
          <p:cNvPr id="18" name="Shape 9"/>
          <p:cNvSpPr/>
          <p:nvPr/>
        </p:nvSpPr>
        <p:spPr>
          <a:xfrm>
            <a:off x="6217920" y="4297680"/>
            <a:ext cx="2697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526280"/>
            <a:ext cx="548640" cy="54864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995160" y="43159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Tanmay Sahare, IIT Kanpur</a:t>
            </a:r>
            <a:endParaRPr lang="en-US" sz="1000" dirty="0"/>
          </a:p>
        </p:txBody>
      </p:sp>
      <p:sp>
        <p:nvSpPr>
          <p:cNvPr id="21" name="Shape 11"/>
          <p:cNvSpPr/>
          <p:nvPr/>
        </p:nvSpPr>
        <p:spPr>
          <a:xfrm>
            <a:off x="9052560" y="4297680"/>
            <a:ext cx="2697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1430">
            <a:solidFill>
              <a:srgbClr val="D7002A"/>
            </a:solidFill>
            <a:prstDash val="solid"/>
          </a:ln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526280"/>
            <a:ext cx="548640" cy="54864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9829800" y="43159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D70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being scammed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1930  |  cybercrime.gov.in</a:t>
            </a:r>
            <a:endParaRPr lang="en-US" sz="1000" dirty="0"/>
          </a:p>
        </p:txBody>
      </p:sp>
      <p:sp>
        <p:nvSpPr>
          <p:cNvPr id="24" name="Shape 13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5760720"/>
            <a:ext cx="1143000" cy="265176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3120" y="5687568"/>
            <a:ext cx="411480" cy="41148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3200" y="5733288"/>
            <a:ext cx="329184" cy="329184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1840" y="5715000"/>
            <a:ext cx="365760" cy="36576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6200" y="5715000"/>
            <a:ext cx="365760" cy="36576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0560" y="5715000"/>
            <a:ext cx="457200" cy="365760"/>
          </a:xfrm>
          <a:prstGeom prst="rect">
            <a:avLst/>
          </a:prstGeom>
        </p:spPr>
      </p:pic>
      <p:sp>
        <p:nvSpPr>
          <p:cNvPr id="31" name="Text 14"/>
          <p:cNvSpPr txBox="1"/>
          <p:nvPr/>
        </p:nvSpPr>
        <p:spPr>
          <a:xfrm>
            <a:off x="5120640" y="5577840"/>
            <a:ext cx="64008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5E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models on the Snapdragon Hexagon NPU via ONNX Runtime QNN. Built for Snapdragon-powered HP AI PCs.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A: repository map and how judges can verify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this deck is reproducible from the repo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5760720" cy="5367528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20040" y="1252728"/>
            <a:ext cx="5577840" cy="256032"/>
          </a:xfrm>
          <a:prstGeom prst="roundRect">
            <a:avLst>
              <a:gd name="adj" fmla="val 17857"/>
            </a:avLst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20040" y="12527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map (github.com/tanmaysahare/sajag-ai)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contains</a:t>
                      </a:r>
                      <a:endParaRPr lang="en-US" sz="7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sajag/npu.py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 session factory: QNN EP, HTP power profiles, context cache, strict mode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sajag/audio/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WASAPI capture, Silero-VAD, NumPy log-mel, tokenizer, AI Hub Whisper loop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sajag/vision/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watcher (dHash gate), NPU OCR with static-shape adapter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sajag/signals/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remote-access, call-app and payment-screen detection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sajag/risk/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scam knowledge base, analyzer, classifier, fusion, explainer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sajag/report.py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golden-hour 1930 report: entities + timeline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sajag/ui/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+ WebSocket dashboard (127.0.0.1)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corpus builder, classifier training, NPU OCR prep, evaluation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unit and end-to-end tests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architecture, NPU optimisation, privacy, evaluation, 156 references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.github/workflows/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40" dirty="0">
                          <a:solidFill>
                            <a:srgbClr val="1C1C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CI: tests + demo replay + evaluation on every push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38"/>
          <p:cNvSpPr/>
          <p:nvPr/>
        </p:nvSpPr>
        <p:spPr>
          <a:xfrm>
            <a:off x="6080760" y="1188720"/>
            <a:ext cx="5879592" cy="2697480"/>
          </a:xfrm>
          <a:prstGeom prst="roundRect">
            <a:avLst>
              <a:gd name="adj" fmla="val 2373"/>
            </a:avLst>
          </a:prstGeom>
          <a:solidFill>
            <a:srgbClr val="16161C"/>
          </a:solidFill>
          <a:ln w="11430">
            <a:solidFill>
              <a:srgbClr val="16161C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172200" y="1243584"/>
            <a:ext cx="5669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 5 minutes on any laptop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6172200" y="1572768"/>
            <a:ext cx="571500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-r requirements.txt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pytest -q                      # 29 passed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sajag demo --report            # 5 scenarios + 1930 report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scripts/evaluate.py               # detection / false alarms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sajag ui                       # dashboard, one-click scenarios</a:t>
            </a:r>
            <a:endParaRPr lang="en-US" sz="830" dirty="0"/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830" dirty="0">
                <a:solidFill>
                  <a:srgbClr val="9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sajag bench --out bench.json   # NPU vs CPU on a Snapdragon PC</a:t>
            </a:r>
            <a:endParaRPr lang="en-US" sz="830" dirty="0"/>
          </a:p>
        </p:txBody>
      </p:sp>
      <p:sp>
        <p:nvSpPr>
          <p:cNvPr id="47" name="Shape 41"/>
          <p:cNvSpPr/>
          <p:nvPr/>
        </p:nvSpPr>
        <p:spPr>
          <a:xfrm>
            <a:off x="6080760" y="3977640"/>
            <a:ext cx="5879592" cy="2578608"/>
          </a:xfrm>
          <a:prstGeom prst="roundRect">
            <a:avLst>
              <a:gd name="adj" fmla="val 2482"/>
            </a:avLst>
          </a:prstGeom>
          <a:solidFill>
            <a:srgbClr val="FFFBF5"/>
          </a:solidFill>
          <a:ln w="11430">
            <a:solidFill>
              <a:srgbClr val="F4B6C1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172200" y="4041648"/>
            <a:ext cx="5696712" cy="256032"/>
          </a:xfrm>
          <a:prstGeom prst="roundRect">
            <a:avLst>
              <a:gd name="adj" fmla="val 17857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172200" y="404164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and compliance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172200" y="4370832"/>
            <a:ext cx="5696712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 built by the participant during the submission period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from Qualcomm AI Hub and open-source platforms under their licenses (Silero-VAD MIT, Whisper MIT, PaddleOCR / RapidOCR Apache-2.0, Llama 3.2 Community License)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released under Apache-2.0; no confidential information or trade secrets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screens are synthetic and watermarked 'SIMULATED'</a:t>
            </a:r>
            <a:endParaRPr lang="en-US" sz="780" dirty="0"/>
          </a:p>
          <a:p>
            <a:pPr marL="139700" indent="-139700">
              <a:spcAft>
                <a:spcPts val="250"/>
              </a:spcAft>
              <a:buSzPct val="100000"/>
              <a:buChar char="✔"/>
            </a:pPr>
            <a:r>
              <a:rPr lang="en-US" sz="78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Icons: Microsoft Fluent Emoji (MIT); logos used only to name products</a:t>
            </a:r>
            <a:endParaRPr lang="en-US" sz="780" dirty="0"/>
          </a:p>
        </p:txBody>
      </p:sp>
      <p:sp>
        <p:nvSpPr>
          <p:cNvPr id="51" name="Text 45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B: References (1-52 of 156)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project description and docs/REFERENCES.md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74320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Snapdragon AI Lab Build &amp; Present Challenge 2026, Unstop listing. https://unstop.com/competitions/crp-snapdragon-ai-lab-build-present-challenge-qualcomm-1748893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Snapdragon AI Lab, Qualcomm. https://www.qualcomm.com/snapdragon/ai-lab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Snapdragon AI Lab Build &amp; Present Challenge 2026, aicompetition.dev summary. https://www.aicompetition.dev/en/competitions/snapdragon-ai-lab-build-present-2026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Snapdragon X Elite product page, Qualcomm. https://www.qualcomm.com/laptops/products/snapdragon-x-elite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On-device AI laptops powered by Snapdragon, Qualcomm. https://www.qualcomm.com/snapdragon/laptops-and-tablets/consumer/ai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Snapdragon X Elite vs X Plus, HP Tech Takes. https://www.hp.com/us-en/tech-takes/components/comparison/snapdragon-x-elite-vs-x-plus-difference.html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Snapdragon X Elite powers HP OmniBook X, HP Tech Takes. https://www.hp.com/gb-en/tech-takes/laptops/review/snapdragon-x-elite-omnibook-x-review.html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HP OmniBook Ultra 14 (Snapdragon X2) review, Tom's Hardware. https://www.tomshardware.com/laptops/hp-omnibook-ultra-14-snapdragon-x2-elite-2026-review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HP OmniBook Ultra 14 gets Snapdragon X2 options (85 TOPS variant), Tom's Hardware. https://www.tomshardware.com/laptops/hps-new-omnibook-ultra-14-gets-panther-lake-and-snapdragon-x2-options-inside-exclusive-variant-of-qualcomm-chip-has-85-tops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HP OmniBook Ultra 14 (Snapdragon X2) review, Thurrott. https://www.thurrott.com/mobile/copilot-pc/340107/hp-omnibook-ultra-14-snapdragon-x2-review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All Snapdragon X2 Elite laptops announced at CES, XDA. https://www.xda-developers.com/snapdragon-x2-elite-laptops-ces/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Snapdragon X2 Elite laptops 2026, The Gadgeteer. https://the-gadgeteer.com/2026/05/13/snapdragon-x2-elite-laptops-2026/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GenieX on Hexagon NPU for local agentic tasks on Snapdragon X/X2 Elite, Qualcomm Developer Blog. https://www.qualcomm.com/developer/blog/2026/09/clairvoyance-geniex-hexagon-snapdragon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 Smart routing with Snapdragon X Series NPUs, Qualcomm Developer Blog. https://www.qualcomm.com/developer/blog/2025/08/smart-routing-snapdragon-x-series-npu-developer-perspective-teknikos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 Qualcomm AI Hub will bring Stable Diffusion, Whisper and more, XDA. https://www.xda-developers.com/qualcomm-ai-hub-snapdragon-announced/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 Qualcomm launches AI Hub with optimized on-device models, Hackster. https://www.hackster.io/news/qualcomm-launches-its-ai-hub-offering-optimized-on-device-ai-models-with-four-times-the-performance-3dddfcb8a84f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[17] Copilot+ PCs developer guide, Microsoft Learn. https://learn.microsoft.com/en-us/windows/ai/npu-devices/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 Everything about Copilot+ PCs with Snapdragon X, ElevenForum. https://www.elevenforum.com/t/everything-you-need-to-know-about-copilot-pcs-by-snapdragon-x-series-processors.25813/</a:t>
            </a:r>
            <a:endParaRPr lang="en-US" sz="660" dirty="0"/>
          </a:p>
        </p:txBody>
      </p:sp>
      <p:sp>
        <p:nvSpPr>
          <p:cNvPr id="42" name="Shape 37"/>
          <p:cNvSpPr/>
          <p:nvPr/>
        </p:nvSpPr>
        <p:spPr>
          <a:xfrm>
            <a:off x="4151376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BF5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197096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 Snapdragon X Copilot+ PC app compatibility scorecard, Thurrott. https://www.thurrott.com/mobile/copilot-pc/304599/snapdragon-x-copilot-pc-my-windows-11-on-arm-app-compatibility-scorecard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 Arm64 Copilot+ PC or x86, Windows Central. https://www.windowscentral.com/hardware/laptops/arm64-copilot-plus-pc-or-intel-amd-nvidia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 Running small language models on the NPU with Copilot+ PCs. https://pkbullock.com/blog/2025/running-slm-models-using-npu-with-copilot-pc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[22] Qualcomm AI Hub Models repository, GitHub. https://github.com/qualcomm/ai-hub-models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[23] qai-hub-models, PyPI. https://pypi.org/project/qai-hub-models/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[24] Qualcomm AI Hub documentation overview. https://app.aihub.qualcomm.com/docs/hub/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[25] Qualcomm AI Hub: compiling models. https://workbench.aihub.qualcomm.com/docs/hub/compile_examples.html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[26] Qualcomm AI Hub: working with frameworks. https://app.aihub.qualcomm.com/docs/hub/frameworks.html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 Qualcomm AI Hub: API documentation. https://workbench.aihub.qualcomm.com/docs/hub/api.html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[28] Qualcomm AI Hub: FAQ. https://app.aihub.qualcomm.com/docs/hub/faq.html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[29] Qualcomm AI Hub: release notes. https://app.aihub.qualcomm.com/docs/hub/release_notes.html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[30] Whisper-Small model card, Qualcomm AI Hub. https://aihub.qualcomm.com/models/whisper_small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[31] Whisper-Large-v3-Turbo model card, Qualcomm AI Hub. https://aihub.qualcomm.com/models/whisper_large_v3_turbo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[32] Silero-VAD model card, Qualcomm AI Hub. https://aihub.qualcomm.com/models/silero_vad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[33] EasyOCR model card, Qualcomm AI Hub. https://aihub.qualcomm.com/models/easyocr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[34] Llama-v3.2-3B-Instruct model card, Qualcomm AI Hub. https://aihub.qualcomm.com/compute/models/llama_v3_2_3b_instruct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[35] Nomic-Embed-Text model card, Qualcomm AI Hub. https://aihub.qualcomm.com/models/nomic_embed_text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[36] WavLM-Base-Plus model card, Qualcomm AI Hub. https://aihub.qualcomm.com/models/huggingface_wavlm_base_plus</a:t>
            </a:r>
            <a:endParaRPr lang="en-US" sz="660" dirty="0"/>
          </a:p>
        </p:txBody>
      </p:sp>
      <p:sp>
        <p:nvSpPr>
          <p:cNvPr id="44" name="Shape 39"/>
          <p:cNvSpPr/>
          <p:nvPr/>
        </p:nvSpPr>
        <p:spPr>
          <a:xfrm>
            <a:off x="8074152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119872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[37] Qwen3-4B-Instruct-2507 model card, Qualcomm AI Hub. https://aihub.qualcomm.com/models/qwen3_4b_instruct_2507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[38] Prepare ONNX models, Qualcomm AI Developer Workflow. https://docs.qualcomm.com/doc/80-80022-15B/topic/onnx-prepare-model.html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[39] Running precompiled QNN ONNX / context binaries in ONNX Runtime, Qualcomm support forum. https://mysupport.qualcomm.com/supportforums/s/question/0D5dK00000Bvt1WSAR/how-can-i-run-inference-in-onnx-runtime-qnn-using-a-precompiledqnnonnx-model-or-a-qnncontextbinary-generated-by-the-qaihub-api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[40] QNN Execution Provider, ONNX Runtime documentation. https://onnxruntime.ai/docs/execution-providers/QNN-ExecutionProvider.html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[41] onnxruntime-qnn repository, GitHub. https://github.com/onnxruntime/onnxruntime-qnn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[42] QNN Execution Provider docs (onnxruntime-qnn). https://github.com/onnxruntime/onnxruntime-qnn/blob/main/docs/execution_providers/QNN-ExecutionProvider.md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[43] ONNX Runtime QNN EP issue on Snapdragon X Elite, GitHub #22617. https://github.com/microsoft/onnxruntime/issues/22617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[44] QNN Execution Provider guide, Radxa. https://docs.radxa.com/en/fogwise/airbox-q900/ai-dev/qnn_onnxrt_execution_provider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[45] YOLO export to Qualcomm QNN (Snapdragon), Ultralytics. https://docs.ultralytics.com/integrations/qnn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[46] Running YOLOv8 on Snapdragon X Elite NPU at 65 FPS, Medium. https://medium.com/@carrycooldude/unleashing-the-beast-running-yolov8-on-snapdragon-x-elite-npu-at-65-fps-296084253c2c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[47] LLM on Genie tutorial, Qualcomm AI Hub Apps. https://github.com/qualcomm/ai-hub-apps/tree/main/tutorials/llm_on_genie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[48] How to use Genie, Qualcomm AI Runtime (QAIRT) SDK. https://docs.qualcomm.com/doc/80-63442-10/topic/how_to_use_genie.html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[49] Qualcomm Genie on Windows on Snapdragon. https://docs.qualcomm.com/doc/80-62010-1/topic/genie.html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[50] GenieX: run LLMs and VLMs locally on Snapdragon, GitHub. https://github.com/qualcomm/geniex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[51] Offline note taker on Snapdragon X Elite with Whisper and Qwen, Medium. https://shivaylamba.medium.com/offline-note-taker-building-private-meeting-notes-on-snapdragon-x-elite-with-whisper-qwen-and-be1090adefff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[52] Whispp and Qualcomm voice reconstruction AI on Snapdragon X Elite. https://whispp.com/whitepapers/whispp-qualcomm-voice-reconstruction-ai-snapdragon-x-elite/</a:t>
            </a:r>
            <a:endParaRPr lang="en-US" sz="660" dirty="0"/>
          </a:p>
        </p:txBody>
      </p:sp>
      <p:sp>
        <p:nvSpPr>
          <p:cNvPr id="46" name="Text 41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C: References (53-104 of 156)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project description and docs/REFERENCES.md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74320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[53] Whisper-large-v3-turbo QNN build for Snapdragon X Elite, Hugging Face. https://huggingface.co/FluidInference/whisper-large-v3-turbo-qnn/blob/main/snapdragon-x-elite/README.md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[54] Radford et al., Robust Speech Recognition via Large-Scale Weak Supervision (Whisper), arXiv 2212.04356. https://arxiv.org/abs/2212.04356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[55] Whisper paper PDF, OpenAI. https://cdn.openai.com/papers/whisper.pdf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[56] OpenAI Whisper model card, Hugging Face. https://huggingface.co/openai/whisper-large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[57] whisper.cpp, GitHub. https://github.com/ggml-org/whisper.cpp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[58] WhisperLive, Collabora, GitHub. https://github.com/collabora/WhisperLive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[59] Silero VAD, GitHub. https://github.com/snakers4/silero-vad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[60] Silero VAD wiki. https://github.com/snakers4/silero-vad/wiki/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[61] Silero models, GitHub. https://github.com/snakers4/silero-models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[62] Du et al., PP-OCR: A Practical Ultra Lightweight OCR System, arXiv 2009.09941. https://arxiv.org/abs/2009.09941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[63] Li et al., PP-OCRv3: More Attempts for the Improvement of Ultra Lightweight OCR, arXiv 2206.03001. https://arxiv.org/abs/2206.03001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[64] PaddleOCR 3.0 Technical Report. https://www.alphaxiv.org/abs/2507.05595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[65] InsightFace ArcFace on Qualcomm NPU example, GitHub. https://github.com/Soorya2201/qualcomm-insightface-npu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[66] Llama-3.2-3B Genie-compatible QNN binaries, Hugging Face. https://huggingface.co/Volko76/Llama-3.2-3B-Genie-Compatible-QNN-Binaries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[67] 'It Warned Me Just at the Right Moment': LLM-based real-time detection of phone scams, arXiv 2502.03964. https://arxiv.org/abs/2502.03964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[68] Combating Phone Scams with LLM-based Detection: Where Do We Stand?, arXiv 2409.11643. https://arxiv.org/abs/2409.11643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[69] AI-in-the-Loop: Privacy Preserving Real-Time Scam Detection and Conversational Scambaiting, arXiv 2509.05362. https://arxiv.org/abs/2509.05362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[70] Before the Warning Comes Too Late: Incremental Phone-Scam Detection, arXiv 2609.20223. https://arxiv.org/html/2609.20223</a:t>
            </a:r>
            <a:endParaRPr lang="en-US" sz="660" dirty="0"/>
          </a:p>
        </p:txBody>
      </p:sp>
      <p:sp>
        <p:nvSpPr>
          <p:cNvPr id="42" name="Shape 37"/>
          <p:cNvSpPr/>
          <p:nvPr/>
        </p:nvSpPr>
        <p:spPr>
          <a:xfrm>
            <a:off x="4151376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BF5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197096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[71] ScamAgents: How AI Agents Can Simulate Human-Level Scam Calls, arXiv 2508.06457. https://arxiv.org/html/2508.06457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[72] Advanced Real-Time Fraud Detection Using RAG-Based LLMs, arXiv 2501.15290. https://arxiv.org/html/2501.15290v1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[73] MHA Lok Sabha reply on cyber fraud (Dec 2025). https://www.mha.gov.in/MHA1/Par2017/pdfs/par2025-pdfs/LS02122025/432.pdf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[74] MHA Rajya Sabha reply on cyber crime (Feb 2026). https://www.mha.gov.in/MHA1/Par2017/pdfs/par2026-pdfs/RS04022026/553.pdf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[75] MHA Lok Sabha reply on cyber crime (Jul 2025). https://xn--i1b5bzbybhfo5c8b4bxh.xn--11b7cb3a6a.xn--h2brj9c/MHA1/Par2017/pdfs/par2025-pdfs/LS22072025/344.pdf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[76] MHA Rajya Sabha reply on digital arrest (Mar 2025). https://xn--i1b5bzbybhfo5c8b4bxh.xn--11b7cb3a6a.xn--h2brj9c/MHA1/Par2017/pdfs/par2025-pdfs/RS12032025/1513.pdf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[77] Indians lost Rs 22,845 crore to cyber fraud in 2024, a 206% rise, Scroll. https://scroll.in/latest/1084796/indians-lost-rs-22845-crore-to-cyber-fraud-in-2024-a-206-rise-from-previous-year-centre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[78] After 465% spike in 2024, MHA data shows digital arrest scams on a decline, ThePrint. https://theprint.in/india/governance/after-465-spike-in-2024-mha-data-shows-digital-arrest-scams-are-on-a-decline-in-india/2857002/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[79] India lost Rs 11,333 crore to cyber fraud in 2024 (first 9 months), The Wire. https://m.thewire.in/article/tech/india-lost-rs-11333-crore-to-cyber-fraud-in-2024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[80] Scammers steal Rs 2,140 crore in 10 months using fake digital arrests, India TV. https://www.indiatvnews.com/technology/news/scammers-steal-rs-2-140-crore-in-10-months-using-fake-digital-arrests-mha-report-2024-11-01-959766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[81] CyberPeace analysis of India's cybercrime surge from MHA data. https://cyberpeace.org/resources/blogs/cyberpeace-analysis-indias-cybercrime-surge-signals-a-growing-digital-security-challenge-an-assessment-based-on-rajya-sabha-proceedings-and-mha-data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[82] How much Indians lost to cyber frauds Jan-Apr 2024, Business Standard. https://www.business-standard.com/india-news/here-is-how-much-indians-lost-to-cyber-frauds-between-jan-and-apr-of-2024-124052700151_1.html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[83] Cyber fraud losses could amount to 0.7% of GDP (I4C), Manorama Yearbook. https://www.manoramayearbook.in/current-affairs/india/2024/10/26/i4c-cyber-fraud-losses.html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[84] Digital arrest: Rs 120 crore lost Jan-Apr 2024, MHA advisory, Organiser. https://organiser.org/2024/10/28/262662/bharat/digital-arrest-rs-120-crore-lost-in-cybercrimes-between-january-april-2024-mha-calls-for-citizen-vigilance/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[85] Cyber frauds cost India Rs 22,845 crore in 2024, Digital Terminal. https://digitalterminal.in/trending/cyber-frauds-cost-india-22845-crore-in-2024-as-digital-threats-escalate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[86] Cyber fraud costs Indians Rs 22,845 crore in 2024, Angel One. https://www.angelone.in/news/market-updates/cyber-fraud-costs-indians-22-845-crore-in-2024-government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[87] Cyber fraud cases surge in 2024, Outlook Money. https://www.outlookmoney.com/news/cyber-fraud-cases-surge-in-2024-citizens-lost-rs-22845-crore-says-govt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[88] Big surge in cyber fraud complaints, Industrial Economist. https://industrialeconomist.com/cyber-fraud-complaints-surge-in-2024-losses-cross-%E2%82%B922800-cr/</a:t>
            </a:r>
            <a:endParaRPr lang="en-US" sz="660" dirty="0"/>
          </a:p>
        </p:txBody>
      </p:sp>
      <p:sp>
        <p:nvSpPr>
          <p:cNvPr id="44" name="Shape 39"/>
          <p:cNvSpPr/>
          <p:nvPr/>
        </p:nvSpPr>
        <p:spPr>
          <a:xfrm>
            <a:off x="8074152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119872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[89] Complaints rose fivefold since 2021, IndiaSpend. https://www.indiaspend.com/data-viz/dataviz-how-indias-cyber-crime-incidence-is-rising-972933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[90] Digital arrest scam, PIB press release. https://www.pib.gov.in/Pressreleaseshare.aspx?PRID=2082761&amp;reg=48&amp;lang=2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[91] Cyber fraud and digital harassment, PIB. https://www.pib.gov.in/PressReleaseIframePage.aspx?PRID=2080186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[92] Cyber awareness, PIB. https://www.pib.gov.in/PressReleasePage.aspx?PRID=2241336&amp;reg=3&amp;lang=1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[93] PIB press note on cyber crime. https://www.pib.gov.in/PressNoteDetails.aspx?NoteId=155384&amp;ModuleId=3&amp;reg=48&amp;lang=2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[94] Recent cybercrime trends in financial frauds, NCERT CIET workshop (Aug 2024). https://ciet.ncert.gov.in/storage/app/public/files/17/Workshop_and_training_files/fsch/12aug.pdf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[95] Citizen Financial Cyber Fraud Reporting and Management System, Vikaspedia. https://egovernance.vikaspedia.in/viewcontent/e-governance/citizen-services/citizen-financial-cyber-fraud-reporting-and-management-system?lgn=en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[96] Digital arrest scam, Wikipedia. https://en.wikipedia.org/wiki/Digital_arrest_scam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[97] What is the digital arrest scam, Forbes India. https://www.forbesindia.com/article/explainers/what-is-the-digital-arrest-scam-and-how-to-be-aware/2988963/1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[98] Digital arrest scams and the limits of domestic enforcement, ORF. https://www.orfonline.org/expert-speak/digital-arrest-scams-and-the-limits-of-domestic-enforcement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[99] India's digital arrest scams, Lowy Institute. https://www.lowyinstitute.org/the-interpreter/india-s-digital-arrest-scams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[100] Digital arrest scams explained, PMF IAS. https://www.pmfias.com/digital-arrest/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[101] Mann Ki Baat: PM warns of digital arrest, Telangana Today. https://telanganatoday.com/mann-ki-baat-pm-modi-warns-of-digital-arrest-urges-people-to-stay-vigilant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[102] Ruko, socho, action lo: PM's mantra against digital arrest, Newstrack. https://newstrack.com/india/wait-think-and-take-action-pm-gave-mantra-to-avoid-digital-arrest-475671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[103] 50,000 appeals pending before grievance panel, victims navigate maze of portals, ThePrint. https://theprint.in/india/50000-appeals-pending-before-govts-social-media-grievance-panel-victims-navigate-maze-of-portals/3057672/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[104] 1 lakh seniors, 4.6 lakh women lost Rs 7,769 crore to cyber fraud, NewKerala. https://www.newkerala.com/news/a/over-lakh-senior-citizens-463-lakh-women-lodged-614.htm</a:t>
            </a:r>
            <a:endParaRPr lang="en-US" sz="660" dirty="0"/>
          </a:p>
        </p:txBody>
      </p:sp>
      <p:sp>
        <p:nvSpPr>
          <p:cNvPr id="46" name="Text 41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161C"/>
          </a:solidFill>
          <a:ln w="12700">
            <a:solidFill>
              <a:srgbClr val="161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731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91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B9B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scam shield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5564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75564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3687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687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1810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1810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9933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933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8056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16178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178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4301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4301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2424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2424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05472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05472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886700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86700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567928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67928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249156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49156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930384" y="118872"/>
            <a:ext cx="635508" cy="329184"/>
          </a:xfrm>
          <a:prstGeom prst="roundRect">
            <a:avLst>
              <a:gd name="adj" fmla="val 13889"/>
            </a:avLst>
          </a:prstGeom>
          <a:solidFill>
            <a:srgbClr val="F2A900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30384" y="118872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634472" y="109728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182880"/>
            <a:ext cx="868680" cy="201168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2" y="128016"/>
            <a:ext cx="310896" cy="310896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228600" y="694944"/>
            <a:ext cx="109728" cy="384048"/>
          </a:xfrm>
          <a:prstGeom prst="roundRect">
            <a:avLst>
              <a:gd name="adj" fmla="val 25000"/>
            </a:avLst>
          </a:prstGeom>
          <a:solidFill>
            <a:srgbClr val="D7002A"/>
          </a:solidFill>
          <a:ln w="12700">
            <a:solidFill>
              <a:srgbClr val="D7002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11480" y="67665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D: References (105-156 of 156)</a:t>
            </a:r>
            <a:endParaRPr lang="en-US" sz="1850" dirty="0"/>
          </a:p>
        </p:txBody>
      </p:sp>
      <p:sp>
        <p:nvSpPr>
          <p:cNvPr id="37" name="Shape 32"/>
          <p:cNvSpPr/>
          <p:nvPr/>
        </p:nvSpPr>
        <p:spPr>
          <a:xfrm>
            <a:off x="8595360" y="704088"/>
            <a:ext cx="3364992" cy="384048"/>
          </a:xfrm>
          <a:prstGeom prst="roundRect">
            <a:avLst>
              <a:gd name="adj" fmla="val 19048"/>
            </a:avLst>
          </a:prstGeom>
          <a:solidFill>
            <a:srgbClr val="FDECEF"/>
          </a:solidFill>
          <a:ln w="9525">
            <a:solidFill>
              <a:srgbClr val="F4B6C1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641080" y="704088"/>
            <a:ext cx="3273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8A00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project description and docs/REFERENCES.md</a:t>
            </a:r>
            <a:endParaRPr lang="en-US" sz="780" dirty="0"/>
          </a:p>
        </p:txBody>
      </p:sp>
      <p:sp>
        <p:nvSpPr>
          <p:cNvPr id="39" name="Text 34"/>
          <p:cNvSpPr txBox="1"/>
          <p:nvPr/>
        </p:nvSpPr>
        <p:spPr>
          <a:xfrm>
            <a:off x="274320" y="66294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Sajag AI  |  Snapdragon AI Lab Build &amp; Present Challenge 2026  |  Tanmay Sahare, IIT Kanpur  |  github.com/tanmaysahare/sajag-ai</a:t>
            </a:r>
            <a:endParaRPr lang="en-US" sz="680" dirty="0"/>
          </a:p>
        </p:txBody>
      </p:sp>
      <p:sp>
        <p:nvSpPr>
          <p:cNvPr id="40" name="Shape 35"/>
          <p:cNvSpPr/>
          <p:nvPr/>
        </p:nvSpPr>
        <p:spPr>
          <a:xfrm>
            <a:off x="228600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74320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[105] Hyderabad senior citizens lose Rs 102 crore to cyber fraud in 19 months, NewsMeter. https://newsmeter.in/top-stories/hyderabad-senior-citizens-lose-rs-102-crore-to-cyber-fraud-in-19-months-retiree-duped-of-rs-96-lakh-773304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[106] Cyber fraud steals Rs 1,250 crore in Delhi in one year, Asianet. https://newsable.asianetnews.com/india/cyber-fraud-losses-surge-in-delhi-digital-arrest-scams-drain-life-savings-articleshow-cp974wg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[107] Nagpur cyber fraud 2025: 60% of victims senior citizens, The420. https://the420.in/nagpur-cyber-fraud-2025-senior-citizens-digital-arrest-scams/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[108] Indore: over Rs 100 crore lost to cyber fraud in 2025, The420. https://the420.in/cyber-fraud-indore-2025-100-crore-loss-digital-arrest-seniors-targeted/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[109] Elderly woman loses Rs 2.5 crore in digital arrest fraud, Tribune. https://www.tribuneindia.com/news/chandigarh/sector-10-elderly-woman-loses-2-5-crore-in-digital-arrest-fraud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[110] Digital arrest scam targeting India's elderly parents, Gracias Living. https://graciasliving.com/digital-arrest-scam-elderly-parents-india/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[111] Microsoft Global Tech Support Scam Research: India (2021). https://news.microsoft.com/wp-content/uploads/prod/sites/45/2021/07/Microsoft-India-Tech-Support-Fraud-Survey-2021.pdf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[112] Seven out of 10 consumers in India encountered tech support scams, Microsoft News. https://news.microsoft.com/en-in/seven-out-of-10-consumers-in-india-encountered-tech-support-scams-in-the-past-year-microsoft-survey/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[113] Indians more vulnerable to tech support scams, Business Standard. https://www.business-standard.com/article/technology/indians-more-vulnerable-to-tech-support-scams-says-microsoft-report-121072201212_1.html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[114] India sees the highest number of tech support scams, CXOToday. https://cxotoday.com/daily-news/india-sees-the-highest-number-of-tech-support-scams-reveals-microsoft/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[115] Almost half of Indians experience AI-enabled fake voice scam: McAfee, Business Standard. https://www.business-standard.com/india-news/almost-half-of-indians-experience-ai-enabled-fake-voice-scam-mcafee-survey-123050100949_1.html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[116] 83% Indians fell prey to AI voice scams: McAfee report, BOOM. https://www.boomlive.in/explainers/ai-voice-scam-voice-cloning-mcafee-report-21851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[117] Artificial imposters: cybercriminals turn to AI voice cloning, McAfee. https://www.mcafee.com/blogs/privacy-identity-protection/artificial-imposters-cybercriminals-turn-to-ai-voice-cloning-for-a-new-breed-of-scam/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[118] Has AI become a powerful tool for scamming?, IndiaAI. https://indiaai.gov.in/article/has-ai-really-become-a-powerful-tool-for-scamming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[119] RBI warns of fraud that leverages AnyDesk, BankInfoSecurity. https://www.bankinfosecurity.asia/rbi-warns-fraud-that-leverages-anydesk-app-a-12035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[120] RBI warns digital and UPI users against AnyDesk, Business Standard. https://www.business-standard.com/article/finance/digital-banking-upi-users-beware-rbi-warns-against-anydesk-all-you-need-to-know-119021800425_1.html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[121] After RBI, NPCI warns about AnyDesk app fraud, Zee Business. https://www.zeebiz.com/india/news-after-rbi-upi-operator-ncpi-warns-about-anydesk-app-fraud-how-your-money-is-robbed-and-how-to-save-it-86540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[122] Phishing, UPI scams and remote access fraud on the rise, The420. https://the420.in/online-banking-fraud-phishing-upi-remote-access/</a:t>
            </a:r>
            <a:endParaRPr lang="en-US" sz="660" dirty="0"/>
          </a:p>
        </p:txBody>
      </p:sp>
      <p:sp>
        <p:nvSpPr>
          <p:cNvPr id="42" name="Shape 37"/>
          <p:cNvSpPr/>
          <p:nvPr/>
        </p:nvSpPr>
        <p:spPr>
          <a:xfrm>
            <a:off x="4151376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BF5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197096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[123] RBI Annual Report 2024-25 highlights fraud surge, MediaNama. https://www.medianama.com/2025/06/223-rbi-annual-report-2024-25-central-bank-agenda/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[124] Bank frauds rise 166% in FY24 to over 36,000 cases, Business Standard. https://www.business-standard.com/industry/banking/bank-frauds-rise-166-in-fy24-to-over-36-000-cases-shows-rbi-annual-report-124053001237_1.html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[125] Banking frauds rise in H1FY25, amount jumps eightfold, Business Standard. https://www.business-standard.com/industry/banking/banking-frauds-rise-in-h1fy25-amount-involved-jumps-8-time-rbi-report-124122600769_1.html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[126] RBI: online payment fraud surges 400% in a year, PYMNTS. https://www.pymnts.com/news/security-and-risk/2024/rbi-online-payment-fraud-in-india-surges-400percent-in-a-year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[127] Stand up to scareware with scareware blocker, Microsoft Edge blog (Jan 2025). https://blogs.windows.com/msedgedev/2025/01/27/stand-up-to-scareware-with-scareware-blocker/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[128] Expanded scareware blocker availability and real-time protection, Microsoft Edge blog (Oct 2025). https://blogs.windows.com/msedgedev/2025/10/31/protecting-more-edge-users-with-expanded-scareware-blocker-availability-and-real-time-protection/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[129] Prevent online scams with the scareware blocker in Microsoft Edge, Microsoft Support. https://support.microsoft.com/en-us/topic/prevent-online-scams-with-the-scareware-blocker-in-microsoft-edge-b02c7895-f9b7-4d9f-8e12-3668f00915be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[130] Microsoft tests Edge scareware blocker, BleepingComputer. https://www.bleepingcomputer.com/news/microsoft/microsoft-tests-edge-scareware-blocker-to-block-tech-support-scams/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[131] Microsoft Edge gets scareware sensor, BleepingComputer. https://www.bleepingcomputer.com/news/microsoft/microsoft-edge-gets-scareware-sensor-for-faster-scam-detection/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[132] Google rolls out on-device AI protections to detect scams in Chrome and Android, The Hacker News. https://thehackernews.com/2025/05/google-rolls-out-on-device-ai.html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[133] Google deploys on-device AI to thwart scams on Chrome and Android, Infosecurity. https://www.infosecurity-magazine.com/news/google-ai-gemini-nano-scams-chrome/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[134] Google's Safety Charter for India's AI-led transformation, Google India blog. https://blog.google/intl/en-in/company-news/googles-safety-charter-for-indias-ai-led-transformation/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[135] Protecting vulnerable audiences is at the heart of AI safety efforts, Google India blog. https://blog.google/intl/en-in/company-news/protecting-vulnerable-audiences-is-at-the-heart-of-ai-safety-efforts/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[136] Google steps up fight against online fraud with India Safety Charter, Tribune. https://www.tribuneindia.com/news/india/google-steps-up-fight-against-online-ai-fraud-deepfakes-with-india-safety-charter/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[137] Google steps up AI scam protection in India, but gaps remain, Yahoo Tech. https://tech.yahoo.com/ai/gemini/articles/google-steps-ai-scam-protection-222852933.html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[138] Microsoft SmartScreen, Wikipedia. https://en.wikipedia.org/wiki/Microsoft_SmartScreen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[139] Digital Personal Data Protection Rules 2025, PIB note. https://www.pib.gov.in/PressNoteDetails.aspx?NoteId=156054&amp;ModuleId=3&amp;reg=3&amp;lang=2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[140] DPDP Rules 2025 notified, PIB document. https://static.pib.gov.in/WriteReadData/specificdocs/documents/2025/nov/doc20251117695301.pdf</a:t>
            </a:r>
            <a:endParaRPr lang="en-US" sz="660" dirty="0"/>
          </a:p>
        </p:txBody>
      </p:sp>
      <p:sp>
        <p:nvSpPr>
          <p:cNvPr id="44" name="Shape 39"/>
          <p:cNvSpPr/>
          <p:nvPr/>
        </p:nvSpPr>
        <p:spPr>
          <a:xfrm>
            <a:off x="8074152" y="1188720"/>
            <a:ext cx="3831336" cy="5367528"/>
          </a:xfrm>
          <a:prstGeom prst="roundRect">
            <a:avLst>
              <a:gd name="adj" fmla="val 1671"/>
            </a:avLst>
          </a:prstGeom>
          <a:solidFill>
            <a:srgbClr val="FFFFFF"/>
          </a:solidFill>
          <a:ln w="11430">
            <a:solidFill>
              <a:srgbClr val="E3DCD1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119872" y="1243584"/>
            <a:ext cx="3739896" cy="5257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[141] Digital Personal Data Protection Rules, 2025, Wikipedia. https://en.wikipedia.org/wiki/Digital_Personal_Data_Protection_Rules,_2025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[142] DPDP Rules 2025 notified by MeitY, EY. https://www.ey.com/en_in/insights/cybersecurity/transforming-data-privacy-digital-personal-data-protection-rules-2025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[143] DPDP Rules 2025 key highlights, SCC Online. https://www.scconline.com/blog/post/2025/12/26/digital-personal-data-protection-rules-2025-key-highlights/amp/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[144] IDC: India's PC market grows 5.7% YoY in 1H25. https://my.idc.com/getdoc.jsp?containerId=prAP53752625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[145] India PC shipments hit record 15.9 million in 2025, ChannelLife. https://channellife.in/story/india-pc-shipments-hit-record-15-9-million-in-2025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[146] Indian PC market grows 10.2% YoY in 2025 (IDC), FoneArena. https://www.fonearena.com/blog/476970/indian-pc-market-2025-idc.html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[147] HP leads India's PC market in Q3 2025 with 26.6% share, Digital Terminal. https://digitalterminal.in/trending/hp-leads-indias-pc-market-in-q3-2025-with-266-market-share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[148] HP leads Indian PC market with 29.1% share, ETV Bharat. https://www.etvbharat.com/en/!technology/hp-leads-indian-pc-market-with-29-pc-share-lenovo-grows-to-claim-second-spot-idc-enn25052701571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[149] SnapShield (challenge entry, network security), GitHub. https://github.com/CODEwANI10/Qualcomm-AI-Build-Challenge-Snapshield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[150] SnapStudy-AI (challenge entry, study assistant), GitHub. https://github.com/nikhilmohite120625/SnapStudy-AI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[151] ShikshaMate (challenge entry, education), GitHub. https://github.com/infant88/ShikshaMate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[152] OmniCare-AI (challenge entry, healthcare), GitHub. https://github.com/Advik-harsha/OmniCare-AI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[153] SnapCareer-AI (challenge entry, careers), GitHub. https://github.com/Mukeshpadigela17/SnapCareer-AI-project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[154] snapdragoon (challenge entry, accessibility), GitHub. https://github.com/challalokesh08/snapdragoon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[155] Snapdragon AI Lab Challenge 2026 overview video, YouTube. https://www.youtube.com/watch?v=ZTT_be_nkv8</a:t>
            </a:r>
            <a:endParaRPr lang="en-US" sz="66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60" dirty="0">
                <a:solidFill>
                  <a:srgbClr val="1C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[156] Qualcomm India opens Snapdragon Multiverse Hackathon registrations, The Wire. https://m.thewire.in/article/ptiprnews/qualcomm-india-opens-registrations-for-snapdragon-multiverse-hackathon-to-build-multi-device-ai-solutions</a:t>
            </a:r>
            <a:endParaRPr lang="en-US" sz="660" dirty="0"/>
          </a:p>
        </p:txBody>
      </p:sp>
      <p:sp>
        <p:nvSpPr>
          <p:cNvPr id="46" name="Text 41"/>
          <p:cNvSpPr txBox="1"/>
          <p:nvPr/>
        </p:nvSpPr>
        <p:spPr>
          <a:xfrm>
            <a:off x="11658600" y="66111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Sajag AI - Snapdragon AI Lab Build &amp; Present Challenge 2026</dc:title>
  <dc:subject>PptxGenJS Presentation</dc:subject>
  <dc:creator>Tanmay Sahare</dc:creator>
  <cp:lastModifiedBy>Tanmay Sahare</cp:lastModifiedBy>
  <cp:revision>1</cp:revision>
  <dcterms:created xsi:type="dcterms:W3CDTF">2026-09-30T15:03:21Z</dcterms:created>
  <dcterms:modified xsi:type="dcterms:W3CDTF">2026-09-30T15:03:21Z</dcterms:modified>
</cp:coreProperties>
</file>